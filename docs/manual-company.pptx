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7293"/>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企業担当者マニュアル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自社ブースのアンケートを作り、回答状況を確認するための手順です。操作できるのは自社のぶんだけで、他社のデータは表示されません。</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できること</a:t>
            </a:r>
            <a:endParaRPr lang="en-US" sz="2200" dirty="0"/>
          </a:p>
        </p:txBody>
      </p:sp>
      <p:sp>
        <p:nvSpPr>
          <p:cNvPr id="4" name="Text 2"/>
          <p:cNvSpPr txBox="1"/>
          <p:nvPr/>
        </p:nvSpPr>
        <p:spPr>
          <a:xfrm>
            <a:off x="713232" y="14813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自社アンケートの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設問を作る・直す</a:t>
            </a:r>
            <a:endParaRPr lang="en-US" sz="1100" dirty="0"/>
          </a:p>
        </p:txBody>
      </p:sp>
      <p:sp>
        <p:nvSpPr>
          <p:cNvPr id="5" name="Text 3"/>
          <p:cNvSpPr txBox="1"/>
          <p:nvPr/>
        </p:nvSpPr>
        <p:spPr>
          <a:xfrm>
            <a:off x="713232" y="17570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回答数や集計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をその場で見る</a:t>
            </a:r>
            <a:endParaRPr lang="en-US" sz="1100" dirty="0"/>
          </a:p>
        </p:txBody>
      </p:sp>
      <p:sp>
        <p:nvSpPr>
          <p:cNvPr id="6" name="Text 4"/>
          <p:cNvSpPr txBox="1"/>
          <p:nvPr/>
        </p:nvSpPr>
        <p:spPr>
          <a:xfrm>
            <a:off x="713232" y="20327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を見る、</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でダウンロードする</a:t>
            </a:r>
            <a:endParaRPr lang="en-US" sz="1100" dirty="0"/>
          </a:p>
        </p:txBody>
      </p:sp>
      <p:sp>
        <p:nvSpPr>
          <p:cNvPr id="7" name="Text 5"/>
          <p:cNvSpPr txBox="1"/>
          <p:nvPr/>
        </p:nvSpPr>
        <p:spPr>
          <a:xfrm>
            <a:off x="713232" y="23084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自社ブース用の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を確認・印刷する</a:t>
            </a:r>
            <a:endParaRPr lang="en-US" sz="1100" dirty="0"/>
          </a:p>
        </p:txBody>
      </p:sp>
      <p:sp>
        <p:nvSpPr>
          <p:cNvPr id="8" name="Shape 6"/>
          <p:cNvSpPr/>
          <p:nvPr/>
        </p:nvSpPr>
        <p:spPr>
          <a:xfrm>
            <a:off x="566928" y="2584196"/>
            <a:ext cx="6428232" cy="431102"/>
          </a:xfrm>
          <a:prstGeom prst="roundRect">
            <a:avLst>
              <a:gd name="adj" fmla="val 12726"/>
            </a:avLst>
          </a:prstGeom>
          <a:solidFill>
            <a:srgbClr val="E3F0F4"/>
          </a:solidFill>
          <a:ln w="9525">
            <a:solidFill>
              <a:srgbClr val="1C7293"/>
            </a:solidFill>
            <a:prstDash val="solid"/>
          </a:ln>
        </p:spPr>
      </p:sp>
      <p:sp>
        <p:nvSpPr>
          <p:cNvPr id="9" name="Text 7"/>
          <p:cNvSpPr txBox="1"/>
          <p:nvPr/>
        </p:nvSpPr>
        <p:spPr>
          <a:xfrm>
            <a:off x="658368" y="2675636"/>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0" name="Text 8"/>
          <p:cNvSpPr txBox="1"/>
          <p:nvPr/>
        </p:nvSpPr>
        <p:spPr>
          <a:xfrm>
            <a:off x="950976" y="26939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他社の回答数や回答内容は見られません。イベント全体の集計は主催者のみが確認します。</a:t>
            </a:r>
            <a:endParaRPr lang="en-US" sz="1050" dirty="0"/>
          </a:p>
        </p:txBody>
      </p:sp>
      <p:sp>
        <p:nvSpPr>
          <p:cNvPr id="11" name="Text 9"/>
          <p:cNvSpPr txBox="1"/>
          <p:nvPr/>
        </p:nvSpPr>
        <p:spPr>
          <a:xfrm>
            <a:off x="566928" y="3198178"/>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用意するもの</a:t>
            </a:r>
            <a:endParaRPr lang="en-US" sz="1400" dirty="0"/>
          </a:p>
        </p:txBody>
      </p:sp>
      <p:sp>
        <p:nvSpPr>
          <p:cNvPr id="12" name="Text 10"/>
          <p:cNvSpPr txBox="1"/>
          <p:nvPr/>
        </p:nvSpPr>
        <p:spPr>
          <a:xfrm>
            <a:off x="713232" y="3529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事務局から配られた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パスワード</a:t>
            </a:r>
            <a:endParaRPr lang="en-US" sz="1100" dirty="0"/>
          </a:p>
        </p:txBody>
      </p:sp>
      <p:sp>
        <p:nvSpPr>
          <p:cNvPr id="13" name="Text 11"/>
          <p:cNvSpPr txBox="1"/>
          <p:nvPr/>
        </p:nvSpPr>
        <p:spPr>
          <a:xfrm>
            <a:off x="713232" y="3804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パソコン、またはスマートフォン（どちらでも操作できます）</a:t>
            </a:r>
            <a:endParaRPr lang="en-US" sz="1100" dirty="0"/>
          </a:p>
        </p:txBody>
      </p:sp>
      <p:pic>
        <p:nvPicPr>
          <p:cNvPr id="14" name="Image 0" descr="C:\Users\sato\Desktop\enque\docs\images\c-dashboard.png">    </p:cNvPr>
          <p:cNvPicPr>
            <a:picLocks noChangeAspect="1"/>
          </p:cNvPicPr>
          <p:nvPr/>
        </p:nvPicPr>
        <p:blipFill>
          <a:blip r:embed="rId1"/>
          <a:stretch>
            <a:fillRect/>
          </a:stretch>
        </p:blipFill>
        <p:spPr>
          <a:xfrm>
            <a:off x="566928" y="4080573"/>
            <a:ext cx="6428232" cy="2066606"/>
          </a:xfrm>
          <a:prstGeom prst="rect">
            <a:avLst/>
          </a:prstGeom>
        </p:spPr>
      </p:pic>
      <p:sp>
        <p:nvSpPr>
          <p:cNvPr id="15" name="Text 12"/>
          <p:cNvSpPr txBox="1"/>
          <p:nvPr/>
        </p:nvSpPr>
        <p:spPr>
          <a:xfrm>
            <a:off x="566928" y="62020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自社ダッシュボードの全体像（回答数・修正された回答・設問数のタイルが見えるもの）。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ログインする</a:t>
            </a:r>
            <a:endParaRPr lang="en-US" sz="2200" dirty="0"/>
          </a:p>
        </p:txBody>
      </p:sp>
      <p:sp>
        <p:nvSpPr>
          <p:cNvPr id="4" name="Shape 2"/>
          <p:cNvSpPr/>
          <p:nvPr/>
        </p:nvSpPr>
        <p:spPr>
          <a:xfrm>
            <a:off x="566928" y="1499616"/>
            <a:ext cx="274320" cy="274320"/>
          </a:xfrm>
          <a:prstGeom prst="ellipse">
            <a:avLst/>
          </a:prstGeom>
          <a:solidFill>
            <a:srgbClr val="1C7293"/>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ブラウザで、事務局から案内された</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管理画面のURL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を開く</a:t>
            </a:r>
            <a:endParaRPr lang="en-US" sz="1150" dirty="0"/>
          </a:p>
        </p:txBody>
      </p:sp>
      <p:sp>
        <p:nvSpPr>
          <p:cNvPr id="7" name="Shape 5"/>
          <p:cNvSpPr/>
          <p:nvPr/>
        </p:nvSpPr>
        <p:spPr>
          <a:xfrm>
            <a:off x="566928" y="1956816"/>
            <a:ext cx="274320" cy="274320"/>
          </a:xfrm>
          <a:prstGeom prst="ellipse">
            <a:avLst/>
          </a:prstGeom>
          <a:solidFill>
            <a:srgbClr val="1C7293"/>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0" name="Shape 8"/>
          <p:cNvSpPr/>
          <p:nvPr/>
        </p:nvSpPr>
        <p:spPr>
          <a:xfrm>
            <a:off x="566928" y="2414016"/>
            <a:ext cx="274320" cy="274320"/>
          </a:xfrm>
          <a:prstGeom prst="ellipse">
            <a:avLst/>
          </a:prstGeom>
          <a:solidFill>
            <a:srgbClr val="1C7293"/>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「ログイン」を押す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ログインすると、自社の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ダッシュボード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が開きます。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パスワードを何度も間違えると、しばらくログインできなくなります（1分ほどで解除されます）。分からなくなった場合は事務局にご連絡ください。</a:t>
            </a:r>
            <a:endParaRPr lang="en-US" sz="1050" dirty="0"/>
          </a:p>
        </p:txBody>
      </p:sp>
      <p:sp>
        <p:nvSpPr>
          <p:cNvPr id="17" name="Shape 15"/>
          <p:cNvSpPr/>
          <p:nvPr/>
        </p:nvSpPr>
        <p:spPr>
          <a:xfrm>
            <a:off x="566928" y="3844544"/>
            <a:ext cx="6428232" cy="624459"/>
          </a:xfrm>
          <a:prstGeom prst="roundRect">
            <a:avLst>
              <a:gd name="adj" fmla="val 8786"/>
            </a:avLst>
          </a:prstGeom>
          <a:solidFill>
            <a:srgbClr val="E3F0F4"/>
          </a:solidFill>
          <a:ln w="9525">
            <a:solidFill>
              <a:srgbClr val="1C7293"/>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画面右上の「ログアウト（お名前）」から、いつでもログアウトできます。共用のパソコンを使う場合は、終わったらログアウトしてください。</a:t>
            </a:r>
            <a:endParaRPr lang="en-US" sz="1050" dirty="0"/>
          </a:p>
        </p:txBody>
      </p:sp>
      <p:pic>
        <p:nvPicPr>
          <p:cNvPr id="20" name="Image 0" descr="C:\Users\sato\Desktop\enque\docs\images\c-login.png">    </p:cNvPr>
          <p:cNvPicPr>
            <a:picLocks noChangeAspect="1"/>
          </p:cNvPicPr>
          <p:nvPr/>
        </p:nvPicPr>
        <p:blipFill>
          <a:blip r:embed="rId1"/>
          <a:stretch>
            <a:fillRect/>
          </a:stretch>
        </p:blipFill>
        <p:spPr>
          <a:xfrm>
            <a:off x="566928" y="4542155"/>
            <a:ext cx="6428232" cy="2376597"/>
          </a:xfrm>
          <a:prstGeom prst="rect">
            <a:avLst/>
          </a:prstGeom>
        </p:spPr>
      </p:pic>
      <p:sp>
        <p:nvSpPr>
          <p:cNvPr id="21" name="Text 18"/>
          <p:cNvSpPr txBox="1"/>
          <p:nvPr/>
        </p:nvSpPr>
        <p:spPr>
          <a:xfrm>
            <a:off x="566928" y="6973616"/>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管理画面のログイン画面。</a:t>
            </a:r>
            <a:endParaRPr lang="en-US" sz="950" dirty="0"/>
          </a:p>
        </p:txBody>
      </p:sp>
      <p:sp>
        <p:nvSpPr>
          <p:cNvPr id="22" name="Text 1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「アンケートを編集」</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から作成します。</a:t>
            </a:r>
            <a:endParaRPr lang="en-US" sz="1100" dirty="0"/>
          </a:p>
        </p:txBody>
      </p:sp>
      <p:sp>
        <p:nvSpPr>
          <p:cNvPr id="5" name="Shape 3"/>
          <p:cNvSpPr/>
          <p:nvPr/>
        </p:nvSpPr>
        <p:spPr>
          <a:xfrm>
            <a:off x="566928" y="1793621"/>
            <a:ext cx="274320" cy="274320"/>
          </a:xfrm>
          <a:prstGeom prst="ellipse">
            <a:avLst/>
          </a:prstGeom>
          <a:solidFill>
            <a:srgbClr val="1C7293"/>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を入力する（例：〇〇株式会社 アンケート）</a:t>
            </a:r>
            <a:endParaRPr lang="en-US" sz="1150" dirty="0"/>
          </a:p>
        </p:txBody>
      </p:sp>
      <p:sp>
        <p:nvSpPr>
          <p:cNvPr id="8" name="Shape 6"/>
          <p:cNvSpPr/>
          <p:nvPr/>
        </p:nvSpPr>
        <p:spPr>
          <a:xfrm>
            <a:off x="566928" y="2250821"/>
            <a:ext cx="274320" cy="274320"/>
          </a:xfrm>
          <a:prstGeom prst="ellipse">
            <a:avLst/>
          </a:prstGeom>
          <a:solidFill>
            <a:srgbClr val="1C7293"/>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説明文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を入れる（回答画面の最初に出ます）</a:t>
            </a:r>
            <a:endParaRPr lang="en-US" sz="1150" dirty="0"/>
          </a:p>
        </p:txBody>
      </p:sp>
      <p:sp>
        <p:nvSpPr>
          <p:cNvPr id="11" name="Shape 9"/>
          <p:cNvSpPr/>
          <p:nvPr/>
        </p:nvSpPr>
        <p:spPr>
          <a:xfrm>
            <a:off x="566928" y="2708021"/>
            <a:ext cx="274320" cy="274320"/>
          </a:xfrm>
          <a:prstGeom prst="ellipse">
            <a:avLst/>
          </a:prstGeom>
          <a:solidFill>
            <a:srgbClr val="1C7293"/>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設問文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C7293"/>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17" name="Shape 15"/>
          <p:cNvSpPr/>
          <p:nvPr/>
        </p:nvSpPr>
        <p:spPr>
          <a:xfrm>
            <a:off x="566928" y="3622421"/>
            <a:ext cx="274320" cy="274320"/>
          </a:xfrm>
          <a:prstGeom prst="ellipse">
            <a:avLst/>
          </a:prstGeom>
          <a:solidFill>
            <a:srgbClr val="1C7293"/>
          </a:solidFill>
          <a:ln/>
        </p:spPr>
      </p:sp>
      <p:sp>
        <p:nvSpPr>
          <p:cNvPr id="18" name="Text 16"/>
          <p:cNvSpPr txBox="1"/>
          <p:nvPr/>
        </p:nvSpPr>
        <p:spPr>
          <a:xfrm>
            <a:off x="566928" y="36224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969264" y="36041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答えを必ずもらいたい設問は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「必須にする」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にチェックを入れる</a:t>
            </a:r>
            <a:endParaRPr lang="en-US" sz="1150" dirty="0"/>
          </a:p>
        </p:txBody>
      </p:sp>
      <p:sp>
        <p:nvSpPr>
          <p:cNvPr id="20" name="Shape 18"/>
          <p:cNvSpPr/>
          <p:nvPr/>
        </p:nvSpPr>
        <p:spPr>
          <a:xfrm>
            <a:off x="566928" y="4079621"/>
            <a:ext cx="274320" cy="274320"/>
          </a:xfrm>
          <a:prstGeom prst="ellipse">
            <a:avLst/>
          </a:prstGeom>
          <a:solidFill>
            <a:srgbClr val="1C7293"/>
          </a:solidFill>
          <a:ln/>
        </p:spPr>
      </p:sp>
      <p:sp>
        <p:nvSpPr>
          <p:cNvPr id="21" name="Text 19"/>
          <p:cNvSpPr txBox="1"/>
          <p:nvPr/>
        </p:nvSpPr>
        <p:spPr>
          <a:xfrm>
            <a:off x="566928" y="4079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969264" y="4061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23" name="Shape 21"/>
          <p:cNvSpPr/>
          <p:nvPr/>
        </p:nvSpPr>
        <p:spPr>
          <a:xfrm>
            <a:off x="566928" y="4536821"/>
            <a:ext cx="274320" cy="274320"/>
          </a:xfrm>
          <a:prstGeom prst="ellipse">
            <a:avLst/>
          </a:prstGeom>
          <a:solidFill>
            <a:srgbClr val="1C7293"/>
          </a:solidFill>
          <a:ln/>
        </p:spPr>
      </p:sp>
      <p:sp>
        <p:nvSpPr>
          <p:cNvPr id="24" name="Text 22"/>
          <p:cNvSpPr txBox="1"/>
          <p:nvPr/>
        </p:nvSpPr>
        <p:spPr>
          <a:xfrm>
            <a:off x="566928" y="4536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969264" y="4518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最後に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「公開する」にチェックを入れて「保存する」</a:t>
            </a:r>
            <a:endParaRPr lang="en-US" sz="1150" dirty="0"/>
          </a:p>
        </p:txBody>
      </p:sp>
      <p:sp>
        <p:nvSpPr>
          <p:cNvPr id="26" name="Text 24"/>
          <p:cNvSpPr txBox="1"/>
          <p:nvPr/>
        </p:nvSpPr>
        <p:spPr>
          <a:xfrm>
            <a:off x="566928" y="508546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設問の種類</a:t>
            </a:r>
            <a:endParaRPr lang="en-US" sz="1400" dirty="0"/>
          </a:p>
        </p:txBody>
      </p:sp>
      <p:sp>
        <p:nvSpPr>
          <p:cNvPr id="27" name="Text 25"/>
          <p:cNvSpPr txBox="1"/>
          <p:nvPr/>
        </p:nvSpPr>
        <p:spPr>
          <a:xfrm>
            <a:off x="713232" y="54164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単一選択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：選択肢から1つ選ぶ</a:t>
            </a:r>
            <a:endParaRPr lang="en-US" sz="1100" dirty="0"/>
          </a:p>
        </p:txBody>
      </p:sp>
      <p:sp>
        <p:nvSpPr>
          <p:cNvPr id="28" name="Text 26"/>
          <p:cNvSpPr txBox="1"/>
          <p:nvPr/>
        </p:nvSpPr>
        <p:spPr>
          <a:xfrm>
            <a:off x="713232" y="5692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複数選択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：選択肢からいくつでも選べる</a:t>
            </a:r>
            <a:endParaRPr lang="en-US" sz="1100" dirty="0"/>
          </a:p>
        </p:txBody>
      </p:sp>
      <p:sp>
        <p:nvSpPr>
          <p:cNvPr id="29" name="Text 27"/>
          <p:cNvSpPr txBox="1"/>
          <p:nvPr/>
        </p:nvSpPr>
        <p:spPr>
          <a:xfrm>
            <a:off x="713232" y="5967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自由記述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：文章で書いてもらう</a:t>
            </a:r>
            <a:endParaRPr lang="en-US" sz="1100" dirty="0"/>
          </a:p>
        </p:txBody>
      </p:sp>
      <p:sp>
        <p:nvSpPr>
          <p:cNvPr id="30" name="Text 28"/>
          <p:cNvSpPr txBox="1"/>
          <p:nvPr/>
        </p:nvSpPr>
        <p:spPr>
          <a:xfrm>
            <a:off x="713232" y="624357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評価（星5段階）</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：満足度などに向いています</a:t>
            </a:r>
            <a:endParaRPr lang="en-US" sz="1100" dirty="0"/>
          </a:p>
        </p:txBody>
      </p:sp>
      <p:sp>
        <p:nvSpPr>
          <p:cNvPr id="31" name="Text 29"/>
          <p:cNvSpPr txBox="1"/>
          <p:nvPr/>
        </p:nvSpPr>
        <p:spPr>
          <a:xfrm>
            <a:off x="713232" y="65192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NPS（0〜10）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：「知人にすすめたいか」を0〜10で聞きます</a:t>
            </a:r>
            <a:endParaRPr lang="en-US" sz="1100" dirty="0"/>
          </a:p>
        </p:txBody>
      </p:sp>
      <p:sp>
        <p:nvSpPr>
          <p:cNvPr id="32" name="Text 3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アンケートの設問を作る（つづき）</a:t>
            </a:r>
            <a:endParaRPr lang="en-US" sz="2200" dirty="0"/>
          </a:p>
        </p:txBody>
      </p:sp>
      <p:pic>
        <p:nvPicPr>
          <p:cNvPr id="4" name="Image 0" descr="C:\Users\sato\Desktop\enque\docs\images\c-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アンケート編集画面。設問文・種類・選択肢の入力欄が見えるもの。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公開と注意点</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「公開する」にチェックを入れて保存しないと、QRコードを読んでも回答できません。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当日までに必ず公開してください。</a:t>
            </a:r>
            <a:endParaRPr lang="en-US" sz="1050" dirty="0"/>
          </a:p>
        </p:txBody>
      </p:sp>
      <p:sp>
        <p:nvSpPr>
          <p:cNvPr id="7" name="Shape 5"/>
          <p:cNvSpPr/>
          <p:nvPr/>
        </p:nvSpPr>
        <p:spPr>
          <a:xfrm>
            <a:off x="566928" y="2178939"/>
            <a:ext cx="6428232" cy="624459"/>
          </a:xfrm>
          <a:prstGeom prst="roundRect">
            <a:avLst>
              <a:gd name="adj" fmla="val 8786"/>
            </a:avLst>
          </a:prstGeom>
          <a:solidFill>
            <a:srgbClr val="E3F0F4"/>
          </a:solidFill>
          <a:ln w="9525">
            <a:solidFill>
              <a:srgbClr val="1C7293"/>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事務局が「共通設問テンプレート」を用意している場合は、編集画面の下にある</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「共通設問を取り込む」</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で、全社共通の設問を自社アンケートに追加できます。</a:t>
            </a:r>
            <a:endParaRPr lang="en-US" sz="1050" dirty="0"/>
          </a:p>
        </p:txBody>
      </p:sp>
      <p:sp>
        <p:nvSpPr>
          <p:cNvPr id="10" name="Shape 8"/>
          <p:cNvSpPr/>
          <p:nvPr/>
        </p:nvSpPr>
        <p:spPr>
          <a:xfrm>
            <a:off x="566928" y="2876550"/>
            <a:ext cx="6428232" cy="624459"/>
          </a:xfrm>
          <a:prstGeom prst="roundRect">
            <a:avLst>
              <a:gd name="adj" fmla="val 8786"/>
            </a:avLst>
          </a:prstGeom>
          <a:solidFill>
            <a:srgbClr val="E3F0F4"/>
          </a:solidFill>
          <a:ln w="9525">
            <a:solidFill>
              <a:srgbClr val="1C7293"/>
            </a:solidFill>
            <a:prstDash val="solid"/>
          </a:ln>
        </p:spPr>
      </p:sp>
      <p:sp>
        <p:nvSpPr>
          <p:cNvPr id="11" name="Text 9"/>
          <p:cNvSpPr txBox="1"/>
          <p:nvPr/>
        </p:nvSpPr>
        <p:spPr>
          <a:xfrm>
            <a:off x="658368" y="2967990"/>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298627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来場者の画面では、自社の設問の下に事務局の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総合アンケート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（イベント全体について聞くもの）が</a:t>
            </a:r>
            <a:endParaRPr lang="en-US" sz="1050" dirty="0"/>
          </a:p>
        </p:txBody>
      </p:sp>
      <p:sp>
        <p:nvSpPr>
          <p:cNvPr id="13" name="Shape 11"/>
          <p:cNvSpPr/>
          <p:nvPr/>
        </p:nvSpPr>
        <p:spPr>
          <a:xfrm>
            <a:off x="566928" y="3574161"/>
            <a:ext cx="6428232" cy="624459"/>
          </a:xfrm>
          <a:prstGeom prst="roundRect">
            <a:avLst>
              <a:gd name="adj" fmla="val 8786"/>
            </a:avLst>
          </a:prstGeom>
          <a:solidFill>
            <a:srgbClr val="E3F0F4"/>
          </a:solidFill>
          <a:ln w="9525">
            <a:solidFill>
              <a:srgbClr val="1C7293"/>
            </a:solidFill>
            <a:prstDash val="solid"/>
          </a:ln>
        </p:spPr>
      </p:sp>
      <p:sp>
        <p:nvSpPr>
          <p:cNvPr id="14" name="Text 12"/>
          <p:cNvSpPr txBox="1"/>
          <p:nvPr/>
        </p:nvSpPr>
        <p:spPr>
          <a:xfrm>
            <a:off x="658368" y="3665601"/>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36838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出ることがあります。まだ答えていない方に1回だけ表示されるもので、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自社の集計には入りません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16" name="Text 14"/>
          <p:cNvSpPr txBox="1"/>
          <p:nvPr/>
        </p:nvSpPr>
        <p:spPr>
          <a:xfrm>
            <a:off x="566928" y="4381500"/>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設問を直すとき</a:t>
            </a:r>
            <a:endParaRPr lang="en-US" sz="1400" dirty="0"/>
          </a:p>
        </p:txBody>
      </p:sp>
      <p:sp>
        <p:nvSpPr>
          <p:cNvPr id="17" name="Text 15"/>
          <p:cNvSpPr txBox="1"/>
          <p:nvPr/>
        </p:nvSpPr>
        <p:spPr>
          <a:xfrm>
            <a:off x="713232" y="47124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設問文や選択肢は、回答が始まったあとでも直せます</a:t>
            </a:r>
            <a:endParaRPr lang="en-US" sz="1100" dirty="0"/>
          </a:p>
        </p:txBody>
      </p:sp>
      <p:sp>
        <p:nvSpPr>
          <p:cNvPr id="18" name="Text 16"/>
          <p:cNvSpPr txBox="1"/>
          <p:nvPr/>
        </p:nvSpPr>
        <p:spPr>
          <a:xfrm>
            <a:off x="713232" y="49881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ただし</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設問を削除すると、その設問への回答も一緒に消えます</a:t>
            </a:r>
            <a:endParaRPr lang="en-US" sz="1100" dirty="0"/>
          </a:p>
        </p:txBody>
      </p:sp>
      <p:sp>
        <p:nvSpPr>
          <p:cNvPr id="19" name="Text 17"/>
          <p:cNvSpPr txBox="1"/>
          <p:nvPr/>
        </p:nvSpPr>
        <p:spPr>
          <a:xfrm>
            <a:off x="713232" y="526389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選択肢を変えると、変更前の回答はそのまま残ります（集計時にご注意ください）</a:t>
            </a:r>
            <a:endParaRPr lang="en-US" sz="1100" dirty="0"/>
          </a:p>
        </p:txBody>
      </p:sp>
      <p:sp>
        <p:nvSpPr>
          <p:cNvPr id="20" name="Shape 18"/>
          <p:cNvSpPr/>
          <p:nvPr/>
        </p:nvSpPr>
        <p:spPr>
          <a:xfrm>
            <a:off x="566928" y="5539613"/>
            <a:ext cx="6428232" cy="624459"/>
          </a:xfrm>
          <a:prstGeom prst="roundRect">
            <a:avLst>
              <a:gd name="adj" fmla="val 8786"/>
            </a:avLst>
          </a:prstGeom>
          <a:solidFill>
            <a:srgbClr val="FDF0E6"/>
          </a:solidFill>
          <a:ln w="9525">
            <a:solidFill>
              <a:srgbClr val="E08A3C"/>
            </a:solidFill>
            <a:prstDash val="solid"/>
          </a:ln>
        </p:spPr>
      </p:sp>
      <p:sp>
        <p:nvSpPr>
          <p:cNvPr id="21" name="Text 19"/>
          <p:cNvSpPr txBox="1"/>
          <p:nvPr/>
        </p:nvSpPr>
        <p:spPr>
          <a:xfrm>
            <a:off x="658368" y="56310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950976" y="564934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回答受付が始まったあとに設問を削除する場合は、先にCSVをダウンロードして保存しておいてください。</a:t>
            </a:r>
            <a:endParaRPr lang="en-US" sz="1050" dirty="0"/>
          </a:p>
        </p:txBody>
      </p:sp>
      <p:pic>
        <p:nvPicPr>
          <p:cNvPr id="23" name="Image 0" descr="C:\Users\sato\Desktop\enque\docs\images\c-publish.png">    </p:cNvPr>
          <p:cNvPicPr>
            <a:picLocks noChangeAspect="1"/>
          </p:cNvPicPr>
          <p:nvPr/>
        </p:nvPicPr>
        <p:blipFill>
          <a:blip r:embed="rId1"/>
          <a:stretch>
            <a:fillRect/>
          </a:stretch>
        </p:blipFill>
        <p:spPr>
          <a:xfrm>
            <a:off x="566928" y="6237224"/>
            <a:ext cx="6428232" cy="810327"/>
          </a:xfrm>
          <a:prstGeom prst="rect">
            <a:avLst/>
          </a:prstGeom>
        </p:spPr>
      </p:pic>
      <p:sp>
        <p:nvSpPr>
          <p:cNvPr id="24" name="Text 21"/>
          <p:cNvSpPr txBox="1"/>
          <p:nvPr/>
        </p:nvSpPr>
        <p:spPr>
          <a:xfrm>
            <a:off x="566928" y="710241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アンケート編集画面の「公開する」チェックボックスと保存ボタンの周辺。</a:t>
            </a:r>
            <a:endParaRPr lang="en-US" sz="95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ダッシュボードに次の情報が出ます。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（重複を除いた件数）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：来場者があとから書き直した件数</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（選択式は棒グラフ、星評価は平均、NPSはスコア、自由記述は一覧）</a:t>
            </a:r>
            <a:endParaRPr lang="en-US" sz="1100" dirty="0"/>
          </a:p>
        </p:txBody>
      </p:sp>
      <p:sp>
        <p:nvSpPr>
          <p:cNvPr id="10" name="Shape 8"/>
          <p:cNvSpPr/>
          <p:nvPr/>
        </p:nvSpPr>
        <p:spPr>
          <a:xfrm>
            <a:off x="566928" y="3153918"/>
            <a:ext cx="6428232" cy="431102"/>
          </a:xfrm>
          <a:prstGeom prst="roundRect">
            <a:avLst>
              <a:gd name="adj" fmla="val 12726"/>
            </a:avLst>
          </a:prstGeom>
          <a:solidFill>
            <a:srgbClr val="E3F0F4"/>
          </a:solidFill>
          <a:ln w="9525">
            <a:solidFill>
              <a:srgbClr val="1C7293"/>
            </a:solidFill>
            <a:prstDash val="solid"/>
          </a:ln>
        </p:spPr>
      </p:sp>
      <p:sp>
        <p:nvSpPr>
          <p:cNvPr id="11" name="Text 9"/>
          <p:cNvSpPr txBox="1"/>
          <p:nvPr/>
        </p:nvSpPr>
        <p:spPr>
          <a:xfrm>
            <a:off x="658368" y="3245358"/>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26364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数字は回答されるたびに更新されます。画面を再読み込みすると最新になります。</a:t>
            </a:r>
            <a:endParaRPr lang="en-US" sz="1050" dirty="0"/>
          </a:p>
        </p:txBody>
      </p:sp>
      <p:sp>
        <p:nvSpPr>
          <p:cNvPr id="13" name="Text 11"/>
          <p:cNvSpPr txBox="1"/>
          <p:nvPr/>
        </p:nvSpPr>
        <p:spPr>
          <a:xfrm>
            <a:off x="566928" y="365817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設問ごとのグラフは、上が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帯グラフ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（全体を100%とした構成比）、下が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横棒グラフ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（項目ごとの件数）です。</a:t>
            </a:r>
            <a:endParaRPr lang="en-US" sz="1100" dirty="0"/>
          </a:p>
        </p:txBody>
      </p:sp>
      <p:sp>
        <p:nvSpPr>
          <p:cNvPr id="14" name="Text 12"/>
          <p:cNvSpPr txBox="1"/>
          <p:nvPr/>
        </p:nvSpPr>
        <p:spPr>
          <a:xfrm>
            <a:off x="566928" y="415474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棒の長さは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全体に対する割合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で、灰色の下地がちょうど100%にあたります。色の意味は帯の下の凡例で読みます。</a:t>
            </a:r>
            <a:endParaRPr lang="en-US" sz="1100" dirty="0"/>
          </a:p>
        </p:txBody>
      </p:sp>
      <p:sp>
        <p:nvSpPr>
          <p:cNvPr id="15" name="Shape 13"/>
          <p:cNvSpPr/>
          <p:nvPr/>
        </p:nvSpPr>
        <p:spPr>
          <a:xfrm>
            <a:off x="566928" y="4651312"/>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474275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4761040"/>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複数選択の設問には帯グラフが出ません。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1人が2つ以上選べるため、割合の合計が100%を超えるからです。</a:t>
            </a:r>
            <a:endParaRPr lang="en-US" sz="1050" dirty="0"/>
          </a:p>
        </p:txBody>
      </p:sp>
      <p:sp>
        <p:nvSpPr>
          <p:cNvPr id="18" name="Text 16"/>
          <p:cNvSpPr txBox="1"/>
          <p:nvPr/>
        </p:nvSpPr>
        <p:spPr>
          <a:xfrm>
            <a:off x="566928" y="545865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同じ来場者が2回答えたとき</a:t>
            </a:r>
            <a:endParaRPr lang="en-US" sz="1400" dirty="0"/>
          </a:p>
        </p:txBody>
      </p:sp>
      <p:sp>
        <p:nvSpPr>
          <p:cNvPr id="19" name="Text 17"/>
          <p:cNvSpPr txBox="1"/>
          <p:nvPr/>
        </p:nvSpPr>
        <p:spPr>
          <a:xfrm>
            <a:off x="566928" y="578961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同じ方が自社のQRコードをもう一度読み取ると、来場者の画面には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で表示され、書き換えると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20" name="Shape 18"/>
          <p:cNvSpPr/>
          <p:nvPr/>
        </p:nvSpPr>
        <p:spPr>
          <a:xfrm>
            <a:off x="566928" y="6286183"/>
            <a:ext cx="6428232" cy="624459"/>
          </a:xfrm>
          <a:prstGeom prst="roundRect">
            <a:avLst>
              <a:gd name="adj" fmla="val 8786"/>
            </a:avLst>
          </a:prstGeom>
          <a:solidFill>
            <a:srgbClr val="FDF0E6"/>
          </a:solidFill>
          <a:ln w="9525">
            <a:solidFill>
              <a:srgbClr val="E08A3C"/>
            </a:solidFill>
            <a:prstDash val="solid"/>
          </a:ln>
        </p:spPr>
      </p:sp>
      <p:sp>
        <p:nvSpPr>
          <p:cNvPr id="21" name="Text 19"/>
          <p:cNvSpPr txBox="1"/>
          <p:nvPr/>
        </p:nvSpPr>
        <p:spPr>
          <a:xfrm>
            <a:off x="658368" y="637762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950976" y="639591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このため、</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一度見た集計の数字があとから変わることがあります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（★4が★2になる、など）。ダッシュボードの「修正された回答」で、書き直しが何件あったか分かります。</a:t>
            </a:r>
            <a:endParaRPr lang="en-US" sz="1050" dirty="0"/>
          </a:p>
        </p:txBody>
      </p:sp>
      <p:sp>
        <p:nvSpPr>
          <p:cNvPr id="23" name="Text 2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回答状況を見る（つづき）</a:t>
            </a:r>
            <a:endParaRPr lang="en-US" sz="2200" dirty="0"/>
          </a:p>
        </p:txBody>
      </p:sp>
      <p:pic>
        <p:nvPicPr>
          <p:cNvPr id="4" name="Image 0" descr="C:\Users\sato\Desktop\enque\docs\images\c-stats.png">    </p:cNvPr>
          <p:cNvPicPr>
            <a:picLocks noChangeAspect="1"/>
          </p:cNvPicPr>
          <p:nvPr/>
        </p:nvPicPr>
        <p:blipFill>
          <a:blip r:embed="rId1"/>
          <a:stretch>
            <a:fillRect/>
          </a:stretch>
        </p:blipFill>
        <p:spPr>
          <a:xfrm>
            <a:off x="2267736" y="1481328"/>
            <a:ext cx="302661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設問ごとの集計グラフ（棒グラフとNPS・星評価の数字が見えるもの）。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回答の一覧とCSV</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一覧で見る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を押すと、1件ずつの回答内容を新しい順に確認できます（1ページ50件）。</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CSVでダウンロードする</a:t>
            </a:r>
            <a:endParaRPr lang="en-US" sz="1400" dirty="0"/>
          </a:p>
        </p:txBody>
      </p:sp>
      <p:sp>
        <p:nvSpPr>
          <p:cNvPr id="7" name="Text 5"/>
          <p:cNvSpPr txBox="1"/>
          <p:nvPr/>
        </p:nvSpPr>
        <p:spPr>
          <a:xfrm>
            <a:off x="566928" y="2859278"/>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「CSVダウンロード」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を押すと、自社ぶんの回答がCSVファイルで保存されます。</a:t>
            </a:r>
            <a:endParaRPr lang="en-US" sz="1100" dirty="0"/>
          </a:p>
        </p:txBody>
      </p:sp>
      <p:sp>
        <p:nvSpPr>
          <p:cNvPr id="8" name="Text 6"/>
          <p:cNvSpPr txBox="1"/>
          <p:nvPr/>
        </p:nvSpPr>
        <p:spPr>
          <a:xfrm>
            <a:off x="713232" y="315328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9" name="Text 7"/>
          <p:cNvSpPr txBox="1"/>
          <p:nvPr/>
        </p:nvSpPr>
        <p:spPr>
          <a:xfrm>
            <a:off x="713232" y="342900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1行が1件の回答、設問が列になります</a:t>
            </a:r>
            <a:endParaRPr lang="en-US" sz="1100" dirty="0"/>
          </a:p>
        </p:txBody>
      </p:sp>
      <p:sp>
        <p:nvSpPr>
          <p:cNvPr id="10" name="Text 8"/>
          <p:cNvSpPr txBox="1"/>
          <p:nvPr/>
        </p:nvSpPr>
        <p:spPr>
          <a:xfrm>
            <a:off x="713232" y="370471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来場者のメールアドレスは含まれません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（匿名のIDのみ）</a:t>
            </a:r>
            <a:endParaRPr lang="en-US" sz="1100" dirty="0"/>
          </a:p>
        </p:txBody>
      </p:sp>
      <p:sp>
        <p:nvSpPr>
          <p:cNvPr id="11" name="Shape 9"/>
          <p:cNvSpPr/>
          <p:nvPr/>
        </p:nvSpPr>
        <p:spPr>
          <a:xfrm>
            <a:off x="566928" y="3980434"/>
            <a:ext cx="6428232" cy="624459"/>
          </a:xfrm>
          <a:prstGeom prst="roundRect">
            <a:avLst>
              <a:gd name="adj" fmla="val 8786"/>
            </a:avLst>
          </a:prstGeom>
          <a:solidFill>
            <a:srgbClr val="E3F0F4"/>
          </a:solidFill>
          <a:ln w="9525">
            <a:solidFill>
              <a:srgbClr val="1C7293"/>
            </a:solidFill>
            <a:prstDash val="solid"/>
          </a:ln>
        </p:spPr>
      </p:sp>
      <p:sp>
        <p:nvSpPr>
          <p:cNvPr id="12" name="Text 10"/>
          <p:cNvSpPr txBox="1"/>
          <p:nvPr/>
        </p:nvSpPr>
        <p:spPr>
          <a:xfrm>
            <a:off x="658368" y="407187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409016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「重複を含めて表示」は、書き直しの仕組みが入る前に記録された重複を確認するためのものです。通常は使いません。</a:t>
            </a:r>
            <a:endParaRPr lang="en-US" sz="1050" dirty="0"/>
          </a:p>
        </p:txBody>
      </p:sp>
      <p:pic>
        <p:nvPicPr>
          <p:cNvPr id="14" name="Image 0" descr="C:\Users\sato\Desktop\enque\docs\images\c-responses.png">    </p:cNvPr>
          <p:cNvPicPr>
            <a:picLocks noChangeAspect="1"/>
          </p:cNvPicPr>
          <p:nvPr/>
        </p:nvPicPr>
        <p:blipFill>
          <a:blip r:embed="rId1"/>
          <a:stretch>
            <a:fillRect/>
          </a:stretch>
        </p:blipFill>
        <p:spPr>
          <a:xfrm>
            <a:off x="1828991" y="4678045"/>
            <a:ext cx="3904106" cy="3474720"/>
          </a:xfrm>
          <a:prstGeom prst="rect">
            <a:avLst/>
          </a:prstGeom>
        </p:spPr>
      </p:pic>
      <p:sp>
        <p:nvSpPr>
          <p:cNvPr id="15" name="Text 12"/>
          <p:cNvSpPr txBox="1"/>
          <p:nvPr/>
        </p:nvSpPr>
        <p:spPr>
          <a:xfrm>
            <a:off x="566928" y="8207629"/>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回答一覧の画面（送信日時と回答内容が並んでいるもの）。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自社のQRコード</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から、自社ブース用のQRコードを表示・印刷できます。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ブースに掲示するQRコードは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事務局がまとめて印刷</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します</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追加で必要になった場合や、予備が欲しい場合にお使いください</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印刷ダイアログで「PDFとして保存」を選べばPDFになります</a:t>
            </a:r>
            <a:endParaRPr lang="en-US" sz="1100" dirty="0"/>
          </a:p>
        </p:txBody>
      </p:sp>
      <p:sp>
        <p:nvSpPr>
          <p:cNvPr id="8" name="Shape 6"/>
          <p:cNvSpPr/>
          <p:nvPr/>
        </p:nvSpPr>
        <p:spPr>
          <a:xfrm>
            <a:off x="566928" y="2602484"/>
            <a:ext cx="6428232" cy="431102"/>
          </a:xfrm>
          <a:prstGeom prst="roundRect">
            <a:avLst>
              <a:gd name="adj" fmla="val 12726"/>
            </a:avLst>
          </a:prstGeom>
          <a:solidFill>
            <a:srgbClr val="FDF0E6"/>
          </a:solidFill>
          <a:ln w="9525">
            <a:solidFill>
              <a:srgbClr val="E08A3C"/>
            </a:solidFill>
            <a:prstDash val="solid"/>
          </a:ln>
        </p:spPr>
      </p:sp>
      <p:sp>
        <p:nvSpPr>
          <p:cNvPr id="9" name="Text 7"/>
          <p:cNvSpPr txBox="1"/>
          <p:nvPr/>
        </p:nvSpPr>
        <p:spPr>
          <a:xfrm>
            <a:off x="658368" y="269392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71221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QRコードのURLは企業ごとに違います。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他社のQRコードを掲示しないよう</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ご注意ください。</a:t>
            </a:r>
            <a:endParaRPr lang="en-US" sz="1050" dirty="0"/>
          </a:p>
        </p:txBody>
      </p:sp>
      <p:pic>
        <p:nvPicPr>
          <p:cNvPr id="11" name="Image 0" descr="C:\Users\sato\Desktop\enque\docs\images\c-qr.png">    </p:cNvPr>
          <p:cNvPicPr>
            <a:picLocks noChangeAspect="1"/>
          </p:cNvPicPr>
          <p:nvPr/>
        </p:nvPicPr>
        <p:blipFill>
          <a:blip r:embed="rId1"/>
          <a:stretch>
            <a:fillRect/>
          </a:stretch>
        </p:blipFill>
        <p:spPr>
          <a:xfrm>
            <a:off x="566928" y="3106738"/>
            <a:ext cx="6428232" cy="3181485"/>
          </a:xfrm>
          <a:prstGeom prst="rect">
            <a:avLst/>
          </a:prstGeom>
        </p:spPr>
      </p:pic>
      <p:sp>
        <p:nvSpPr>
          <p:cNvPr id="12" name="Text 9"/>
          <p:cNvSpPr txBox="1"/>
          <p:nvPr/>
        </p:nvSpPr>
        <p:spPr>
          <a:xfrm>
            <a:off x="566928" y="634308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QRコードの印刷ページ（自社1社分）。</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よくある質問</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他社の回答は見られますか</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見られません。他社のIDでURLを直接開いても「ページが見つかりません」と表示されます。</a:t>
            </a:r>
            <a:endParaRPr lang="en-US" sz="1100" dirty="0"/>
          </a:p>
        </p:txBody>
      </p:sp>
      <p:sp>
        <p:nvSpPr>
          <p:cNvPr id="6" name="Text 4"/>
          <p:cNvSpPr txBox="1"/>
          <p:nvPr/>
        </p:nvSpPr>
        <p:spPr>
          <a:xfrm>
            <a:off x="566928" y="232575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来場者の名前やメールアドレスは分かりますか</a:t>
            </a:r>
            <a:endParaRPr lang="en-US" sz="1400" dirty="0"/>
          </a:p>
        </p:txBody>
      </p:sp>
      <p:sp>
        <p:nvSpPr>
          <p:cNvPr id="7" name="Text 5"/>
          <p:cNvSpPr txBox="1"/>
          <p:nvPr/>
        </p:nvSpPr>
        <p:spPr>
          <a:xfrm>
            <a:off x="566928" y="265671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分かりません。このシステムでは氏名・住所を一切集めていません。メールアドレスは、イベント終了後のスマホ壁紙のご案内にのみ使われ、事務局側で管理されます（企業には共有されません）。</a:t>
            </a:r>
            <a:endParaRPr lang="en-US" sz="1100" dirty="0"/>
          </a:p>
        </p:txBody>
      </p:sp>
      <p:sp>
        <p:nvSpPr>
          <p:cNvPr id="8" name="Text 6"/>
          <p:cNvSpPr txBox="1"/>
          <p:nvPr/>
        </p:nvSpPr>
        <p:spPr>
          <a:xfrm>
            <a:off x="566928" y="326301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同じ人が何社まわったか分かりますか</a:t>
            </a:r>
            <a:endParaRPr lang="en-US" sz="1400" dirty="0"/>
          </a:p>
        </p:txBody>
      </p:sp>
      <p:sp>
        <p:nvSpPr>
          <p:cNvPr id="9" name="Text 7"/>
          <p:cNvSpPr txBox="1"/>
          <p:nvPr/>
        </p:nvSpPr>
        <p:spPr>
          <a:xfrm>
            <a:off x="566928" y="359397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自社の画面では分かりません。イベント全体の傾向は主催者が確認します。</a:t>
            </a:r>
            <a:endParaRPr lang="en-US" sz="1100" dirty="0"/>
          </a:p>
        </p:txBody>
      </p:sp>
      <p:sp>
        <p:nvSpPr>
          <p:cNvPr id="10" name="Text 8"/>
          <p:cNvSpPr txBox="1"/>
          <p:nvPr/>
        </p:nvSpPr>
        <p:spPr>
          <a:xfrm>
            <a:off x="566928" y="399770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回答が0件のままです</a:t>
            </a:r>
            <a:endParaRPr lang="en-US" sz="1400" dirty="0"/>
          </a:p>
        </p:txBody>
      </p:sp>
      <p:sp>
        <p:nvSpPr>
          <p:cNvPr id="11" name="Text 9"/>
          <p:cNvSpPr txBox="1"/>
          <p:nvPr/>
        </p:nvSpPr>
        <p:spPr>
          <a:xfrm>
            <a:off x="566928" y="432866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公開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になっているか、イベントが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になっているかをご確認ください。どちらも問題なければ事務局にご相談ください。</a:t>
            </a:r>
            <a:endParaRPr lang="en-US" sz="1100" dirty="0"/>
          </a:p>
        </p:txBody>
      </p:sp>
      <p:sp>
        <p:nvSpPr>
          <p:cNvPr id="12" name="Text 10"/>
          <p:cNvSpPr txBox="1"/>
          <p:nvPr/>
        </p:nvSpPr>
        <p:spPr>
          <a:xfrm>
            <a:off x="566928" y="493496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アンケートの内容を印刷して確認したい</a:t>
            </a:r>
            <a:endParaRPr lang="en-US" sz="1400" dirty="0"/>
          </a:p>
        </p:txBody>
      </p:sp>
      <p:sp>
        <p:nvSpPr>
          <p:cNvPr id="13" name="Text 11"/>
          <p:cNvSpPr txBox="1"/>
          <p:nvPr/>
        </p:nvSpPr>
        <p:spPr>
          <a:xfrm>
            <a:off x="566928" y="5265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ブラウザの印刷機能で、編集画面や集計画面をそのまま印刷できます。</a:t>
            </a:r>
            <a:endParaRPr lang="en-US" sz="1100" dirty="0"/>
          </a:p>
        </p:txBody>
      </p:sp>
      <p:sp>
        <p:nvSpPr>
          <p:cNvPr id="14" name="Shape 12"/>
          <p:cNvSpPr/>
          <p:nvPr/>
        </p:nvSpPr>
        <p:spPr>
          <a:xfrm>
            <a:off x="566928" y="5559933"/>
            <a:ext cx="6428232" cy="431102"/>
          </a:xfrm>
          <a:prstGeom prst="roundRect">
            <a:avLst>
              <a:gd name="adj" fmla="val 12726"/>
            </a:avLst>
          </a:prstGeom>
          <a:solidFill>
            <a:srgbClr val="E3F0F4"/>
          </a:solidFill>
          <a:ln w="9525">
            <a:solidFill>
              <a:srgbClr val="1C7293"/>
            </a:solidFill>
            <a:prstDash val="solid"/>
          </a:ln>
        </p:spPr>
      </p:sp>
      <p:sp>
        <p:nvSpPr>
          <p:cNvPr id="15" name="Text 13"/>
          <p:cNvSpPr txBox="1"/>
          <p:nvPr/>
        </p:nvSpPr>
        <p:spPr>
          <a:xfrm>
            <a:off x="658368" y="5651373"/>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566966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分からないことがあれば、事務局までお問い合わせください。</a:t>
            </a:r>
            <a:endParaRPr lang="en-US" sz="1050" dirty="0"/>
          </a:p>
        </p:txBody>
      </p:sp>
      <p:sp>
        <p:nvSpPr>
          <p:cNvPr id="17" name="Text 1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企業担当者マニュアル</dc:title>
  <dc:subject>PptxGenJS Presentation</dc:subject>
  <dc:creator>企業周遊アンケートシステム</dc:creator>
  <cp:lastModifiedBy>企業周遊アンケートシステム</cp:lastModifiedBy>
  <cp:revision>1</cp:revision>
  <dcterms:created xsi:type="dcterms:W3CDTF">2026-10-27T05:06:30Z</dcterms:created>
  <dcterms:modified xsi:type="dcterms:W3CDTF">2026-10-27T05:06:30Z</dcterms:modified>
</cp:coreProperties>
</file>