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7562088" cy="10689336"/>
  <p:notesSz cx="10689336" cy="7562088"/>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C7293"/>
        </a:solidFill>
      </p:bgPr>
    </p:bg>
    <p:spTree>
      <p:nvGrpSpPr>
        <p:cNvPr id="1" name=""/>
        <p:cNvGrpSpPr/>
        <p:nvPr/>
      </p:nvGrpSpPr>
      <p:grpSpPr>
        <a:xfrm>
          <a:off x="0" y="0"/>
          <a:ext cx="0" cy="0"/>
          <a:chOff x="0" y="0"/>
          <a:chExt cx="0" cy="0"/>
        </a:xfrm>
      </p:grpSpPr>
      <p:sp>
        <p:nvSpPr>
          <p:cNvPr id="2" name="Text 0"/>
          <p:cNvSpPr txBox="1"/>
          <p:nvPr/>
        </p:nvSpPr>
        <p:spPr>
          <a:xfrm>
            <a:off x="566928" y="3291840"/>
            <a:ext cx="6428232"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企業周遊アンケートシステム</a:t>
            </a:r>
            <a:endParaRPr lang="en-US" sz="1300" dirty="0"/>
          </a:p>
        </p:txBody>
      </p:sp>
      <p:sp>
        <p:nvSpPr>
          <p:cNvPr id="3" name="Text 1"/>
          <p:cNvSpPr txBox="1"/>
          <p:nvPr/>
        </p:nvSpPr>
        <p:spPr>
          <a:xfrm>
            <a:off x="566928" y="3703320"/>
            <a:ext cx="6428232" cy="1463040"/>
          </a:xfrm>
          <a:prstGeom prst="rect">
            <a:avLst/>
          </a:prstGeom>
          <a:noFill/>
          <a:ln/>
        </p:spPr>
        <p:txBody>
          <a:bodyPr wrap="square" lIns="0" tIns="0" rIns="0" bIns="0" rtlCol="0" anchor="t"/>
          <a:lstStyle/>
          <a:p>
            <a:pPr indent="0" marL="0">
              <a:buNone/>
            </a:pPr>
            <a:r>
              <a:rPr lang="en-US" sz="3400" b="1" dirty="0">
                <a:solidFill>
                  <a:srgbClr val="FFFFFF"/>
                </a:solidFill>
                <a:latin typeface="Calibri" pitchFamily="34" charset="0"/>
                <a:ea typeface="Calibri" pitchFamily="34" charset="-122"/>
                <a:cs typeface="Calibri" pitchFamily="34" charset="-120"/>
              </a:rPr>
              <a:t>企業担当者マニュアル</a:t>
            </a:r>
            <a:endParaRPr lang="en-US" sz="3400" dirty="0"/>
          </a:p>
        </p:txBody>
      </p:sp>
      <p:sp>
        <p:nvSpPr>
          <p:cNvPr id="4" name="Text 2"/>
          <p:cNvSpPr txBox="1"/>
          <p:nvPr/>
        </p:nvSpPr>
        <p:spPr>
          <a:xfrm>
            <a:off x="566928" y="5257800"/>
            <a:ext cx="6428232" cy="1097280"/>
          </a:xfrm>
          <a:prstGeom prst="rect">
            <a:avLst/>
          </a:prstGeom>
          <a:noFill/>
          <a:ln/>
        </p:spPr>
        <p:txBody>
          <a:bodyPr wrap="square" lIns="0" tIns="0" rIns="0" bIns="0" rtlCol="0" anchor="t"/>
          <a:lstStyle/>
          <a:p>
            <a:pPr indent="0" marL="0">
              <a:lnSpc>
                <a:spcPct val="130000"/>
              </a:lnSpc>
              <a:buNone/>
            </a:pPr>
            <a:r>
              <a:rPr lang="en-US" sz="1200" dirty="0">
                <a:solidFill>
                  <a:srgbClr val="FFFFFF"/>
                </a:solidFill>
                <a:latin typeface="Calibri" pitchFamily="34" charset="0"/>
                <a:ea typeface="Calibri" pitchFamily="34" charset="-122"/>
                <a:cs typeface="Calibri" pitchFamily="34" charset="-120"/>
              </a:rPr>
              <a:t>自社ブースのアンケートを作り、回答状況を確認するための手順です。操作できるのは自社のぶんだけで、他社のデータは表示されません。</a:t>
            </a:r>
            <a:endParaRPr lang="en-US" sz="1200" dirty="0"/>
          </a:p>
        </p:txBody>
      </p:sp>
      <p:sp>
        <p:nvSpPr>
          <p:cNvPr id="5" name="Text 3"/>
          <p:cNvSpPr txBox="1"/>
          <p:nvPr/>
        </p:nvSpPr>
        <p:spPr>
          <a:xfrm>
            <a:off x="566928" y="9683496"/>
            <a:ext cx="6428232" cy="457200"/>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A4縦で印刷できます。画面例はテスト環境のもので、実際の表示とは名称や件数が異なる場合があります。</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457200"/>
            <a:ext cx="6428232" cy="237744"/>
          </a:xfrm>
          <a:prstGeom prst="rect">
            <a:avLst/>
          </a:prstGeom>
          <a:noFill/>
          <a:ln/>
        </p:spPr>
        <p:txBody>
          <a:bodyPr wrap="square" lIns="0" tIns="0" rIns="0" bIns="0" rtlCol="0" anchor="ctr"/>
          <a:lstStyle/>
          <a:p>
            <a:pPr indent="0" marL="0">
              <a:buNone/>
            </a:pPr>
            <a:r>
              <a:rPr lang="en-US" sz="1000" b="1" dirty="0">
                <a:solidFill>
                  <a:srgbClr val="1C7293"/>
                </a:solidFill>
                <a:latin typeface="Calibri" pitchFamily="34" charset="0"/>
                <a:ea typeface="Calibri" pitchFamily="34" charset="-122"/>
                <a:cs typeface="Calibri" pitchFamily="34" charset="-120"/>
              </a:rPr>
              <a:t>企業担当者マニュアル</a:t>
            </a:r>
            <a:endParaRPr lang="en-US" sz="1000" dirty="0"/>
          </a:p>
        </p:txBody>
      </p:sp>
      <p:sp>
        <p:nvSpPr>
          <p:cNvPr id="3" name="Text 1"/>
          <p:cNvSpPr txBox="1"/>
          <p:nvPr/>
        </p:nvSpPr>
        <p:spPr>
          <a:xfrm>
            <a:off x="566928" y="713232"/>
            <a:ext cx="6428232" cy="640080"/>
          </a:xfrm>
          <a:prstGeom prst="rect">
            <a:avLst/>
          </a:prstGeom>
          <a:noFill/>
          <a:ln/>
        </p:spPr>
        <p:txBody>
          <a:bodyPr wrap="square" lIns="0" tIns="0" rIns="0" bIns="0" rtlCol="0" anchor="t"/>
          <a:lstStyle/>
          <a:p>
            <a:pPr indent="0" marL="0">
              <a:buNone/>
            </a:pPr>
            <a:r>
              <a:rPr lang="en-US" sz="2200" b="1" dirty="0">
                <a:solidFill>
                  <a:srgbClr val="222222"/>
                </a:solidFill>
                <a:latin typeface="Calibri" pitchFamily="34" charset="0"/>
                <a:ea typeface="Calibri" pitchFamily="34" charset="-122"/>
                <a:cs typeface="Calibri" pitchFamily="34" charset="-120"/>
              </a:rPr>
              <a:t>できること</a:t>
            </a:r>
            <a:endParaRPr lang="en-US" sz="2200" dirty="0"/>
          </a:p>
        </p:txBody>
      </p:sp>
      <p:sp>
        <p:nvSpPr>
          <p:cNvPr id="4" name="Text 2"/>
          <p:cNvSpPr txBox="1"/>
          <p:nvPr/>
        </p:nvSpPr>
        <p:spPr>
          <a:xfrm>
            <a:off x="713232" y="1481328"/>
            <a:ext cx="6281928" cy="257429"/>
          </a:xfrm>
          <a:prstGeom prst="rect">
            <a:avLst/>
          </a:prstGeom>
          <a:noFill/>
          <a:ln/>
        </p:spPr>
        <p:txBody>
          <a:bodyPr wrap="square" lIns="0" tIns="0" rIns="0" bIns="0" rtlCol="0" anchor="t"/>
          <a:lstStyle/>
          <a:p>
            <a:pPr marL="342900" indent="-342900">
              <a:lnSpc>
                <a:spcPct val="125000"/>
              </a:lnSpc>
              <a:buSzPct val="100000"/>
              <a:buChar char="●"/>
            </a:pPr>
            <a:r>
              <a:rPr lang="en-US" sz="1100" dirty="0">
                <a:solidFill>
                  <a:srgbClr val="222222"/>
                </a:solidFill>
                <a:latin typeface="Calibri" pitchFamily="34" charset="0"/>
                <a:ea typeface="Calibri" pitchFamily="34" charset="-122"/>
                <a:cs typeface="Calibri" pitchFamily="34" charset="-120"/>
              </a:rPr>
              <a:t>自社アンケートの</a:t>
            </a:r>
            <a:pPr indent="0" marL="0">
              <a:lnSpc>
                <a:spcPct val="125000"/>
              </a:lnSpc>
              <a:buNone/>
            </a:pPr>
            <a:r>
              <a:rPr lang="en-US" sz="1100" b="1" dirty="0">
                <a:solidFill>
                  <a:srgbClr val="222222"/>
                </a:solidFill>
                <a:latin typeface="Calibri" pitchFamily="34" charset="0"/>
                <a:ea typeface="Calibri" pitchFamily="34" charset="-122"/>
                <a:cs typeface="Calibri" pitchFamily="34" charset="-120"/>
              </a:rPr>
              <a:t>設問を作る・直す</a:t>
            </a:r>
            <a:endParaRPr lang="en-US" sz="1100" dirty="0"/>
          </a:p>
        </p:txBody>
      </p:sp>
      <p:sp>
        <p:nvSpPr>
          <p:cNvPr id="5" name="Text 3"/>
          <p:cNvSpPr txBox="1"/>
          <p:nvPr/>
        </p:nvSpPr>
        <p:spPr>
          <a:xfrm>
            <a:off x="713232" y="1757045"/>
            <a:ext cx="6281928" cy="257429"/>
          </a:xfrm>
          <a:prstGeom prst="rect">
            <a:avLst/>
          </a:prstGeom>
          <a:noFill/>
          <a:ln/>
        </p:spPr>
        <p:txBody>
          <a:bodyPr wrap="square" lIns="0" tIns="0" rIns="0" bIns="0" rtlCol="0" anchor="t"/>
          <a:lstStyle/>
          <a:p>
            <a:pPr marL="342900" indent="-342900">
              <a:lnSpc>
                <a:spcPct val="125000"/>
              </a:lnSpc>
              <a:buSzPct val="100000"/>
              <a:buChar char="●"/>
            </a:pPr>
            <a:r>
              <a:rPr lang="en-US" sz="1100" dirty="0">
                <a:solidFill>
                  <a:srgbClr val="222222"/>
                </a:solidFill>
                <a:latin typeface="Calibri" pitchFamily="34" charset="0"/>
                <a:ea typeface="Calibri" pitchFamily="34" charset="-122"/>
                <a:cs typeface="Calibri" pitchFamily="34" charset="-120"/>
              </a:rPr>
              <a:t>自社ブースの</a:t>
            </a:r>
            <a:pPr indent="0" marL="0">
              <a:lnSpc>
                <a:spcPct val="125000"/>
              </a:lnSpc>
              <a:buNone/>
            </a:pPr>
            <a:r>
              <a:rPr lang="en-US" sz="1100" b="1" dirty="0">
                <a:solidFill>
                  <a:srgbClr val="222222"/>
                </a:solidFill>
                <a:latin typeface="Calibri" pitchFamily="34" charset="0"/>
                <a:ea typeface="Calibri" pitchFamily="34" charset="-122"/>
                <a:cs typeface="Calibri" pitchFamily="34" charset="-120"/>
              </a:rPr>
              <a:t>回答数や集計</a:t>
            </a:r>
            <a:pPr indent="0" marL="0">
              <a:lnSpc>
                <a:spcPct val="125000"/>
              </a:lnSpc>
              <a:buNone/>
            </a:pPr>
            <a:r>
              <a:rPr lang="en-US" sz="1100" dirty="0">
                <a:solidFill>
                  <a:srgbClr val="222222"/>
                </a:solidFill>
                <a:latin typeface="Calibri" pitchFamily="34" charset="0"/>
                <a:ea typeface="Calibri" pitchFamily="34" charset="-122"/>
                <a:cs typeface="Calibri" pitchFamily="34" charset="-120"/>
              </a:rPr>
              <a:t>をその場で見る</a:t>
            </a:r>
            <a:endParaRPr lang="en-US" sz="1100" dirty="0"/>
          </a:p>
        </p:txBody>
      </p:sp>
      <p:sp>
        <p:nvSpPr>
          <p:cNvPr id="6" name="Text 4"/>
          <p:cNvSpPr txBox="1"/>
          <p:nvPr/>
        </p:nvSpPr>
        <p:spPr>
          <a:xfrm>
            <a:off x="713232" y="2032762"/>
            <a:ext cx="6281928" cy="257429"/>
          </a:xfrm>
          <a:prstGeom prst="rect">
            <a:avLst/>
          </a:prstGeom>
          <a:noFill/>
          <a:ln/>
        </p:spPr>
        <p:txBody>
          <a:bodyPr wrap="square" lIns="0" tIns="0" rIns="0" bIns="0" rtlCol="0" anchor="t"/>
          <a:lstStyle/>
          <a:p>
            <a:pPr marL="342900" indent="-342900">
              <a:lnSpc>
                <a:spcPct val="125000"/>
              </a:lnSpc>
              <a:buSzPct val="100000"/>
              <a:buChar char="●"/>
            </a:pPr>
            <a:r>
              <a:rPr lang="en-US" sz="1100" b="1" dirty="0">
                <a:solidFill>
                  <a:srgbClr val="222222"/>
                </a:solidFill>
                <a:latin typeface="Calibri" pitchFamily="34" charset="0"/>
                <a:ea typeface="Calibri" pitchFamily="34" charset="-122"/>
                <a:cs typeface="Calibri" pitchFamily="34" charset="-120"/>
              </a:rPr>
              <a:t>回答の一覧</a:t>
            </a:r>
            <a:pPr indent="0" marL="0">
              <a:lnSpc>
                <a:spcPct val="125000"/>
              </a:lnSpc>
              <a:buNone/>
            </a:pPr>
            <a:r>
              <a:rPr lang="en-US" sz="1100" dirty="0">
                <a:solidFill>
                  <a:srgbClr val="222222"/>
                </a:solidFill>
                <a:latin typeface="Calibri" pitchFamily="34" charset="0"/>
                <a:ea typeface="Calibri" pitchFamily="34" charset="-122"/>
                <a:cs typeface="Calibri" pitchFamily="34" charset="-120"/>
              </a:rPr>
              <a:t>を見る、</a:t>
            </a:r>
            <a:pPr indent="0" marL="0">
              <a:lnSpc>
                <a:spcPct val="125000"/>
              </a:lnSpc>
              <a:buNone/>
            </a:pPr>
            <a:r>
              <a:rPr lang="en-US" sz="1100" b="1" dirty="0">
                <a:solidFill>
                  <a:srgbClr val="222222"/>
                </a:solidFill>
                <a:latin typeface="Calibri" pitchFamily="34" charset="0"/>
                <a:ea typeface="Calibri" pitchFamily="34" charset="-122"/>
                <a:cs typeface="Calibri" pitchFamily="34" charset="-120"/>
              </a:rPr>
              <a:t>CSV</a:t>
            </a:r>
            <a:pPr indent="0" marL="0">
              <a:lnSpc>
                <a:spcPct val="125000"/>
              </a:lnSpc>
              <a:buNone/>
            </a:pPr>
            <a:r>
              <a:rPr lang="en-US" sz="1100" dirty="0">
                <a:solidFill>
                  <a:srgbClr val="222222"/>
                </a:solidFill>
                <a:latin typeface="Calibri" pitchFamily="34" charset="0"/>
                <a:ea typeface="Calibri" pitchFamily="34" charset="-122"/>
                <a:cs typeface="Calibri" pitchFamily="34" charset="-120"/>
              </a:rPr>
              <a:t>でダウンロードする</a:t>
            </a:r>
            <a:endParaRPr lang="en-US" sz="1100" dirty="0"/>
          </a:p>
        </p:txBody>
      </p:sp>
      <p:sp>
        <p:nvSpPr>
          <p:cNvPr id="7" name="Text 5"/>
          <p:cNvSpPr txBox="1"/>
          <p:nvPr/>
        </p:nvSpPr>
        <p:spPr>
          <a:xfrm>
            <a:off x="713232" y="2308479"/>
            <a:ext cx="6281928" cy="257429"/>
          </a:xfrm>
          <a:prstGeom prst="rect">
            <a:avLst/>
          </a:prstGeom>
          <a:noFill/>
          <a:ln/>
        </p:spPr>
        <p:txBody>
          <a:bodyPr wrap="square" lIns="0" tIns="0" rIns="0" bIns="0" rtlCol="0" anchor="t"/>
          <a:lstStyle/>
          <a:p>
            <a:pPr marL="342900" indent="-342900">
              <a:lnSpc>
                <a:spcPct val="125000"/>
              </a:lnSpc>
              <a:buSzPct val="100000"/>
              <a:buChar char="●"/>
            </a:pPr>
            <a:r>
              <a:rPr lang="en-US" sz="1100" dirty="0">
                <a:solidFill>
                  <a:srgbClr val="222222"/>
                </a:solidFill>
                <a:latin typeface="Calibri" pitchFamily="34" charset="0"/>
                <a:ea typeface="Calibri" pitchFamily="34" charset="-122"/>
                <a:cs typeface="Calibri" pitchFamily="34" charset="-120"/>
              </a:rPr>
              <a:t>自社ブース用の</a:t>
            </a:r>
            <a:pPr indent="0" marL="0">
              <a:lnSpc>
                <a:spcPct val="125000"/>
              </a:lnSpc>
              <a:buNone/>
            </a:pPr>
            <a:r>
              <a:rPr lang="en-US" sz="1100" b="1" dirty="0">
                <a:solidFill>
                  <a:srgbClr val="222222"/>
                </a:solidFill>
                <a:latin typeface="Calibri" pitchFamily="34" charset="0"/>
                <a:ea typeface="Calibri" pitchFamily="34" charset="-122"/>
                <a:cs typeface="Calibri" pitchFamily="34" charset="-120"/>
              </a:rPr>
              <a:t>QRコード</a:t>
            </a:r>
            <a:pPr indent="0" marL="0">
              <a:lnSpc>
                <a:spcPct val="125000"/>
              </a:lnSpc>
              <a:buNone/>
            </a:pPr>
            <a:r>
              <a:rPr lang="en-US" sz="1100" dirty="0">
                <a:solidFill>
                  <a:srgbClr val="222222"/>
                </a:solidFill>
                <a:latin typeface="Calibri" pitchFamily="34" charset="0"/>
                <a:ea typeface="Calibri" pitchFamily="34" charset="-122"/>
                <a:cs typeface="Calibri" pitchFamily="34" charset="-120"/>
              </a:rPr>
              <a:t>を確認・印刷する</a:t>
            </a:r>
            <a:endParaRPr lang="en-US" sz="1100" dirty="0"/>
          </a:p>
        </p:txBody>
      </p:sp>
      <p:sp>
        <p:nvSpPr>
          <p:cNvPr id="8" name="Shape 6"/>
          <p:cNvSpPr/>
          <p:nvPr/>
        </p:nvSpPr>
        <p:spPr>
          <a:xfrm>
            <a:off x="566928" y="2584196"/>
            <a:ext cx="6428232" cy="431102"/>
          </a:xfrm>
          <a:prstGeom prst="roundRect">
            <a:avLst>
              <a:gd name="adj" fmla="val 12726"/>
            </a:avLst>
          </a:prstGeom>
          <a:solidFill>
            <a:srgbClr val="E3F0F4"/>
          </a:solidFill>
          <a:ln w="9525">
            <a:solidFill>
              <a:srgbClr val="1C7293"/>
            </a:solidFill>
            <a:prstDash val="solid"/>
          </a:ln>
        </p:spPr>
      </p:sp>
      <p:sp>
        <p:nvSpPr>
          <p:cNvPr id="9" name="Text 7"/>
          <p:cNvSpPr txBox="1"/>
          <p:nvPr/>
        </p:nvSpPr>
        <p:spPr>
          <a:xfrm>
            <a:off x="658368" y="2675636"/>
            <a:ext cx="237744" cy="237744"/>
          </a:xfrm>
          <a:prstGeom prst="rect">
            <a:avLst/>
          </a:prstGeom>
          <a:noFill/>
          <a:ln/>
        </p:spPr>
        <p:txBody>
          <a:bodyPr wrap="square" lIns="0" tIns="0" rIns="0" bIns="0" rtlCol="0" anchor="ctr"/>
          <a:lstStyle/>
          <a:p>
            <a:pPr algn="ctr" indent="0" marL="0">
              <a:buNone/>
            </a:pPr>
            <a:r>
              <a:rPr lang="en-US" sz="1200" b="1" dirty="0">
                <a:solidFill>
                  <a:srgbClr val="1C7293"/>
                </a:solidFill>
                <a:latin typeface="Calibri" pitchFamily="34" charset="0"/>
                <a:ea typeface="Calibri" pitchFamily="34" charset="-122"/>
                <a:cs typeface="Calibri" pitchFamily="34" charset="-120"/>
              </a:rPr>
              <a:t>i</a:t>
            </a:r>
            <a:endParaRPr lang="en-US" sz="1200" dirty="0"/>
          </a:p>
        </p:txBody>
      </p:sp>
      <p:sp>
        <p:nvSpPr>
          <p:cNvPr id="10" name="Text 8"/>
          <p:cNvSpPr txBox="1"/>
          <p:nvPr/>
        </p:nvSpPr>
        <p:spPr>
          <a:xfrm>
            <a:off x="950976" y="2693924"/>
            <a:ext cx="5925312" cy="248221"/>
          </a:xfrm>
          <a:prstGeom prst="rect">
            <a:avLst/>
          </a:prstGeom>
          <a:noFill/>
          <a:ln/>
        </p:spPr>
        <p:txBody>
          <a:bodyPr wrap="square" lIns="0" tIns="0" rIns="0" bIns="0" rtlCol="0" anchor="t"/>
          <a:lstStyle/>
          <a:p>
            <a:pPr indent="0" marL="0">
              <a:lnSpc>
                <a:spcPct val="120000"/>
              </a:lnSpc>
              <a:buNone/>
            </a:pPr>
            <a:r>
              <a:rPr lang="en-US" sz="1050" dirty="0">
                <a:solidFill>
                  <a:srgbClr val="222222"/>
                </a:solidFill>
                <a:latin typeface="Calibri" pitchFamily="34" charset="0"/>
                <a:ea typeface="Calibri" pitchFamily="34" charset="-122"/>
                <a:cs typeface="Calibri" pitchFamily="34" charset="-120"/>
              </a:rPr>
              <a:t>他社の回答数や回答内容は見られません。イベント全体の集計は主催者のみが確認します。</a:t>
            </a:r>
            <a:endParaRPr lang="en-US" sz="1050" dirty="0"/>
          </a:p>
        </p:txBody>
      </p:sp>
      <p:sp>
        <p:nvSpPr>
          <p:cNvPr id="11" name="Text 9"/>
          <p:cNvSpPr txBox="1"/>
          <p:nvPr/>
        </p:nvSpPr>
        <p:spPr>
          <a:xfrm>
            <a:off x="566928" y="3198178"/>
            <a:ext cx="6428232" cy="257810"/>
          </a:xfrm>
          <a:prstGeom prst="rect">
            <a:avLst/>
          </a:prstGeom>
          <a:noFill/>
          <a:ln/>
        </p:spPr>
        <p:txBody>
          <a:bodyPr wrap="square" lIns="0" tIns="0" rIns="0" bIns="0" rtlCol="0" anchor="t"/>
          <a:lstStyle/>
          <a:p>
            <a:pPr indent="0" marL="0">
              <a:buNone/>
            </a:pPr>
            <a:r>
              <a:rPr lang="en-US" sz="1400" b="1" dirty="0">
                <a:solidFill>
                  <a:srgbClr val="1C7293"/>
                </a:solidFill>
                <a:latin typeface="Calibri" pitchFamily="34" charset="0"/>
                <a:ea typeface="Calibri" pitchFamily="34" charset="-122"/>
                <a:cs typeface="Calibri" pitchFamily="34" charset="-120"/>
              </a:rPr>
              <a:t>用意するもの</a:t>
            </a:r>
            <a:endParaRPr lang="en-US" sz="1400" dirty="0"/>
          </a:p>
        </p:txBody>
      </p:sp>
      <p:sp>
        <p:nvSpPr>
          <p:cNvPr id="12" name="Text 10"/>
          <p:cNvSpPr txBox="1"/>
          <p:nvPr/>
        </p:nvSpPr>
        <p:spPr>
          <a:xfrm>
            <a:off x="713232" y="3529140"/>
            <a:ext cx="6281928" cy="257429"/>
          </a:xfrm>
          <a:prstGeom prst="rect">
            <a:avLst/>
          </a:prstGeom>
          <a:noFill/>
          <a:ln/>
        </p:spPr>
        <p:txBody>
          <a:bodyPr wrap="square" lIns="0" tIns="0" rIns="0" bIns="0" rtlCol="0" anchor="t"/>
          <a:lstStyle/>
          <a:p>
            <a:pPr marL="342900" indent="-342900">
              <a:lnSpc>
                <a:spcPct val="125000"/>
              </a:lnSpc>
              <a:buSzPct val="100000"/>
              <a:buChar char="●"/>
            </a:pPr>
            <a:r>
              <a:rPr lang="en-US" sz="1100" dirty="0">
                <a:solidFill>
                  <a:srgbClr val="222222"/>
                </a:solidFill>
                <a:latin typeface="Calibri" pitchFamily="34" charset="0"/>
                <a:ea typeface="Calibri" pitchFamily="34" charset="-122"/>
                <a:cs typeface="Calibri" pitchFamily="34" charset="-120"/>
              </a:rPr>
              <a:t>事務局から配られた</a:t>
            </a:r>
            <a:pPr indent="0" marL="0">
              <a:lnSpc>
                <a:spcPct val="125000"/>
              </a:lnSpc>
              <a:buNone/>
            </a:pPr>
            <a:r>
              <a:rPr lang="en-US" sz="1100" b="1" dirty="0">
                <a:solidFill>
                  <a:srgbClr val="222222"/>
                </a:solidFill>
                <a:latin typeface="Calibri" pitchFamily="34" charset="0"/>
                <a:ea typeface="Calibri" pitchFamily="34" charset="-122"/>
                <a:cs typeface="Calibri" pitchFamily="34" charset="-120"/>
              </a:rPr>
              <a:t>ユーザー名</a:t>
            </a:r>
            <a:pPr indent="0" marL="0">
              <a:lnSpc>
                <a:spcPct val="125000"/>
              </a:lnSpc>
              <a:buNone/>
            </a:pPr>
            <a:r>
              <a:rPr lang="en-US" sz="1100" dirty="0">
                <a:solidFill>
                  <a:srgbClr val="222222"/>
                </a:solidFill>
                <a:latin typeface="Calibri" pitchFamily="34" charset="0"/>
                <a:ea typeface="Calibri" pitchFamily="34" charset="-122"/>
                <a:cs typeface="Calibri" pitchFamily="34" charset="-120"/>
              </a:rPr>
              <a:t>と</a:t>
            </a:r>
            <a:pPr indent="0" marL="0">
              <a:lnSpc>
                <a:spcPct val="125000"/>
              </a:lnSpc>
              <a:buNone/>
            </a:pPr>
            <a:r>
              <a:rPr lang="en-US" sz="1100" b="1" dirty="0">
                <a:solidFill>
                  <a:srgbClr val="222222"/>
                </a:solidFill>
                <a:latin typeface="Calibri" pitchFamily="34" charset="0"/>
                <a:ea typeface="Calibri" pitchFamily="34" charset="-122"/>
                <a:cs typeface="Calibri" pitchFamily="34" charset="-120"/>
              </a:rPr>
              <a:t>パスワード</a:t>
            </a:r>
            <a:endParaRPr lang="en-US" sz="1100" dirty="0"/>
          </a:p>
        </p:txBody>
      </p:sp>
      <p:sp>
        <p:nvSpPr>
          <p:cNvPr id="13" name="Text 11"/>
          <p:cNvSpPr txBox="1"/>
          <p:nvPr/>
        </p:nvSpPr>
        <p:spPr>
          <a:xfrm>
            <a:off x="713232" y="3804857"/>
            <a:ext cx="6281928" cy="257429"/>
          </a:xfrm>
          <a:prstGeom prst="rect">
            <a:avLst/>
          </a:prstGeom>
          <a:noFill/>
          <a:ln/>
        </p:spPr>
        <p:txBody>
          <a:bodyPr wrap="square" lIns="0" tIns="0" rIns="0" bIns="0" rtlCol="0" anchor="t"/>
          <a:lstStyle/>
          <a:p>
            <a:pPr marL="342900" indent="-342900">
              <a:lnSpc>
                <a:spcPct val="125000"/>
              </a:lnSpc>
              <a:buSzPct val="100000"/>
              <a:buChar char="●"/>
            </a:pPr>
            <a:r>
              <a:rPr lang="en-US" sz="1100" dirty="0">
                <a:solidFill>
                  <a:srgbClr val="222222"/>
                </a:solidFill>
                <a:latin typeface="Calibri" pitchFamily="34" charset="0"/>
                <a:ea typeface="Calibri" pitchFamily="34" charset="-122"/>
                <a:cs typeface="Calibri" pitchFamily="34" charset="-120"/>
              </a:rPr>
              <a:t>パソコン、またはスマートフォン（どちらでも操作できます）</a:t>
            </a:r>
            <a:endParaRPr lang="en-US" sz="1100" dirty="0"/>
          </a:p>
        </p:txBody>
      </p:sp>
      <p:pic>
        <p:nvPicPr>
          <p:cNvPr id="14" name="Image 0" descr="C:\Users\sato\Desktop\enque\docs\images\c-dashboard.png">    </p:cNvPr>
          <p:cNvPicPr>
            <a:picLocks noChangeAspect="1"/>
          </p:cNvPicPr>
          <p:nvPr/>
        </p:nvPicPr>
        <p:blipFill>
          <a:blip r:embed="rId1"/>
          <a:stretch>
            <a:fillRect/>
          </a:stretch>
        </p:blipFill>
        <p:spPr>
          <a:xfrm>
            <a:off x="566928" y="4080573"/>
            <a:ext cx="6428232" cy="2066606"/>
          </a:xfrm>
          <a:prstGeom prst="rect">
            <a:avLst/>
          </a:prstGeom>
        </p:spPr>
      </p:pic>
      <p:sp>
        <p:nvSpPr>
          <p:cNvPr id="15" name="Text 12"/>
          <p:cNvSpPr txBox="1"/>
          <p:nvPr/>
        </p:nvSpPr>
        <p:spPr>
          <a:xfrm>
            <a:off x="566928" y="6202043"/>
            <a:ext cx="6428232" cy="274320"/>
          </a:xfrm>
          <a:prstGeom prst="rect">
            <a:avLst/>
          </a:prstGeom>
          <a:noFill/>
          <a:ln/>
        </p:spPr>
        <p:txBody>
          <a:bodyPr wrap="square" lIns="0" tIns="0" rIns="0" bIns="0" rtlCol="0" anchor="ctr"/>
          <a:lstStyle/>
          <a:p>
            <a:pPr algn="ctr" indent="0" marL="0">
              <a:buNone/>
            </a:pPr>
            <a:r>
              <a:rPr lang="en-US" sz="950" dirty="0">
                <a:solidFill>
                  <a:srgbClr val="6B6B6B"/>
                </a:solidFill>
                <a:latin typeface="Calibri" pitchFamily="34" charset="0"/>
                <a:ea typeface="Calibri" pitchFamily="34" charset="-122"/>
                <a:cs typeface="Calibri" pitchFamily="34" charset="-120"/>
              </a:rPr>
              <a:t>自社ダッシュボードの全体像（回答数・修正された回答・設問数のタイルが見えるもの）。</a:t>
            </a:r>
            <a:endParaRPr lang="en-US" sz="950" dirty="0"/>
          </a:p>
        </p:txBody>
      </p:sp>
      <p:sp>
        <p:nvSpPr>
          <p:cNvPr id="16" name="Text 13"/>
          <p:cNvSpPr txBox="1"/>
          <p:nvPr/>
        </p:nvSpPr>
        <p:spPr>
          <a:xfrm>
            <a:off x="566928" y="10186416"/>
            <a:ext cx="6428232" cy="228600"/>
          </a:xfrm>
          <a:prstGeom prst="rect">
            <a:avLst/>
          </a:prstGeom>
          <a:noFill/>
          <a:ln/>
        </p:spPr>
        <p:txBody>
          <a:bodyPr wrap="square" lIns="0" tIns="0" rIns="0" bIns="0" rtlCol="0" anchor="ctr"/>
          <a:lstStyle/>
          <a:p>
            <a:pPr algn="r" indent="0" marL="0">
              <a:buNone/>
            </a:pPr>
            <a:r>
              <a:rPr lang="en-US" sz="900" dirty="0">
                <a:solidFill>
                  <a:srgbClr val="6B6B6B"/>
                </a:solidFill>
                <a:latin typeface="Calibri" pitchFamily="34" charset="0"/>
                <a:ea typeface="Calibri" pitchFamily="34" charset="-122"/>
                <a:cs typeface="Calibri" pitchFamily="34" charset="-120"/>
              </a:rPr>
              <a:t>企業担当者向け　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457200"/>
            <a:ext cx="6428232" cy="237744"/>
          </a:xfrm>
          <a:prstGeom prst="rect">
            <a:avLst/>
          </a:prstGeom>
          <a:noFill/>
          <a:ln/>
        </p:spPr>
        <p:txBody>
          <a:bodyPr wrap="square" lIns="0" tIns="0" rIns="0" bIns="0" rtlCol="0" anchor="ctr"/>
          <a:lstStyle/>
          <a:p>
            <a:pPr indent="0" marL="0">
              <a:buNone/>
            </a:pPr>
            <a:r>
              <a:rPr lang="en-US" sz="1000" b="1" dirty="0">
                <a:solidFill>
                  <a:srgbClr val="1C7293"/>
                </a:solidFill>
                <a:latin typeface="Calibri" pitchFamily="34" charset="0"/>
                <a:ea typeface="Calibri" pitchFamily="34" charset="-122"/>
                <a:cs typeface="Calibri" pitchFamily="34" charset="-120"/>
              </a:rPr>
              <a:t>企業担当者マニュアル</a:t>
            </a:r>
            <a:endParaRPr lang="en-US" sz="1000" dirty="0"/>
          </a:p>
        </p:txBody>
      </p:sp>
      <p:sp>
        <p:nvSpPr>
          <p:cNvPr id="3" name="Text 1"/>
          <p:cNvSpPr txBox="1"/>
          <p:nvPr/>
        </p:nvSpPr>
        <p:spPr>
          <a:xfrm>
            <a:off x="566928" y="713232"/>
            <a:ext cx="6428232" cy="640080"/>
          </a:xfrm>
          <a:prstGeom prst="rect">
            <a:avLst/>
          </a:prstGeom>
          <a:noFill/>
          <a:ln/>
        </p:spPr>
        <p:txBody>
          <a:bodyPr wrap="square" lIns="0" tIns="0" rIns="0" bIns="0" rtlCol="0" anchor="t"/>
          <a:lstStyle/>
          <a:p>
            <a:pPr indent="0" marL="0">
              <a:buNone/>
            </a:pPr>
            <a:r>
              <a:rPr lang="en-US" sz="2200" b="1" dirty="0">
                <a:solidFill>
                  <a:srgbClr val="222222"/>
                </a:solidFill>
                <a:latin typeface="Calibri" pitchFamily="34" charset="0"/>
                <a:ea typeface="Calibri" pitchFamily="34" charset="-122"/>
                <a:cs typeface="Calibri" pitchFamily="34" charset="-120"/>
              </a:rPr>
              <a:t>ログインする</a:t>
            </a:r>
            <a:endParaRPr lang="en-US" sz="2200" dirty="0"/>
          </a:p>
        </p:txBody>
      </p:sp>
      <p:sp>
        <p:nvSpPr>
          <p:cNvPr id="4" name="Shape 2"/>
          <p:cNvSpPr/>
          <p:nvPr/>
        </p:nvSpPr>
        <p:spPr>
          <a:xfrm>
            <a:off x="566928" y="1499616"/>
            <a:ext cx="274320" cy="274320"/>
          </a:xfrm>
          <a:prstGeom prst="ellipse">
            <a:avLst/>
          </a:prstGeom>
          <a:solidFill>
            <a:srgbClr val="1C7293"/>
          </a:solidFill>
          <a:ln/>
        </p:spPr>
      </p:sp>
      <p:sp>
        <p:nvSpPr>
          <p:cNvPr id="5" name="Text 3"/>
          <p:cNvSpPr txBox="1"/>
          <p:nvPr/>
        </p:nvSpPr>
        <p:spPr>
          <a:xfrm>
            <a:off x="566928" y="1499616"/>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6" name="Text 4"/>
          <p:cNvSpPr txBox="1"/>
          <p:nvPr/>
        </p:nvSpPr>
        <p:spPr>
          <a:xfrm>
            <a:off x="969264" y="1481328"/>
            <a:ext cx="6025896" cy="365760"/>
          </a:xfrm>
          <a:prstGeom prst="rect">
            <a:avLst/>
          </a:prstGeom>
          <a:noFill/>
          <a:ln/>
        </p:spPr>
        <p:txBody>
          <a:bodyPr wrap="square" lIns="0" tIns="0" rIns="0" bIns="0" rtlCol="0" anchor="t"/>
          <a:lstStyle/>
          <a:p>
            <a:pPr indent="0" marL="0">
              <a:lnSpc>
                <a:spcPct val="125000"/>
              </a:lnSpc>
              <a:buNone/>
            </a:pPr>
            <a:r>
              <a:rPr lang="en-US" sz="1150" dirty="0">
                <a:solidFill>
                  <a:srgbClr val="222222"/>
                </a:solidFill>
                <a:latin typeface="Calibri" pitchFamily="34" charset="0"/>
                <a:ea typeface="Calibri" pitchFamily="34" charset="-122"/>
                <a:cs typeface="Calibri" pitchFamily="34" charset="-120"/>
              </a:rPr>
              <a:t>ブラウザで、事務局から案内された</a:t>
            </a:r>
            <a:pPr indent="0" marL="0">
              <a:lnSpc>
                <a:spcPct val="125000"/>
              </a:lnSpc>
              <a:buNone/>
            </a:pPr>
            <a:r>
              <a:rPr lang="en-US" sz="1150" b="1" dirty="0">
                <a:solidFill>
                  <a:srgbClr val="222222"/>
                </a:solidFill>
                <a:latin typeface="Calibri" pitchFamily="34" charset="0"/>
                <a:ea typeface="Calibri" pitchFamily="34" charset="-122"/>
                <a:cs typeface="Calibri" pitchFamily="34" charset="-120"/>
              </a:rPr>
              <a:t>管理画面のURL</a:t>
            </a:r>
            <a:pPr indent="0" marL="0">
              <a:lnSpc>
                <a:spcPct val="125000"/>
              </a:lnSpc>
              <a:buNone/>
            </a:pPr>
            <a:r>
              <a:rPr lang="en-US" sz="1150" dirty="0">
                <a:solidFill>
                  <a:srgbClr val="222222"/>
                </a:solidFill>
                <a:latin typeface="Calibri" pitchFamily="34" charset="0"/>
                <a:ea typeface="Calibri" pitchFamily="34" charset="-122"/>
                <a:cs typeface="Calibri" pitchFamily="34" charset="-120"/>
              </a:rPr>
              <a:t>を開く</a:t>
            </a:r>
            <a:endParaRPr lang="en-US" sz="1150" dirty="0"/>
          </a:p>
        </p:txBody>
      </p:sp>
      <p:sp>
        <p:nvSpPr>
          <p:cNvPr id="7" name="Shape 5"/>
          <p:cNvSpPr/>
          <p:nvPr/>
        </p:nvSpPr>
        <p:spPr>
          <a:xfrm>
            <a:off x="566928" y="1956816"/>
            <a:ext cx="274320" cy="274320"/>
          </a:xfrm>
          <a:prstGeom prst="ellipse">
            <a:avLst/>
          </a:prstGeom>
          <a:solidFill>
            <a:srgbClr val="1C7293"/>
          </a:solidFill>
          <a:ln/>
        </p:spPr>
      </p:sp>
      <p:sp>
        <p:nvSpPr>
          <p:cNvPr id="8" name="Text 6"/>
          <p:cNvSpPr txBox="1"/>
          <p:nvPr/>
        </p:nvSpPr>
        <p:spPr>
          <a:xfrm>
            <a:off x="566928" y="1956816"/>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9" name="Text 7"/>
          <p:cNvSpPr txBox="1"/>
          <p:nvPr/>
        </p:nvSpPr>
        <p:spPr>
          <a:xfrm>
            <a:off x="969264" y="1938528"/>
            <a:ext cx="6025896" cy="365760"/>
          </a:xfrm>
          <a:prstGeom prst="rect">
            <a:avLst/>
          </a:prstGeom>
          <a:noFill/>
          <a:ln/>
        </p:spPr>
        <p:txBody>
          <a:bodyPr wrap="square" lIns="0" tIns="0" rIns="0" bIns="0" rtlCol="0" anchor="t"/>
          <a:lstStyle/>
          <a:p>
            <a:pPr indent="0" marL="0">
              <a:lnSpc>
                <a:spcPct val="125000"/>
              </a:lnSpc>
              <a:buNone/>
            </a:pPr>
            <a:r>
              <a:rPr lang="en-US" sz="1150" b="1" dirty="0">
                <a:solidFill>
                  <a:srgbClr val="222222"/>
                </a:solidFill>
                <a:latin typeface="Calibri" pitchFamily="34" charset="0"/>
                <a:ea typeface="Calibri" pitchFamily="34" charset="-122"/>
                <a:cs typeface="Calibri" pitchFamily="34" charset="-120"/>
              </a:rPr>
              <a:t>ユーザー名</a:t>
            </a:r>
            <a:pPr indent="0" marL="0">
              <a:lnSpc>
                <a:spcPct val="125000"/>
              </a:lnSpc>
              <a:buNone/>
            </a:pPr>
            <a:r>
              <a:rPr lang="en-US" sz="1150" dirty="0">
                <a:solidFill>
                  <a:srgbClr val="222222"/>
                </a:solidFill>
                <a:latin typeface="Calibri" pitchFamily="34" charset="0"/>
                <a:ea typeface="Calibri" pitchFamily="34" charset="-122"/>
                <a:cs typeface="Calibri" pitchFamily="34" charset="-120"/>
              </a:rPr>
              <a:t>と</a:t>
            </a:r>
            <a:pPr indent="0" marL="0">
              <a:lnSpc>
                <a:spcPct val="125000"/>
              </a:lnSpc>
              <a:buNone/>
            </a:pPr>
            <a:r>
              <a:rPr lang="en-US" sz="1150" b="1" dirty="0">
                <a:solidFill>
                  <a:srgbClr val="222222"/>
                </a:solidFill>
                <a:latin typeface="Calibri" pitchFamily="34" charset="0"/>
                <a:ea typeface="Calibri" pitchFamily="34" charset="-122"/>
                <a:cs typeface="Calibri" pitchFamily="34" charset="-120"/>
              </a:rPr>
              <a:t>パスワード</a:t>
            </a:r>
            <a:pPr indent="0" marL="0">
              <a:lnSpc>
                <a:spcPct val="125000"/>
              </a:lnSpc>
              <a:buNone/>
            </a:pPr>
            <a:r>
              <a:rPr lang="en-US" sz="1150" dirty="0">
                <a:solidFill>
                  <a:srgbClr val="222222"/>
                </a:solidFill>
                <a:latin typeface="Calibri" pitchFamily="34" charset="0"/>
                <a:ea typeface="Calibri" pitchFamily="34" charset="-122"/>
                <a:cs typeface="Calibri" pitchFamily="34" charset="-120"/>
              </a:rPr>
              <a:t>を入力する</a:t>
            </a:r>
            <a:endParaRPr lang="en-US" sz="1150" dirty="0"/>
          </a:p>
        </p:txBody>
      </p:sp>
      <p:sp>
        <p:nvSpPr>
          <p:cNvPr id="10" name="Shape 8"/>
          <p:cNvSpPr/>
          <p:nvPr/>
        </p:nvSpPr>
        <p:spPr>
          <a:xfrm>
            <a:off x="566928" y="2414016"/>
            <a:ext cx="274320" cy="274320"/>
          </a:xfrm>
          <a:prstGeom prst="ellipse">
            <a:avLst/>
          </a:prstGeom>
          <a:solidFill>
            <a:srgbClr val="1C7293"/>
          </a:solidFill>
          <a:ln/>
        </p:spPr>
      </p:sp>
      <p:sp>
        <p:nvSpPr>
          <p:cNvPr id="11" name="Text 9"/>
          <p:cNvSpPr txBox="1"/>
          <p:nvPr/>
        </p:nvSpPr>
        <p:spPr>
          <a:xfrm>
            <a:off x="566928" y="2414016"/>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2" name="Text 10"/>
          <p:cNvSpPr txBox="1"/>
          <p:nvPr/>
        </p:nvSpPr>
        <p:spPr>
          <a:xfrm>
            <a:off x="969264" y="2395728"/>
            <a:ext cx="6025896" cy="365760"/>
          </a:xfrm>
          <a:prstGeom prst="rect">
            <a:avLst/>
          </a:prstGeom>
          <a:noFill/>
          <a:ln/>
        </p:spPr>
        <p:txBody>
          <a:bodyPr wrap="square" lIns="0" tIns="0" rIns="0" bIns="0" rtlCol="0" anchor="t"/>
          <a:lstStyle/>
          <a:p>
            <a:pPr indent="0" marL="0">
              <a:lnSpc>
                <a:spcPct val="125000"/>
              </a:lnSpc>
              <a:buNone/>
            </a:pPr>
            <a:r>
              <a:rPr lang="en-US" sz="1150" dirty="0">
                <a:solidFill>
                  <a:srgbClr val="222222"/>
                </a:solidFill>
                <a:latin typeface="Calibri" pitchFamily="34" charset="0"/>
                <a:ea typeface="Calibri" pitchFamily="34" charset="-122"/>
                <a:cs typeface="Calibri" pitchFamily="34" charset="-120"/>
              </a:rPr>
              <a:t>「ログイン」を押す</a:t>
            </a:r>
            <a:endParaRPr lang="en-US" sz="1150" dirty="0"/>
          </a:p>
        </p:txBody>
      </p:sp>
      <p:sp>
        <p:nvSpPr>
          <p:cNvPr id="13" name="Text 11"/>
          <p:cNvSpPr txBox="1"/>
          <p:nvPr/>
        </p:nvSpPr>
        <p:spPr>
          <a:xfrm>
            <a:off x="566928" y="2852928"/>
            <a:ext cx="6428232" cy="257429"/>
          </a:xfrm>
          <a:prstGeom prst="rect">
            <a:avLst/>
          </a:prstGeom>
          <a:noFill/>
          <a:ln/>
        </p:spPr>
        <p:txBody>
          <a:bodyPr wrap="square" lIns="0" tIns="0" rIns="0" bIns="0" rtlCol="0" anchor="t"/>
          <a:lstStyle/>
          <a:p>
            <a:pPr indent="0" marL="0">
              <a:lnSpc>
                <a:spcPct val="125000"/>
              </a:lnSpc>
              <a:buNone/>
            </a:pPr>
            <a:r>
              <a:rPr lang="en-US" sz="1100" dirty="0">
                <a:solidFill>
                  <a:srgbClr val="222222"/>
                </a:solidFill>
                <a:latin typeface="Calibri" pitchFamily="34" charset="0"/>
                <a:ea typeface="Calibri" pitchFamily="34" charset="-122"/>
                <a:cs typeface="Calibri" pitchFamily="34" charset="-120"/>
              </a:rPr>
              <a:t>ログインすると、自社の</a:t>
            </a:r>
            <a:pPr indent="0" marL="0">
              <a:lnSpc>
                <a:spcPct val="125000"/>
              </a:lnSpc>
              <a:buNone/>
            </a:pPr>
            <a:r>
              <a:rPr lang="en-US" sz="1100" b="1" dirty="0">
                <a:solidFill>
                  <a:srgbClr val="222222"/>
                </a:solidFill>
                <a:latin typeface="Calibri" pitchFamily="34" charset="0"/>
                <a:ea typeface="Calibri" pitchFamily="34" charset="-122"/>
                <a:cs typeface="Calibri" pitchFamily="34" charset="-120"/>
              </a:rPr>
              <a:t>ダッシュボード</a:t>
            </a:r>
            <a:pPr indent="0" marL="0">
              <a:lnSpc>
                <a:spcPct val="125000"/>
              </a:lnSpc>
              <a:buNone/>
            </a:pPr>
            <a:r>
              <a:rPr lang="en-US" sz="1100" dirty="0">
                <a:solidFill>
                  <a:srgbClr val="222222"/>
                </a:solidFill>
                <a:latin typeface="Calibri" pitchFamily="34" charset="0"/>
                <a:ea typeface="Calibri" pitchFamily="34" charset="-122"/>
                <a:cs typeface="Calibri" pitchFamily="34" charset="-120"/>
              </a:rPr>
              <a:t>が開きます。</a:t>
            </a:r>
            <a:endParaRPr lang="en-US" sz="1100" dirty="0"/>
          </a:p>
        </p:txBody>
      </p:sp>
      <p:sp>
        <p:nvSpPr>
          <p:cNvPr id="14" name="Shape 12"/>
          <p:cNvSpPr/>
          <p:nvPr/>
        </p:nvSpPr>
        <p:spPr>
          <a:xfrm>
            <a:off x="566928" y="3146933"/>
            <a:ext cx="6428232" cy="624459"/>
          </a:xfrm>
          <a:prstGeom prst="roundRect">
            <a:avLst>
              <a:gd name="adj" fmla="val 8786"/>
            </a:avLst>
          </a:prstGeom>
          <a:solidFill>
            <a:srgbClr val="FDF0E6"/>
          </a:solidFill>
          <a:ln w="9525">
            <a:solidFill>
              <a:srgbClr val="E08A3C"/>
            </a:solidFill>
            <a:prstDash val="solid"/>
          </a:ln>
        </p:spPr>
      </p:sp>
      <p:sp>
        <p:nvSpPr>
          <p:cNvPr id="15" name="Text 13"/>
          <p:cNvSpPr txBox="1"/>
          <p:nvPr/>
        </p:nvSpPr>
        <p:spPr>
          <a:xfrm>
            <a:off x="658368" y="3238373"/>
            <a:ext cx="237744" cy="237744"/>
          </a:xfrm>
          <a:prstGeom prst="rect">
            <a:avLst/>
          </a:prstGeom>
          <a:noFill/>
          <a:ln/>
        </p:spPr>
        <p:txBody>
          <a:bodyPr wrap="square" lIns="0" tIns="0" rIns="0" bIns="0" rtlCol="0" anchor="ctr"/>
          <a:lstStyle/>
          <a:p>
            <a:pPr algn="ctr" indent="0" marL="0">
              <a:buNone/>
            </a:pPr>
            <a:r>
              <a:rPr lang="en-US" sz="1200" b="1" dirty="0">
                <a:solidFill>
                  <a:srgbClr val="C25A17"/>
                </a:solidFill>
                <a:latin typeface="Calibri" pitchFamily="34" charset="0"/>
                <a:ea typeface="Calibri" pitchFamily="34" charset="-122"/>
                <a:cs typeface="Calibri" pitchFamily="34" charset="-120"/>
              </a:rPr>
              <a:t>！</a:t>
            </a:r>
            <a:endParaRPr lang="en-US" sz="1200" dirty="0"/>
          </a:p>
        </p:txBody>
      </p:sp>
      <p:sp>
        <p:nvSpPr>
          <p:cNvPr id="16" name="Text 14"/>
          <p:cNvSpPr txBox="1"/>
          <p:nvPr/>
        </p:nvSpPr>
        <p:spPr>
          <a:xfrm>
            <a:off x="950976" y="3256661"/>
            <a:ext cx="5925312" cy="441579"/>
          </a:xfrm>
          <a:prstGeom prst="rect">
            <a:avLst/>
          </a:prstGeom>
          <a:noFill/>
          <a:ln/>
        </p:spPr>
        <p:txBody>
          <a:bodyPr wrap="square" lIns="0" tIns="0" rIns="0" bIns="0" rtlCol="0" anchor="t"/>
          <a:lstStyle/>
          <a:p>
            <a:pPr indent="0" marL="0">
              <a:lnSpc>
                <a:spcPct val="120000"/>
              </a:lnSpc>
              <a:buNone/>
            </a:pPr>
            <a:r>
              <a:rPr lang="en-US" sz="1050" dirty="0">
                <a:solidFill>
                  <a:srgbClr val="222222"/>
                </a:solidFill>
                <a:latin typeface="Calibri" pitchFamily="34" charset="0"/>
                <a:ea typeface="Calibri" pitchFamily="34" charset="-122"/>
                <a:cs typeface="Calibri" pitchFamily="34" charset="-120"/>
              </a:rPr>
              <a:t>パスワードを何度も間違えると、しばらくログインできなくなります（1分ほどで解除されます）。分からなくなった場合は事務局にご連絡ください。</a:t>
            </a:r>
            <a:endParaRPr lang="en-US" sz="1050" dirty="0"/>
          </a:p>
        </p:txBody>
      </p:sp>
      <p:sp>
        <p:nvSpPr>
          <p:cNvPr id="17" name="Shape 15"/>
          <p:cNvSpPr/>
          <p:nvPr/>
        </p:nvSpPr>
        <p:spPr>
          <a:xfrm>
            <a:off x="566928" y="3844544"/>
            <a:ext cx="6428232" cy="624459"/>
          </a:xfrm>
          <a:prstGeom prst="roundRect">
            <a:avLst>
              <a:gd name="adj" fmla="val 8786"/>
            </a:avLst>
          </a:prstGeom>
          <a:solidFill>
            <a:srgbClr val="E3F0F4"/>
          </a:solidFill>
          <a:ln w="9525">
            <a:solidFill>
              <a:srgbClr val="1C7293"/>
            </a:solidFill>
            <a:prstDash val="solid"/>
          </a:ln>
        </p:spPr>
      </p:sp>
      <p:sp>
        <p:nvSpPr>
          <p:cNvPr id="18" name="Text 16"/>
          <p:cNvSpPr txBox="1"/>
          <p:nvPr/>
        </p:nvSpPr>
        <p:spPr>
          <a:xfrm>
            <a:off x="658368" y="3935984"/>
            <a:ext cx="237744" cy="237744"/>
          </a:xfrm>
          <a:prstGeom prst="rect">
            <a:avLst/>
          </a:prstGeom>
          <a:noFill/>
          <a:ln/>
        </p:spPr>
        <p:txBody>
          <a:bodyPr wrap="square" lIns="0" tIns="0" rIns="0" bIns="0" rtlCol="0" anchor="ctr"/>
          <a:lstStyle/>
          <a:p>
            <a:pPr algn="ctr" indent="0" marL="0">
              <a:buNone/>
            </a:pPr>
            <a:r>
              <a:rPr lang="en-US" sz="1200" b="1" dirty="0">
                <a:solidFill>
                  <a:srgbClr val="1C7293"/>
                </a:solidFill>
                <a:latin typeface="Calibri" pitchFamily="34" charset="0"/>
                <a:ea typeface="Calibri" pitchFamily="34" charset="-122"/>
                <a:cs typeface="Calibri" pitchFamily="34" charset="-120"/>
              </a:rPr>
              <a:t>i</a:t>
            </a:r>
            <a:endParaRPr lang="en-US" sz="1200" dirty="0"/>
          </a:p>
        </p:txBody>
      </p:sp>
      <p:sp>
        <p:nvSpPr>
          <p:cNvPr id="19" name="Text 17"/>
          <p:cNvSpPr txBox="1"/>
          <p:nvPr/>
        </p:nvSpPr>
        <p:spPr>
          <a:xfrm>
            <a:off x="950976" y="3954272"/>
            <a:ext cx="5925312" cy="441579"/>
          </a:xfrm>
          <a:prstGeom prst="rect">
            <a:avLst/>
          </a:prstGeom>
          <a:noFill/>
          <a:ln/>
        </p:spPr>
        <p:txBody>
          <a:bodyPr wrap="square" lIns="0" tIns="0" rIns="0" bIns="0" rtlCol="0" anchor="t"/>
          <a:lstStyle/>
          <a:p>
            <a:pPr indent="0" marL="0">
              <a:lnSpc>
                <a:spcPct val="120000"/>
              </a:lnSpc>
              <a:buNone/>
            </a:pPr>
            <a:r>
              <a:rPr lang="en-US" sz="1050" dirty="0">
                <a:solidFill>
                  <a:srgbClr val="222222"/>
                </a:solidFill>
                <a:latin typeface="Calibri" pitchFamily="34" charset="0"/>
                <a:ea typeface="Calibri" pitchFamily="34" charset="-122"/>
                <a:cs typeface="Calibri" pitchFamily="34" charset="-120"/>
              </a:rPr>
              <a:t>画面右上の「ログアウト（お名前）」から、いつでもログアウトできます。共用のパソコンを使う場合は、終わったらログアウトしてください。</a:t>
            </a:r>
            <a:endParaRPr lang="en-US" sz="1050" dirty="0"/>
          </a:p>
        </p:txBody>
      </p:sp>
      <p:pic>
        <p:nvPicPr>
          <p:cNvPr id="20" name="Image 0" descr="C:\Users\sato\Desktop\enque\docs\images\c-login.png">    </p:cNvPr>
          <p:cNvPicPr>
            <a:picLocks noChangeAspect="1"/>
          </p:cNvPicPr>
          <p:nvPr/>
        </p:nvPicPr>
        <p:blipFill>
          <a:blip r:embed="rId1"/>
          <a:stretch>
            <a:fillRect/>
          </a:stretch>
        </p:blipFill>
        <p:spPr>
          <a:xfrm>
            <a:off x="566928" y="4542155"/>
            <a:ext cx="6428232" cy="2376597"/>
          </a:xfrm>
          <a:prstGeom prst="rect">
            <a:avLst/>
          </a:prstGeom>
        </p:spPr>
      </p:pic>
      <p:sp>
        <p:nvSpPr>
          <p:cNvPr id="21" name="Text 18"/>
          <p:cNvSpPr txBox="1"/>
          <p:nvPr/>
        </p:nvSpPr>
        <p:spPr>
          <a:xfrm>
            <a:off x="566928" y="6973616"/>
            <a:ext cx="6428232" cy="274320"/>
          </a:xfrm>
          <a:prstGeom prst="rect">
            <a:avLst/>
          </a:prstGeom>
          <a:noFill/>
          <a:ln/>
        </p:spPr>
        <p:txBody>
          <a:bodyPr wrap="square" lIns="0" tIns="0" rIns="0" bIns="0" rtlCol="0" anchor="ctr"/>
          <a:lstStyle/>
          <a:p>
            <a:pPr algn="ctr" indent="0" marL="0">
              <a:buNone/>
            </a:pPr>
            <a:r>
              <a:rPr lang="en-US" sz="950" dirty="0">
                <a:solidFill>
                  <a:srgbClr val="6B6B6B"/>
                </a:solidFill>
                <a:latin typeface="Calibri" pitchFamily="34" charset="0"/>
                <a:ea typeface="Calibri" pitchFamily="34" charset="-122"/>
                <a:cs typeface="Calibri" pitchFamily="34" charset="-120"/>
              </a:rPr>
              <a:t>管理画面のログイン画面。</a:t>
            </a:r>
            <a:endParaRPr lang="en-US" sz="950" dirty="0"/>
          </a:p>
        </p:txBody>
      </p:sp>
      <p:sp>
        <p:nvSpPr>
          <p:cNvPr id="22" name="Text 19"/>
          <p:cNvSpPr txBox="1"/>
          <p:nvPr/>
        </p:nvSpPr>
        <p:spPr>
          <a:xfrm>
            <a:off x="566928" y="10186416"/>
            <a:ext cx="6428232" cy="228600"/>
          </a:xfrm>
          <a:prstGeom prst="rect">
            <a:avLst/>
          </a:prstGeom>
          <a:noFill/>
          <a:ln/>
        </p:spPr>
        <p:txBody>
          <a:bodyPr wrap="square" lIns="0" tIns="0" rIns="0" bIns="0" rtlCol="0" anchor="ctr"/>
          <a:lstStyle/>
          <a:p>
            <a:pPr algn="r" indent="0" marL="0">
              <a:buNone/>
            </a:pPr>
            <a:r>
              <a:rPr lang="en-US" sz="900" dirty="0">
                <a:solidFill>
                  <a:srgbClr val="6B6B6B"/>
                </a:solidFill>
                <a:latin typeface="Calibri" pitchFamily="34" charset="0"/>
                <a:ea typeface="Calibri" pitchFamily="34" charset="-122"/>
                <a:cs typeface="Calibri" pitchFamily="34" charset="-120"/>
              </a:rPr>
              <a:t>企業担当者向け　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457200"/>
            <a:ext cx="6428232" cy="237744"/>
          </a:xfrm>
          <a:prstGeom prst="rect">
            <a:avLst/>
          </a:prstGeom>
          <a:noFill/>
          <a:ln/>
        </p:spPr>
        <p:txBody>
          <a:bodyPr wrap="square" lIns="0" tIns="0" rIns="0" bIns="0" rtlCol="0" anchor="ctr"/>
          <a:lstStyle/>
          <a:p>
            <a:pPr indent="0" marL="0">
              <a:buNone/>
            </a:pPr>
            <a:r>
              <a:rPr lang="en-US" sz="1000" b="1" dirty="0">
                <a:solidFill>
                  <a:srgbClr val="1C7293"/>
                </a:solidFill>
                <a:latin typeface="Calibri" pitchFamily="34" charset="0"/>
                <a:ea typeface="Calibri" pitchFamily="34" charset="-122"/>
                <a:cs typeface="Calibri" pitchFamily="34" charset="-120"/>
              </a:rPr>
              <a:t>企業担当者マニュアル</a:t>
            </a:r>
            <a:endParaRPr lang="en-US" sz="1000" dirty="0"/>
          </a:p>
        </p:txBody>
      </p:sp>
      <p:sp>
        <p:nvSpPr>
          <p:cNvPr id="3" name="Text 1"/>
          <p:cNvSpPr txBox="1"/>
          <p:nvPr/>
        </p:nvSpPr>
        <p:spPr>
          <a:xfrm>
            <a:off x="566928" y="713232"/>
            <a:ext cx="6428232" cy="640080"/>
          </a:xfrm>
          <a:prstGeom prst="rect">
            <a:avLst/>
          </a:prstGeom>
          <a:noFill/>
          <a:ln/>
        </p:spPr>
        <p:txBody>
          <a:bodyPr wrap="square" lIns="0" tIns="0" rIns="0" bIns="0" rtlCol="0" anchor="t"/>
          <a:lstStyle/>
          <a:p>
            <a:pPr indent="0" marL="0">
              <a:buNone/>
            </a:pPr>
            <a:r>
              <a:rPr lang="en-US" sz="2200" b="1" dirty="0">
                <a:solidFill>
                  <a:srgbClr val="222222"/>
                </a:solidFill>
                <a:latin typeface="Calibri" pitchFamily="34" charset="0"/>
                <a:ea typeface="Calibri" pitchFamily="34" charset="-122"/>
                <a:cs typeface="Calibri" pitchFamily="34" charset="-120"/>
              </a:rPr>
              <a:t>アンケートの設問を作る</a:t>
            </a:r>
            <a:endParaRPr lang="en-US" sz="2200" dirty="0"/>
          </a:p>
        </p:txBody>
      </p:sp>
      <p:sp>
        <p:nvSpPr>
          <p:cNvPr id="4" name="Text 2"/>
          <p:cNvSpPr txBox="1"/>
          <p:nvPr/>
        </p:nvSpPr>
        <p:spPr>
          <a:xfrm>
            <a:off x="566928" y="1481328"/>
            <a:ext cx="6428232" cy="257429"/>
          </a:xfrm>
          <a:prstGeom prst="rect">
            <a:avLst/>
          </a:prstGeom>
          <a:noFill/>
          <a:ln/>
        </p:spPr>
        <p:txBody>
          <a:bodyPr wrap="square" lIns="0" tIns="0" rIns="0" bIns="0" rtlCol="0" anchor="t"/>
          <a:lstStyle/>
          <a:p>
            <a:pPr indent="0" marL="0">
              <a:lnSpc>
                <a:spcPct val="125000"/>
              </a:lnSpc>
              <a:buNone/>
            </a:pPr>
            <a:r>
              <a:rPr lang="en-US" sz="1100" dirty="0">
                <a:solidFill>
                  <a:srgbClr val="222222"/>
                </a:solidFill>
                <a:latin typeface="Calibri" pitchFamily="34" charset="0"/>
                <a:ea typeface="Calibri" pitchFamily="34" charset="-122"/>
                <a:cs typeface="Calibri" pitchFamily="34" charset="-120"/>
              </a:rPr>
              <a:t>ダッシュボードの</a:t>
            </a:r>
            <a:pPr indent="0" marL="0">
              <a:lnSpc>
                <a:spcPct val="125000"/>
              </a:lnSpc>
              <a:buNone/>
            </a:pPr>
            <a:r>
              <a:rPr lang="en-US" sz="1100" b="1" dirty="0">
                <a:solidFill>
                  <a:srgbClr val="222222"/>
                </a:solidFill>
                <a:latin typeface="Calibri" pitchFamily="34" charset="0"/>
                <a:ea typeface="Calibri" pitchFamily="34" charset="-122"/>
                <a:cs typeface="Calibri" pitchFamily="34" charset="-120"/>
              </a:rPr>
              <a:t>「アンケートを編集」</a:t>
            </a:r>
            <a:pPr indent="0" marL="0">
              <a:lnSpc>
                <a:spcPct val="125000"/>
              </a:lnSpc>
              <a:buNone/>
            </a:pPr>
            <a:r>
              <a:rPr lang="en-US" sz="1100" dirty="0">
                <a:solidFill>
                  <a:srgbClr val="222222"/>
                </a:solidFill>
                <a:latin typeface="Calibri" pitchFamily="34" charset="0"/>
                <a:ea typeface="Calibri" pitchFamily="34" charset="-122"/>
                <a:cs typeface="Calibri" pitchFamily="34" charset="-120"/>
              </a:rPr>
              <a:t>から作成します。</a:t>
            </a:r>
            <a:endParaRPr lang="en-US" sz="1100" dirty="0"/>
          </a:p>
        </p:txBody>
      </p:sp>
      <p:sp>
        <p:nvSpPr>
          <p:cNvPr id="5" name="Shape 3"/>
          <p:cNvSpPr/>
          <p:nvPr/>
        </p:nvSpPr>
        <p:spPr>
          <a:xfrm>
            <a:off x="566928" y="1793621"/>
            <a:ext cx="274320" cy="274320"/>
          </a:xfrm>
          <a:prstGeom prst="ellipse">
            <a:avLst/>
          </a:prstGeom>
          <a:solidFill>
            <a:srgbClr val="1C7293"/>
          </a:solidFill>
          <a:ln/>
        </p:spPr>
      </p:sp>
      <p:sp>
        <p:nvSpPr>
          <p:cNvPr id="6" name="Text 4"/>
          <p:cNvSpPr txBox="1"/>
          <p:nvPr/>
        </p:nvSpPr>
        <p:spPr>
          <a:xfrm>
            <a:off x="566928" y="1793621"/>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7" name="Text 5"/>
          <p:cNvSpPr txBox="1"/>
          <p:nvPr/>
        </p:nvSpPr>
        <p:spPr>
          <a:xfrm>
            <a:off x="969264" y="1775333"/>
            <a:ext cx="6025896" cy="365760"/>
          </a:xfrm>
          <a:prstGeom prst="rect">
            <a:avLst/>
          </a:prstGeom>
          <a:noFill/>
          <a:ln/>
        </p:spPr>
        <p:txBody>
          <a:bodyPr wrap="square" lIns="0" tIns="0" rIns="0" bIns="0" rtlCol="0" anchor="t"/>
          <a:lstStyle/>
          <a:p>
            <a:pPr indent="0" marL="0">
              <a:lnSpc>
                <a:spcPct val="125000"/>
              </a:lnSpc>
              <a:buNone/>
            </a:pPr>
            <a:r>
              <a:rPr lang="en-US" sz="1150" b="1" dirty="0">
                <a:solidFill>
                  <a:srgbClr val="222222"/>
                </a:solidFill>
                <a:latin typeface="Calibri" pitchFamily="34" charset="0"/>
                <a:ea typeface="Calibri" pitchFamily="34" charset="-122"/>
                <a:cs typeface="Calibri" pitchFamily="34" charset="-120"/>
              </a:rPr>
              <a:t>タイトル</a:t>
            </a:r>
            <a:pPr indent="0" marL="0">
              <a:lnSpc>
                <a:spcPct val="125000"/>
              </a:lnSpc>
              <a:buNone/>
            </a:pPr>
            <a:r>
              <a:rPr lang="en-US" sz="1150" dirty="0">
                <a:solidFill>
                  <a:srgbClr val="222222"/>
                </a:solidFill>
                <a:latin typeface="Calibri" pitchFamily="34" charset="0"/>
                <a:ea typeface="Calibri" pitchFamily="34" charset="-122"/>
                <a:cs typeface="Calibri" pitchFamily="34" charset="-120"/>
              </a:rPr>
              <a:t>を入力する（例：〇〇株式会社 アンケート）</a:t>
            </a:r>
            <a:endParaRPr lang="en-US" sz="1150" dirty="0"/>
          </a:p>
        </p:txBody>
      </p:sp>
      <p:sp>
        <p:nvSpPr>
          <p:cNvPr id="8" name="Shape 6"/>
          <p:cNvSpPr/>
          <p:nvPr/>
        </p:nvSpPr>
        <p:spPr>
          <a:xfrm>
            <a:off x="566928" y="2250821"/>
            <a:ext cx="274320" cy="274320"/>
          </a:xfrm>
          <a:prstGeom prst="ellipse">
            <a:avLst/>
          </a:prstGeom>
          <a:solidFill>
            <a:srgbClr val="1C7293"/>
          </a:solidFill>
          <a:ln/>
        </p:spPr>
      </p:sp>
      <p:sp>
        <p:nvSpPr>
          <p:cNvPr id="9" name="Text 7"/>
          <p:cNvSpPr txBox="1"/>
          <p:nvPr/>
        </p:nvSpPr>
        <p:spPr>
          <a:xfrm>
            <a:off x="566928" y="2250821"/>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0" name="Text 8"/>
          <p:cNvSpPr txBox="1"/>
          <p:nvPr/>
        </p:nvSpPr>
        <p:spPr>
          <a:xfrm>
            <a:off x="969264" y="2232533"/>
            <a:ext cx="6025896" cy="365760"/>
          </a:xfrm>
          <a:prstGeom prst="rect">
            <a:avLst/>
          </a:prstGeom>
          <a:noFill/>
          <a:ln/>
        </p:spPr>
        <p:txBody>
          <a:bodyPr wrap="square" lIns="0" tIns="0" rIns="0" bIns="0" rtlCol="0" anchor="t"/>
          <a:lstStyle/>
          <a:p>
            <a:pPr indent="0" marL="0">
              <a:lnSpc>
                <a:spcPct val="125000"/>
              </a:lnSpc>
              <a:buNone/>
            </a:pPr>
            <a:r>
              <a:rPr lang="en-US" sz="1150" dirty="0">
                <a:solidFill>
                  <a:srgbClr val="222222"/>
                </a:solidFill>
                <a:latin typeface="Calibri" pitchFamily="34" charset="0"/>
                <a:ea typeface="Calibri" pitchFamily="34" charset="-122"/>
                <a:cs typeface="Calibri" pitchFamily="34" charset="-120"/>
              </a:rPr>
              <a:t>必要なら</a:t>
            </a:r>
            <a:pPr indent="0" marL="0">
              <a:lnSpc>
                <a:spcPct val="125000"/>
              </a:lnSpc>
              <a:buNone/>
            </a:pPr>
            <a:r>
              <a:rPr lang="en-US" sz="1150" b="1" dirty="0">
                <a:solidFill>
                  <a:srgbClr val="222222"/>
                </a:solidFill>
                <a:latin typeface="Calibri" pitchFamily="34" charset="0"/>
                <a:ea typeface="Calibri" pitchFamily="34" charset="-122"/>
                <a:cs typeface="Calibri" pitchFamily="34" charset="-120"/>
              </a:rPr>
              <a:t>説明文</a:t>
            </a:r>
            <a:pPr indent="0" marL="0">
              <a:lnSpc>
                <a:spcPct val="125000"/>
              </a:lnSpc>
              <a:buNone/>
            </a:pPr>
            <a:r>
              <a:rPr lang="en-US" sz="1150" dirty="0">
                <a:solidFill>
                  <a:srgbClr val="222222"/>
                </a:solidFill>
                <a:latin typeface="Calibri" pitchFamily="34" charset="0"/>
                <a:ea typeface="Calibri" pitchFamily="34" charset="-122"/>
                <a:cs typeface="Calibri" pitchFamily="34" charset="-120"/>
              </a:rPr>
              <a:t>を入れる（回答画面の最初に出ます）</a:t>
            </a:r>
            <a:endParaRPr lang="en-US" sz="1150" dirty="0"/>
          </a:p>
        </p:txBody>
      </p:sp>
      <p:sp>
        <p:nvSpPr>
          <p:cNvPr id="11" name="Shape 9"/>
          <p:cNvSpPr/>
          <p:nvPr/>
        </p:nvSpPr>
        <p:spPr>
          <a:xfrm>
            <a:off x="566928" y="2708021"/>
            <a:ext cx="274320" cy="274320"/>
          </a:xfrm>
          <a:prstGeom prst="ellipse">
            <a:avLst/>
          </a:prstGeom>
          <a:solidFill>
            <a:srgbClr val="1C7293"/>
          </a:solidFill>
          <a:ln/>
        </p:spPr>
      </p:sp>
      <p:sp>
        <p:nvSpPr>
          <p:cNvPr id="12" name="Text 10"/>
          <p:cNvSpPr txBox="1"/>
          <p:nvPr/>
        </p:nvSpPr>
        <p:spPr>
          <a:xfrm>
            <a:off x="566928" y="2708021"/>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3" name="Text 11"/>
          <p:cNvSpPr txBox="1"/>
          <p:nvPr/>
        </p:nvSpPr>
        <p:spPr>
          <a:xfrm>
            <a:off x="969264" y="2689733"/>
            <a:ext cx="6025896" cy="365760"/>
          </a:xfrm>
          <a:prstGeom prst="rect">
            <a:avLst/>
          </a:prstGeom>
          <a:noFill/>
          <a:ln/>
        </p:spPr>
        <p:txBody>
          <a:bodyPr wrap="square" lIns="0" tIns="0" rIns="0" bIns="0" rtlCol="0" anchor="t"/>
          <a:lstStyle/>
          <a:p>
            <a:pPr indent="0" marL="0">
              <a:lnSpc>
                <a:spcPct val="125000"/>
              </a:lnSpc>
              <a:buNone/>
            </a:pPr>
            <a:r>
              <a:rPr lang="en-US" sz="1150" b="1" dirty="0">
                <a:solidFill>
                  <a:srgbClr val="222222"/>
                </a:solidFill>
                <a:latin typeface="Calibri" pitchFamily="34" charset="0"/>
                <a:ea typeface="Calibri" pitchFamily="34" charset="-122"/>
                <a:cs typeface="Calibri" pitchFamily="34" charset="-120"/>
              </a:rPr>
              <a:t>設問文</a:t>
            </a:r>
            <a:pPr indent="0" marL="0">
              <a:lnSpc>
                <a:spcPct val="125000"/>
              </a:lnSpc>
              <a:buNone/>
            </a:pPr>
            <a:r>
              <a:rPr lang="en-US" sz="1150" dirty="0">
                <a:solidFill>
                  <a:srgbClr val="222222"/>
                </a:solidFill>
                <a:latin typeface="Calibri" pitchFamily="34" charset="0"/>
                <a:ea typeface="Calibri" pitchFamily="34" charset="-122"/>
                <a:cs typeface="Calibri" pitchFamily="34" charset="-120"/>
              </a:rPr>
              <a:t>を入力し、</a:t>
            </a:r>
            <a:pPr indent="0" marL="0">
              <a:lnSpc>
                <a:spcPct val="125000"/>
              </a:lnSpc>
              <a:buNone/>
            </a:pPr>
            <a:r>
              <a:rPr lang="en-US" sz="1150" b="1" dirty="0">
                <a:solidFill>
                  <a:srgbClr val="222222"/>
                </a:solidFill>
                <a:latin typeface="Calibri" pitchFamily="34" charset="0"/>
                <a:ea typeface="Calibri" pitchFamily="34" charset="-122"/>
                <a:cs typeface="Calibri" pitchFamily="34" charset="-120"/>
              </a:rPr>
              <a:t>種類</a:t>
            </a:r>
            <a:pPr indent="0" marL="0">
              <a:lnSpc>
                <a:spcPct val="125000"/>
              </a:lnSpc>
              <a:buNone/>
            </a:pPr>
            <a:r>
              <a:rPr lang="en-US" sz="1150" dirty="0">
                <a:solidFill>
                  <a:srgbClr val="222222"/>
                </a:solidFill>
                <a:latin typeface="Calibri" pitchFamily="34" charset="0"/>
                <a:ea typeface="Calibri" pitchFamily="34" charset="-122"/>
                <a:cs typeface="Calibri" pitchFamily="34" charset="-120"/>
              </a:rPr>
              <a:t>を選ぶ</a:t>
            </a:r>
            <a:endParaRPr lang="en-US" sz="1150" dirty="0"/>
          </a:p>
        </p:txBody>
      </p:sp>
      <p:sp>
        <p:nvSpPr>
          <p:cNvPr id="14" name="Shape 12"/>
          <p:cNvSpPr/>
          <p:nvPr/>
        </p:nvSpPr>
        <p:spPr>
          <a:xfrm>
            <a:off x="566928" y="3165221"/>
            <a:ext cx="274320" cy="274320"/>
          </a:xfrm>
          <a:prstGeom prst="ellipse">
            <a:avLst/>
          </a:prstGeom>
          <a:solidFill>
            <a:srgbClr val="1C7293"/>
          </a:solidFill>
          <a:ln/>
        </p:spPr>
      </p:sp>
      <p:sp>
        <p:nvSpPr>
          <p:cNvPr id="15" name="Text 13"/>
          <p:cNvSpPr txBox="1"/>
          <p:nvPr/>
        </p:nvSpPr>
        <p:spPr>
          <a:xfrm>
            <a:off x="566928" y="3165221"/>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16" name="Text 14"/>
          <p:cNvSpPr txBox="1"/>
          <p:nvPr/>
        </p:nvSpPr>
        <p:spPr>
          <a:xfrm>
            <a:off x="969264" y="3146933"/>
            <a:ext cx="6025896" cy="365760"/>
          </a:xfrm>
          <a:prstGeom prst="rect">
            <a:avLst/>
          </a:prstGeom>
          <a:noFill/>
          <a:ln/>
        </p:spPr>
        <p:txBody>
          <a:bodyPr wrap="square" lIns="0" tIns="0" rIns="0" bIns="0" rtlCol="0" anchor="t"/>
          <a:lstStyle/>
          <a:p>
            <a:pPr indent="0" marL="0">
              <a:lnSpc>
                <a:spcPct val="125000"/>
              </a:lnSpc>
              <a:buNone/>
            </a:pPr>
            <a:r>
              <a:rPr lang="en-US" sz="1150" dirty="0">
                <a:solidFill>
                  <a:srgbClr val="222222"/>
                </a:solidFill>
                <a:latin typeface="Calibri" pitchFamily="34" charset="0"/>
                <a:ea typeface="Calibri" pitchFamily="34" charset="-122"/>
                <a:cs typeface="Calibri" pitchFamily="34" charset="-120"/>
              </a:rPr>
              <a:t>選択式の場合は、</a:t>
            </a:r>
            <a:pPr indent="0" marL="0">
              <a:lnSpc>
                <a:spcPct val="125000"/>
              </a:lnSpc>
              <a:buNone/>
            </a:pPr>
            <a:r>
              <a:rPr lang="en-US" sz="1150" b="1" dirty="0">
                <a:solidFill>
                  <a:srgbClr val="222222"/>
                </a:solidFill>
                <a:latin typeface="Calibri" pitchFamily="34" charset="0"/>
                <a:ea typeface="Calibri" pitchFamily="34" charset="-122"/>
                <a:cs typeface="Calibri" pitchFamily="34" charset="-120"/>
              </a:rPr>
              <a:t>選択肢を1行に1つ</a:t>
            </a:r>
            <a:pPr indent="0" marL="0">
              <a:lnSpc>
                <a:spcPct val="125000"/>
              </a:lnSpc>
              <a:buNone/>
            </a:pPr>
            <a:r>
              <a:rPr lang="en-US" sz="1150" dirty="0">
                <a:solidFill>
                  <a:srgbClr val="222222"/>
                </a:solidFill>
                <a:latin typeface="Calibri" pitchFamily="34" charset="0"/>
                <a:ea typeface="Calibri" pitchFamily="34" charset="-122"/>
                <a:cs typeface="Calibri" pitchFamily="34" charset="-120"/>
              </a:rPr>
              <a:t>入力する</a:t>
            </a:r>
            <a:endParaRPr lang="en-US" sz="1150" dirty="0"/>
          </a:p>
        </p:txBody>
      </p:sp>
      <p:sp>
        <p:nvSpPr>
          <p:cNvPr id="17" name="Shape 15"/>
          <p:cNvSpPr/>
          <p:nvPr/>
        </p:nvSpPr>
        <p:spPr>
          <a:xfrm>
            <a:off x="566928" y="3622421"/>
            <a:ext cx="274320" cy="274320"/>
          </a:xfrm>
          <a:prstGeom prst="ellipse">
            <a:avLst/>
          </a:prstGeom>
          <a:solidFill>
            <a:srgbClr val="1C7293"/>
          </a:solidFill>
          <a:ln/>
        </p:spPr>
      </p:sp>
      <p:sp>
        <p:nvSpPr>
          <p:cNvPr id="18" name="Text 16"/>
          <p:cNvSpPr txBox="1"/>
          <p:nvPr/>
        </p:nvSpPr>
        <p:spPr>
          <a:xfrm>
            <a:off x="566928" y="3622421"/>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19" name="Text 17"/>
          <p:cNvSpPr txBox="1"/>
          <p:nvPr/>
        </p:nvSpPr>
        <p:spPr>
          <a:xfrm>
            <a:off x="969264" y="3604133"/>
            <a:ext cx="6025896" cy="365760"/>
          </a:xfrm>
          <a:prstGeom prst="rect">
            <a:avLst/>
          </a:prstGeom>
          <a:noFill/>
          <a:ln/>
        </p:spPr>
        <p:txBody>
          <a:bodyPr wrap="square" lIns="0" tIns="0" rIns="0" bIns="0" rtlCol="0" anchor="t"/>
          <a:lstStyle/>
          <a:p>
            <a:pPr indent="0" marL="0">
              <a:lnSpc>
                <a:spcPct val="125000"/>
              </a:lnSpc>
              <a:buNone/>
            </a:pPr>
            <a:r>
              <a:rPr lang="en-US" sz="1150" dirty="0">
                <a:solidFill>
                  <a:srgbClr val="222222"/>
                </a:solidFill>
                <a:latin typeface="Calibri" pitchFamily="34" charset="0"/>
                <a:ea typeface="Calibri" pitchFamily="34" charset="-122"/>
                <a:cs typeface="Calibri" pitchFamily="34" charset="-120"/>
              </a:rPr>
              <a:t>答えを必ずもらいたい設問は</a:t>
            </a:r>
            <a:pPr indent="0" marL="0">
              <a:lnSpc>
                <a:spcPct val="125000"/>
              </a:lnSpc>
              <a:buNone/>
            </a:pPr>
            <a:r>
              <a:rPr lang="en-US" sz="1150" b="1" dirty="0">
                <a:solidFill>
                  <a:srgbClr val="222222"/>
                </a:solidFill>
                <a:latin typeface="Calibri" pitchFamily="34" charset="0"/>
                <a:ea typeface="Calibri" pitchFamily="34" charset="-122"/>
                <a:cs typeface="Calibri" pitchFamily="34" charset="-120"/>
              </a:rPr>
              <a:t>「必須にする」</a:t>
            </a:r>
            <a:pPr indent="0" marL="0">
              <a:lnSpc>
                <a:spcPct val="125000"/>
              </a:lnSpc>
              <a:buNone/>
            </a:pPr>
            <a:r>
              <a:rPr lang="en-US" sz="1150" dirty="0">
                <a:solidFill>
                  <a:srgbClr val="222222"/>
                </a:solidFill>
                <a:latin typeface="Calibri" pitchFamily="34" charset="0"/>
                <a:ea typeface="Calibri" pitchFamily="34" charset="-122"/>
                <a:cs typeface="Calibri" pitchFamily="34" charset="-120"/>
              </a:rPr>
              <a:t>にチェックを入れる</a:t>
            </a:r>
            <a:endParaRPr lang="en-US" sz="1150" dirty="0"/>
          </a:p>
        </p:txBody>
      </p:sp>
      <p:sp>
        <p:nvSpPr>
          <p:cNvPr id="20" name="Shape 18"/>
          <p:cNvSpPr/>
          <p:nvPr/>
        </p:nvSpPr>
        <p:spPr>
          <a:xfrm>
            <a:off x="566928" y="4079621"/>
            <a:ext cx="274320" cy="274320"/>
          </a:xfrm>
          <a:prstGeom prst="ellipse">
            <a:avLst/>
          </a:prstGeom>
          <a:solidFill>
            <a:srgbClr val="1C7293"/>
          </a:solidFill>
          <a:ln/>
        </p:spPr>
      </p:sp>
      <p:sp>
        <p:nvSpPr>
          <p:cNvPr id="21" name="Text 19"/>
          <p:cNvSpPr txBox="1"/>
          <p:nvPr/>
        </p:nvSpPr>
        <p:spPr>
          <a:xfrm>
            <a:off x="566928" y="4079621"/>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22" name="Text 20"/>
          <p:cNvSpPr txBox="1"/>
          <p:nvPr/>
        </p:nvSpPr>
        <p:spPr>
          <a:xfrm>
            <a:off x="969264" y="4061333"/>
            <a:ext cx="6025896" cy="365760"/>
          </a:xfrm>
          <a:prstGeom prst="rect">
            <a:avLst/>
          </a:prstGeom>
          <a:noFill/>
          <a:ln/>
        </p:spPr>
        <p:txBody>
          <a:bodyPr wrap="square" lIns="0" tIns="0" rIns="0" bIns="0" rtlCol="0" anchor="t"/>
          <a:lstStyle/>
          <a:p>
            <a:pPr indent="0" marL="0">
              <a:lnSpc>
                <a:spcPct val="125000"/>
              </a:lnSpc>
              <a:buNone/>
            </a:pPr>
            <a:r>
              <a:rPr lang="en-US" sz="1150" b="1" dirty="0">
                <a:solidFill>
                  <a:srgbClr val="222222"/>
                </a:solidFill>
                <a:latin typeface="Calibri" pitchFamily="34" charset="0"/>
                <a:ea typeface="Calibri" pitchFamily="34" charset="-122"/>
                <a:cs typeface="Calibri" pitchFamily="34" charset="-120"/>
              </a:rPr>
              <a:t>「保存して設問を追加」</a:t>
            </a:r>
            <a:pPr indent="0" marL="0">
              <a:lnSpc>
                <a:spcPct val="125000"/>
              </a:lnSpc>
              <a:buNone/>
            </a:pPr>
            <a:r>
              <a:rPr lang="en-US" sz="1150" dirty="0">
                <a:solidFill>
                  <a:srgbClr val="222222"/>
                </a:solidFill>
                <a:latin typeface="Calibri" pitchFamily="34" charset="0"/>
                <a:ea typeface="Calibri" pitchFamily="34" charset="-122"/>
                <a:cs typeface="Calibri" pitchFamily="34" charset="-120"/>
              </a:rPr>
              <a:t>を押すと、続けて次の設問を入力できます</a:t>
            </a:r>
            <a:endParaRPr lang="en-US" sz="1150" dirty="0"/>
          </a:p>
        </p:txBody>
      </p:sp>
      <p:sp>
        <p:nvSpPr>
          <p:cNvPr id="23" name="Shape 21"/>
          <p:cNvSpPr/>
          <p:nvPr/>
        </p:nvSpPr>
        <p:spPr>
          <a:xfrm>
            <a:off x="566928" y="4536821"/>
            <a:ext cx="274320" cy="274320"/>
          </a:xfrm>
          <a:prstGeom prst="ellipse">
            <a:avLst/>
          </a:prstGeom>
          <a:solidFill>
            <a:srgbClr val="1C7293"/>
          </a:solidFill>
          <a:ln/>
        </p:spPr>
      </p:sp>
      <p:sp>
        <p:nvSpPr>
          <p:cNvPr id="24" name="Text 22"/>
          <p:cNvSpPr txBox="1"/>
          <p:nvPr/>
        </p:nvSpPr>
        <p:spPr>
          <a:xfrm>
            <a:off x="566928" y="4536821"/>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7</a:t>
            </a:r>
            <a:endParaRPr lang="en-US" sz="1100" dirty="0"/>
          </a:p>
        </p:txBody>
      </p:sp>
      <p:sp>
        <p:nvSpPr>
          <p:cNvPr id="25" name="Text 23"/>
          <p:cNvSpPr txBox="1"/>
          <p:nvPr/>
        </p:nvSpPr>
        <p:spPr>
          <a:xfrm>
            <a:off x="969264" y="4518533"/>
            <a:ext cx="6025896" cy="365760"/>
          </a:xfrm>
          <a:prstGeom prst="rect">
            <a:avLst/>
          </a:prstGeom>
          <a:noFill/>
          <a:ln/>
        </p:spPr>
        <p:txBody>
          <a:bodyPr wrap="square" lIns="0" tIns="0" rIns="0" bIns="0" rtlCol="0" anchor="t"/>
          <a:lstStyle/>
          <a:p>
            <a:pPr indent="0" marL="0">
              <a:lnSpc>
                <a:spcPct val="125000"/>
              </a:lnSpc>
              <a:buNone/>
            </a:pPr>
            <a:r>
              <a:rPr lang="en-US" sz="1150" dirty="0">
                <a:solidFill>
                  <a:srgbClr val="222222"/>
                </a:solidFill>
                <a:latin typeface="Calibri" pitchFamily="34" charset="0"/>
                <a:ea typeface="Calibri" pitchFamily="34" charset="-122"/>
                <a:cs typeface="Calibri" pitchFamily="34" charset="-120"/>
              </a:rPr>
              <a:t>最後に</a:t>
            </a:r>
            <a:pPr indent="0" marL="0">
              <a:lnSpc>
                <a:spcPct val="125000"/>
              </a:lnSpc>
              <a:buNone/>
            </a:pPr>
            <a:r>
              <a:rPr lang="en-US" sz="1150" b="1" dirty="0">
                <a:solidFill>
                  <a:srgbClr val="222222"/>
                </a:solidFill>
                <a:latin typeface="Calibri" pitchFamily="34" charset="0"/>
                <a:ea typeface="Calibri" pitchFamily="34" charset="-122"/>
                <a:cs typeface="Calibri" pitchFamily="34" charset="-120"/>
              </a:rPr>
              <a:t>「公開する」にチェックを入れて「保存する」</a:t>
            </a:r>
            <a:endParaRPr lang="en-US" sz="1150" dirty="0"/>
          </a:p>
        </p:txBody>
      </p:sp>
      <p:sp>
        <p:nvSpPr>
          <p:cNvPr id="26" name="Text 24"/>
          <p:cNvSpPr txBox="1"/>
          <p:nvPr/>
        </p:nvSpPr>
        <p:spPr>
          <a:xfrm>
            <a:off x="566928" y="5085461"/>
            <a:ext cx="6428232" cy="257810"/>
          </a:xfrm>
          <a:prstGeom prst="rect">
            <a:avLst/>
          </a:prstGeom>
          <a:noFill/>
          <a:ln/>
        </p:spPr>
        <p:txBody>
          <a:bodyPr wrap="square" lIns="0" tIns="0" rIns="0" bIns="0" rtlCol="0" anchor="t"/>
          <a:lstStyle/>
          <a:p>
            <a:pPr indent="0" marL="0">
              <a:buNone/>
            </a:pPr>
            <a:r>
              <a:rPr lang="en-US" sz="1400" b="1" dirty="0">
                <a:solidFill>
                  <a:srgbClr val="1C7293"/>
                </a:solidFill>
                <a:latin typeface="Calibri" pitchFamily="34" charset="0"/>
                <a:ea typeface="Calibri" pitchFamily="34" charset="-122"/>
                <a:cs typeface="Calibri" pitchFamily="34" charset="-120"/>
              </a:rPr>
              <a:t>設問の種類</a:t>
            </a:r>
            <a:endParaRPr lang="en-US" sz="1400" dirty="0"/>
          </a:p>
        </p:txBody>
      </p:sp>
      <p:sp>
        <p:nvSpPr>
          <p:cNvPr id="27" name="Text 25"/>
          <p:cNvSpPr txBox="1"/>
          <p:nvPr/>
        </p:nvSpPr>
        <p:spPr>
          <a:xfrm>
            <a:off x="713232" y="5416423"/>
            <a:ext cx="6281928" cy="257429"/>
          </a:xfrm>
          <a:prstGeom prst="rect">
            <a:avLst/>
          </a:prstGeom>
          <a:noFill/>
          <a:ln/>
        </p:spPr>
        <p:txBody>
          <a:bodyPr wrap="square" lIns="0" tIns="0" rIns="0" bIns="0" rtlCol="0" anchor="t"/>
          <a:lstStyle/>
          <a:p>
            <a:pPr marL="342900" indent="-342900">
              <a:lnSpc>
                <a:spcPct val="125000"/>
              </a:lnSpc>
              <a:buSzPct val="100000"/>
              <a:buChar char="●"/>
            </a:pPr>
            <a:r>
              <a:rPr lang="en-US" sz="1100" b="1" dirty="0">
                <a:solidFill>
                  <a:srgbClr val="222222"/>
                </a:solidFill>
                <a:latin typeface="Calibri" pitchFamily="34" charset="0"/>
                <a:ea typeface="Calibri" pitchFamily="34" charset="-122"/>
                <a:cs typeface="Calibri" pitchFamily="34" charset="-120"/>
              </a:rPr>
              <a:t>単一選択</a:t>
            </a:r>
            <a:pPr indent="0" marL="0">
              <a:lnSpc>
                <a:spcPct val="125000"/>
              </a:lnSpc>
              <a:buNone/>
            </a:pPr>
            <a:r>
              <a:rPr lang="en-US" sz="1100" dirty="0">
                <a:solidFill>
                  <a:srgbClr val="222222"/>
                </a:solidFill>
                <a:latin typeface="Calibri" pitchFamily="34" charset="0"/>
                <a:ea typeface="Calibri" pitchFamily="34" charset="-122"/>
                <a:cs typeface="Calibri" pitchFamily="34" charset="-120"/>
              </a:rPr>
              <a:t>：選択肢から1つ選ぶ</a:t>
            </a:r>
            <a:endParaRPr lang="en-US" sz="1100" dirty="0"/>
          </a:p>
        </p:txBody>
      </p:sp>
      <p:sp>
        <p:nvSpPr>
          <p:cNvPr id="28" name="Text 26"/>
          <p:cNvSpPr txBox="1"/>
          <p:nvPr/>
        </p:nvSpPr>
        <p:spPr>
          <a:xfrm>
            <a:off x="713232" y="5692140"/>
            <a:ext cx="6281928" cy="257429"/>
          </a:xfrm>
          <a:prstGeom prst="rect">
            <a:avLst/>
          </a:prstGeom>
          <a:noFill/>
          <a:ln/>
        </p:spPr>
        <p:txBody>
          <a:bodyPr wrap="square" lIns="0" tIns="0" rIns="0" bIns="0" rtlCol="0" anchor="t"/>
          <a:lstStyle/>
          <a:p>
            <a:pPr marL="342900" indent="-342900">
              <a:lnSpc>
                <a:spcPct val="125000"/>
              </a:lnSpc>
              <a:buSzPct val="100000"/>
              <a:buChar char="●"/>
            </a:pPr>
            <a:r>
              <a:rPr lang="en-US" sz="1100" b="1" dirty="0">
                <a:solidFill>
                  <a:srgbClr val="222222"/>
                </a:solidFill>
                <a:latin typeface="Calibri" pitchFamily="34" charset="0"/>
                <a:ea typeface="Calibri" pitchFamily="34" charset="-122"/>
                <a:cs typeface="Calibri" pitchFamily="34" charset="-120"/>
              </a:rPr>
              <a:t>複数選択</a:t>
            </a:r>
            <a:pPr indent="0" marL="0">
              <a:lnSpc>
                <a:spcPct val="125000"/>
              </a:lnSpc>
              <a:buNone/>
            </a:pPr>
            <a:r>
              <a:rPr lang="en-US" sz="1100" dirty="0">
                <a:solidFill>
                  <a:srgbClr val="222222"/>
                </a:solidFill>
                <a:latin typeface="Calibri" pitchFamily="34" charset="0"/>
                <a:ea typeface="Calibri" pitchFamily="34" charset="-122"/>
                <a:cs typeface="Calibri" pitchFamily="34" charset="-120"/>
              </a:rPr>
              <a:t>：選択肢からいくつでも選べる</a:t>
            </a:r>
            <a:endParaRPr lang="en-US" sz="1100" dirty="0"/>
          </a:p>
        </p:txBody>
      </p:sp>
      <p:sp>
        <p:nvSpPr>
          <p:cNvPr id="29" name="Text 27"/>
          <p:cNvSpPr txBox="1"/>
          <p:nvPr/>
        </p:nvSpPr>
        <p:spPr>
          <a:xfrm>
            <a:off x="713232" y="5967857"/>
            <a:ext cx="6281928" cy="257429"/>
          </a:xfrm>
          <a:prstGeom prst="rect">
            <a:avLst/>
          </a:prstGeom>
          <a:noFill/>
          <a:ln/>
        </p:spPr>
        <p:txBody>
          <a:bodyPr wrap="square" lIns="0" tIns="0" rIns="0" bIns="0" rtlCol="0" anchor="t"/>
          <a:lstStyle/>
          <a:p>
            <a:pPr marL="342900" indent="-342900">
              <a:lnSpc>
                <a:spcPct val="125000"/>
              </a:lnSpc>
              <a:buSzPct val="100000"/>
              <a:buChar char="●"/>
            </a:pPr>
            <a:r>
              <a:rPr lang="en-US" sz="1100" b="1" dirty="0">
                <a:solidFill>
                  <a:srgbClr val="222222"/>
                </a:solidFill>
                <a:latin typeface="Calibri" pitchFamily="34" charset="0"/>
                <a:ea typeface="Calibri" pitchFamily="34" charset="-122"/>
                <a:cs typeface="Calibri" pitchFamily="34" charset="-120"/>
              </a:rPr>
              <a:t>自由記述</a:t>
            </a:r>
            <a:pPr indent="0" marL="0">
              <a:lnSpc>
                <a:spcPct val="125000"/>
              </a:lnSpc>
              <a:buNone/>
            </a:pPr>
            <a:r>
              <a:rPr lang="en-US" sz="1100" dirty="0">
                <a:solidFill>
                  <a:srgbClr val="222222"/>
                </a:solidFill>
                <a:latin typeface="Calibri" pitchFamily="34" charset="0"/>
                <a:ea typeface="Calibri" pitchFamily="34" charset="-122"/>
                <a:cs typeface="Calibri" pitchFamily="34" charset="-120"/>
              </a:rPr>
              <a:t>：文章で書いてもらう</a:t>
            </a:r>
            <a:endParaRPr lang="en-US" sz="1100" dirty="0"/>
          </a:p>
        </p:txBody>
      </p:sp>
      <p:sp>
        <p:nvSpPr>
          <p:cNvPr id="30" name="Text 28"/>
          <p:cNvSpPr txBox="1"/>
          <p:nvPr/>
        </p:nvSpPr>
        <p:spPr>
          <a:xfrm>
            <a:off x="713232" y="6243574"/>
            <a:ext cx="6281928" cy="257429"/>
          </a:xfrm>
          <a:prstGeom prst="rect">
            <a:avLst/>
          </a:prstGeom>
          <a:noFill/>
          <a:ln/>
        </p:spPr>
        <p:txBody>
          <a:bodyPr wrap="square" lIns="0" tIns="0" rIns="0" bIns="0" rtlCol="0" anchor="t"/>
          <a:lstStyle/>
          <a:p>
            <a:pPr marL="342900" indent="-342900">
              <a:lnSpc>
                <a:spcPct val="125000"/>
              </a:lnSpc>
              <a:buSzPct val="100000"/>
              <a:buChar char="●"/>
            </a:pPr>
            <a:r>
              <a:rPr lang="en-US" sz="1100" b="1" dirty="0">
                <a:solidFill>
                  <a:srgbClr val="222222"/>
                </a:solidFill>
                <a:latin typeface="Calibri" pitchFamily="34" charset="0"/>
                <a:ea typeface="Calibri" pitchFamily="34" charset="-122"/>
                <a:cs typeface="Calibri" pitchFamily="34" charset="-120"/>
              </a:rPr>
              <a:t>評価（星5段階）</a:t>
            </a:r>
            <a:pPr indent="0" marL="0">
              <a:lnSpc>
                <a:spcPct val="125000"/>
              </a:lnSpc>
              <a:buNone/>
            </a:pPr>
            <a:r>
              <a:rPr lang="en-US" sz="1100" dirty="0">
                <a:solidFill>
                  <a:srgbClr val="222222"/>
                </a:solidFill>
                <a:latin typeface="Calibri" pitchFamily="34" charset="0"/>
                <a:ea typeface="Calibri" pitchFamily="34" charset="-122"/>
                <a:cs typeface="Calibri" pitchFamily="34" charset="-120"/>
              </a:rPr>
              <a:t>：満足度などに向いています</a:t>
            </a:r>
            <a:endParaRPr lang="en-US" sz="1100" dirty="0"/>
          </a:p>
        </p:txBody>
      </p:sp>
      <p:sp>
        <p:nvSpPr>
          <p:cNvPr id="31" name="Text 29"/>
          <p:cNvSpPr txBox="1"/>
          <p:nvPr/>
        </p:nvSpPr>
        <p:spPr>
          <a:xfrm>
            <a:off x="713232" y="6519291"/>
            <a:ext cx="6281928" cy="257429"/>
          </a:xfrm>
          <a:prstGeom prst="rect">
            <a:avLst/>
          </a:prstGeom>
          <a:noFill/>
          <a:ln/>
        </p:spPr>
        <p:txBody>
          <a:bodyPr wrap="square" lIns="0" tIns="0" rIns="0" bIns="0" rtlCol="0" anchor="t"/>
          <a:lstStyle/>
          <a:p>
            <a:pPr marL="342900" indent="-342900">
              <a:lnSpc>
                <a:spcPct val="125000"/>
              </a:lnSpc>
              <a:buSzPct val="100000"/>
              <a:buChar char="●"/>
            </a:pPr>
            <a:r>
              <a:rPr lang="en-US" sz="1100" b="1" dirty="0">
                <a:solidFill>
                  <a:srgbClr val="222222"/>
                </a:solidFill>
                <a:latin typeface="Calibri" pitchFamily="34" charset="0"/>
                <a:ea typeface="Calibri" pitchFamily="34" charset="-122"/>
                <a:cs typeface="Calibri" pitchFamily="34" charset="-120"/>
              </a:rPr>
              <a:t>NPS（0〜10）</a:t>
            </a:r>
            <a:pPr indent="0" marL="0">
              <a:lnSpc>
                <a:spcPct val="125000"/>
              </a:lnSpc>
              <a:buNone/>
            </a:pPr>
            <a:r>
              <a:rPr lang="en-US" sz="1100" dirty="0">
                <a:solidFill>
                  <a:srgbClr val="222222"/>
                </a:solidFill>
                <a:latin typeface="Calibri" pitchFamily="34" charset="0"/>
                <a:ea typeface="Calibri" pitchFamily="34" charset="-122"/>
                <a:cs typeface="Calibri" pitchFamily="34" charset="-120"/>
              </a:rPr>
              <a:t>：「知人にすすめたいか」を0〜10で聞きます</a:t>
            </a:r>
            <a:endParaRPr lang="en-US" sz="1100" dirty="0"/>
          </a:p>
        </p:txBody>
      </p:sp>
      <p:sp>
        <p:nvSpPr>
          <p:cNvPr id="32" name="Text 30"/>
          <p:cNvSpPr txBox="1"/>
          <p:nvPr/>
        </p:nvSpPr>
        <p:spPr>
          <a:xfrm>
            <a:off x="566928" y="10186416"/>
            <a:ext cx="6428232" cy="228600"/>
          </a:xfrm>
          <a:prstGeom prst="rect">
            <a:avLst/>
          </a:prstGeom>
          <a:noFill/>
          <a:ln/>
        </p:spPr>
        <p:txBody>
          <a:bodyPr wrap="square" lIns="0" tIns="0" rIns="0" bIns="0" rtlCol="0" anchor="ctr"/>
          <a:lstStyle/>
          <a:p>
            <a:pPr algn="r" indent="0" marL="0">
              <a:buNone/>
            </a:pPr>
            <a:r>
              <a:rPr lang="en-US" sz="900" dirty="0">
                <a:solidFill>
                  <a:srgbClr val="6B6B6B"/>
                </a:solidFill>
                <a:latin typeface="Calibri" pitchFamily="34" charset="0"/>
                <a:ea typeface="Calibri" pitchFamily="34" charset="-122"/>
                <a:cs typeface="Calibri" pitchFamily="34" charset="-120"/>
              </a:rPr>
              <a:t>企業担当者向け　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457200"/>
            <a:ext cx="6428232" cy="237744"/>
          </a:xfrm>
          <a:prstGeom prst="rect">
            <a:avLst/>
          </a:prstGeom>
          <a:noFill/>
          <a:ln/>
        </p:spPr>
        <p:txBody>
          <a:bodyPr wrap="square" lIns="0" tIns="0" rIns="0" bIns="0" rtlCol="0" anchor="ctr"/>
          <a:lstStyle/>
          <a:p>
            <a:pPr indent="0" marL="0">
              <a:buNone/>
            </a:pPr>
            <a:r>
              <a:rPr lang="en-US" sz="1000" b="1" dirty="0">
                <a:solidFill>
                  <a:srgbClr val="1C7293"/>
                </a:solidFill>
                <a:latin typeface="Calibri" pitchFamily="34" charset="0"/>
                <a:ea typeface="Calibri" pitchFamily="34" charset="-122"/>
                <a:cs typeface="Calibri" pitchFamily="34" charset="-120"/>
              </a:rPr>
              <a:t>企業担当者マニュアル</a:t>
            </a:r>
            <a:endParaRPr lang="en-US" sz="1000" dirty="0"/>
          </a:p>
        </p:txBody>
      </p:sp>
      <p:sp>
        <p:nvSpPr>
          <p:cNvPr id="3" name="Text 1"/>
          <p:cNvSpPr txBox="1"/>
          <p:nvPr/>
        </p:nvSpPr>
        <p:spPr>
          <a:xfrm>
            <a:off x="566928" y="713232"/>
            <a:ext cx="6428232" cy="640080"/>
          </a:xfrm>
          <a:prstGeom prst="rect">
            <a:avLst/>
          </a:prstGeom>
          <a:noFill/>
          <a:ln/>
        </p:spPr>
        <p:txBody>
          <a:bodyPr wrap="square" lIns="0" tIns="0" rIns="0" bIns="0" rtlCol="0" anchor="t"/>
          <a:lstStyle/>
          <a:p>
            <a:pPr indent="0" marL="0">
              <a:buNone/>
            </a:pPr>
            <a:r>
              <a:rPr lang="en-US" sz="2200" b="1" dirty="0">
                <a:solidFill>
                  <a:srgbClr val="222222"/>
                </a:solidFill>
                <a:latin typeface="Calibri" pitchFamily="34" charset="0"/>
                <a:ea typeface="Calibri" pitchFamily="34" charset="-122"/>
                <a:cs typeface="Calibri" pitchFamily="34" charset="-120"/>
              </a:rPr>
              <a:t>アンケートの設問を作る（つづき）</a:t>
            </a:r>
            <a:endParaRPr lang="en-US" sz="2200" dirty="0"/>
          </a:p>
        </p:txBody>
      </p:sp>
      <p:pic>
        <p:nvPicPr>
          <p:cNvPr id="4" name="Image 0" descr="C:\Users\sato\Desktop\enque\docs\images\c-survey-edit.png">    </p:cNvPr>
          <p:cNvPicPr>
            <a:picLocks noChangeAspect="1"/>
          </p:cNvPicPr>
          <p:nvPr/>
        </p:nvPicPr>
        <p:blipFill>
          <a:blip r:embed="rId1"/>
          <a:stretch>
            <a:fillRect/>
          </a:stretch>
        </p:blipFill>
        <p:spPr>
          <a:xfrm>
            <a:off x="2140821" y="1481328"/>
            <a:ext cx="3280447" cy="3474720"/>
          </a:xfrm>
          <a:prstGeom prst="rect">
            <a:avLst/>
          </a:prstGeom>
        </p:spPr>
      </p:pic>
      <p:sp>
        <p:nvSpPr>
          <p:cNvPr id="5" name="Text 2"/>
          <p:cNvSpPr txBox="1"/>
          <p:nvPr/>
        </p:nvSpPr>
        <p:spPr>
          <a:xfrm>
            <a:off x="566928" y="5010912"/>
            <a:ext cx="6428232" cy="274320"/>
          </a:xfrm>
          <a:prstGeom prst="rect">
            <a:avLst/>
          </a:prstGeom>
          <a:noFill/>
          <a:ln/>
        </p:spPr>
        <p:txBody>
          <a:bodyPr wrap="square" lIns="0" tIns="0" rIns="0" bIns="0" rtlCol="0" anchor="ctr"/>
          <a:lstStyle/>
          <a:p>
            <a:pPr algn="ctr" indent="0" marL="0">
              <a:buNone/>
            </a:pPr>
            <a:r>
              <a:rPr lang="en-US" sz="950" dirty="0">
                <a:solidFill>
                  <a:srgbClr val="6B6B6B"/>
                </a:solidFill>
                <a:latin typeface="Calibri" pitchFamily="34" charset="0"/>
                <a:ea typeface="Calibri" pitchFamily="34" charset="-122"/>
                <a:cs typeface="Calibri" pitchFamily="34" charset="-120"/>
              </a:rPr>
              <a:t>アンケート編集画面。設問文・種類・選択肢の入力欄が見えるもの。</a:t>
            </a:r>
            <a:endParaRPr lang="en-US" sz="950" dirty="0"/>
          </a:p>
        </p:txBody>
      </p:sp>
      <p:sp>
        <p:nvSpPr>
          <p:cNvPr id="6" name="Text 3"/>
          <p:cNvSpPr txBox="1"/>
          <p:nvPr/>
        </p:nvSpPr>
        <p:spPr>
          <a:xfrm>
            <a:off x="566928" y="10186416"/>
            <a:ext cx="6428232" cy="228600"/>
          </a:xfrm>
          <a:prstGeom prst="rect">
            <a:avLst/>
          </a:prstGeom>
          <a:noFill/>
          <a:ln/>
        </p:spPr>
        <p:txBody>
          <a:bodyPr wrap="square" lIns="0" tIns="0" rIns="0" bIns="0" rtlCol="0" anchor="ctr"/>
          <a:lstStyle/>
          <a:p>
            <a:pPr algn="r" indent="0" marL="0">
              <a:buNone/>
            </a:pPr>
            <a:r>
              <a:rPr lang="en-US" sz="900" dirty="0">
                <a:solidFill>
                  <a:srgbClr val="6B6B6B"/>
                </a:solidFill>
                <a:latin typeface="Calibri" pitchFamily="34" charset="0"/>
                <a:ea typeface="Calibri" pitchFamily="34" charset="-122"/>
                <a:cs typeface="Calibri" pitchFamily="34" charset="-120"/>
              </a:rPr>
              <a:t>企業担当者向け　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457200"/>
            <a:ext cx="6428232" cy="237744"/>
          </a:xfrm>
          <a:prstGeom prst="rect">
            <a:avLst/>
          </a:prstGeom>
          <a:noFill/>
          <a:ln/>
        </p:spPr>
        <p:txBody>
          <a:bodyPr wrap="square" lIns="0" tIns="0" rIns="0" bIns="0" rtlCol="0" anchor="ctr"/>
          <a:lstStyle/>
          <a:p>
            <a:pPr indent="0" marL="0">
              <a:buNone/>
            </a:pPr>
            <a:r>
              <a:rPr lang="en-US" sz="1000" b="1" dirty="0">
                <a:solidFill>
                  <a:srgbClr val="1C7293"/>
                </a:solidFill>
                <a:latin typeface="Calibri" pitchFamily="34" charset="0"/>
                <a:ea typeface="Calibri" pitchFamily="34" charset="-122"/>
                <a:cs typeface="Calibri" pitchFamily="34" charset="-120"/>
              </a:rPr>
              <a:t>企業担当者マニュアル</a:t>
            </a:r>
            <a:endParaRPr lang="en-US" sz="1000" dirty="0"/>
          </a:p>
        </p:txBody>
      </p:sp>
      <p:sp>
        <p:nvSpPr>
          <p:cNvPr id="3" name="Text 1"/>
          <p:cNvSpPr txBox="1"/>
          <p:nvPr/>
        </p:nvSpPr>
        <p:spPr>
          <a:xfrm>
            <a:off x="566928" y="713232"/>
            <a:ext cx="6428232" cy="640080"/>
          </a:xfrm>
          <a:prstGeom prst="rect">
            <a:avLst/>
          </a:prstGeom>
          <a:noFill/>
          <a:ln/>
        </p:spPr>
        <p:txBody>
          <a:bodyPr wrap="square" lIns="0" tIns="0" rIns="0" bIns="0" rtlCol="0" anchor="t"/>
          <a:lstStyle/>
          <a:p>
            <a:pPr indent="0" marL="0">
              <a:buNone/>
            </a:pPr>
            <a:r>
              <a:rPr lang="en-US" sz="2200" b="1" dirty="0">
                <a:solidFill>
                  <a:srgbClr val="222222"/>
                </a:solidFill>
                <a:latin typeface="Calibri" pitchFamily="34" charset="0"/>
                <a:ea typeface="Calibri" pitchFamily="34" charset="-122"/>
                <a:cs typeface="Calibri" pitchFamily="34" charset="-120"/>
              </a:rPr>
              <a:t>公開と注意点</a:t>
            </a:r>
            <a:endParaRPr lang="en-US" sz="2200" dirty="0"/>
          </a:p>
        </p:txBody>
      </p:sp>
      <p:sp>
        <p:nvSpPr>
          <p:cNvPr id="4" name="Shape 2"/>
          <p:cNvSpPr/>
          <p:nvPr/>
        </p:nvSpPr>
        <p:spPr>
          <a:xfrm>
            <a:off x="566928" y="1481328"/>
            <a:ext cx="6428232" cy="624459"/>
          </a:xfrm>
          <a:prstGeom prst="roundRect">
            <a:avLst>
              <a:gd name="adj" fmla="val 8786"/>
            </a:avLst>
          </a:prstGeom>
          <a:solidFill>
            <a:srgbClr val="FDF0E6"/>
          </a:solidFill>
          <a:ln w="9525">
            <a:solidFill>
              <a:srgbClr val="E08A3C"/>
            </a:solidFill>
            <a:prstDash val="solid"/>
          </a:ln>
        </p:spPr>
      </p:sp>
      <p:sp>
        <p:nvSpPr>
          <p:cNvPr id="5" name="Text 3"/>
          <p:cNvSpPr txBox="1"/>
          <p:nvPr/>
        </p:nvSpPr>
        <p:spPr>
          <a:xfrm>
            <a:off x="658368" y="1572768"/>
            <a:ext cx="237744" cy="237744"/>
          </a:xfrm>
          <a:prstGeom prst="rect">
            <a:avLst/>
          </a:prstGeom>
          <a:noFill/>
          <a:ln/>
        </p:spPr>
        <p:txBody>
          <a:bodyPr wrap="square" lIns="0" tIns="0" rIns="0" bIns="0" rtlCol="0" anchor="ctr"/>
          <a:lstStyle/>
          <a:p>
            <a:pPr algn="ctr" indent="0" marL="0">
              <a:buNone/>
            </a:pPr>
            <a:r>
              <a:rPr lang="en-US" sz="1200" b="1" dirty="0">
                <a:solidFill>
                  <a:srgbClr val="C25A17"/>
                </a:solidFill>
                <a:latin typeface="Calibri" pitchFamily="34" charset="0"/>
                <a:ea typeface="Calibri" pitchFamily="34" charset="-122"/>
                <a:cs typeface="Calibri" pitchFamily="34" charset="-120"/>
              </a:rPr>
              <a:t>！</a:t>
            </a:r>
            <a:endParaRPr lang="en-US" sz="1200" dirty="0"/>
          </a:p>
        </p:txBody>
      </p:sp>
      <p:sp>
        <p:nvSpPr>
          <p:cNvPr id="6" name="Text 4"/>
          <p:cNvSpPr txBox="1"/>
          <p:nvPr/>
        </p:nvSpPr>
        <p:spPr>
          <a:xfrm>
            <a:off x="950976" y="1591056"/>
            <a:ext cx="5925312" cy="441579"/>
          </a:xfrm>
          <a:prstGeom prst="rect">
            <a:avLst/>
          </a:prstGeom>
          <a:noFill/>
          <a:ln/>
        </p:spPr>
        <p:txBody>
          <a:bodyPr wrap="square" lIns="0" tIns="0" rIns="0" bIns="0" rtlCol="0" anchor="t"/>
          <a:lstStyle/>
          <a:p>
            <a:pPr indent="0" marL="0">
              <a:lnSpc>
                <a:spcPct val="120000"/>
              </a:lnSpc>
              <a:buNone/>
            </a:pPr>
            <a:r>
              <a:rPr lang="en-US" sz="1050" b="1" dirty="0">
                <a:solidFill>
                  <a:srgbClr val="222222"/>
                </a:solidFill>
                <a:latin typeface="Calibri" pitchFamily="34" charset="0"/>
                <a:ea typeface="Calibri" pitchFamily="34" charset="-122"/>
                <a:cs typeface="Calibri" pitchFamily="34" charset="-120"/>
              </a:rPr>
              <a:t>「公開する」にチェックを入れて保存しないと、QRコードを読んでも回答できません。</a:t>
            </a:r>
            <a:pPr indent="0" marL="0">
              <a:lnSpc>
                <a:spcPct val="120000"/>
              </a:lnSpc>
              <a:buNone/>
            </a:pPr>
            <a:r>
              <a:rPr lang="en-US" sz="1050" dirty="0">
                <a:solidFill>
                  <a:srgbClr val="222222"/>
                </a:solidFill>
                <a:latin typeface="Calibri" pitchFamily="34" charset="0"/>
                <a:ea typeface="Calibri" pitchFamily="34" charset="-122"/>
                <a:cs typeface="Calibri" pitchFamily="34" charset="-120"/>
              </a:rPr>
              <a:t> 当日までに必ず公開してください。</a:t>
            </a:r>
            <a:endParaRPr lang="en-US" sz="1050" dirty="0"/>
          </a:p>
        </p:txBody>
      </p:sp>
      <p:sp>
        <p:nvSpPr>
          <p:cNvPr id="7" name="Shape 5"/>
          <p:cNvSpPr/>
          <p:nvPr/>
        </p:nvSpPr>
        <p:spPr>
          <a:xfrm>
            <a:off x="566928" y="2178939"/>
            <a:ext cx="6428232" cy="624459"/>
          </a:xfrm>
          <a:prstGeom prst="roundRect">
            <a:avLst>
              <a:gd name="adj" fmla="val 8786"/>
            </a:avLst>
          </a:prstGeom>
          <a:solidFill>
            <a:srgbClr val="E3F0F4"/>
          </a:solidFill>
          <a:ln w="9525">
            <a:solidFill>
              <a:srgbClr val="1C7293"/>
            </a:solidFill>
            <a:prstDash val="solid"/>
          </a:ln>
        </p:spPr>
      </p:sp>
      <p:sp>
        <p:nvSpPr>
          <p:cNvPr id="8" name="Text 6"/>
          <p:cNvSpPr txBox="1"/>
          <p:nvPr/>
        </p:nvSpPr>
        <p:spPr>
          <a:xfrm>
            <a:off x="658368" y="2270379"/>
            <a:ext cx="237744" cy="237744"/>
          </a:xfrm>
          <a:prstGeom prst="rect">
            <a:avLst/>
          </a:prstGeom>
          <a:noFill/>
          <a:ln/>
        </p:spPr>
        <p:txBody>
          <a:bodyPr wrap="square" lIns="0" tIns="0" rIns="0" bIns="0" rtlCol="0" anchor="ctr"/>
          <a:lstStyle/>
          <a:p>
            <a:pPr algn="ctr" indent="0" marL="0">
              <a:buNone/>
            </a:pPr>
            <a:r>
              <a:rPr lang="en-US" sz="1200" b="1" dirty="0">
                <a:solidFill>
                  <a:srgbClr val="1C7293"/>
                </a:solidFill>
                <a:latin typeface="Calibri" pitchFamily="34" charset="0"/>
                <a:ea typeface="Calibri" pitchFamily="34" charset="-122"/>
                <a:cs typeface="Calibri" pitchFamily="34" charset="-120"/>
              </a:rPr>
              <a:t>i</a:t>
            </a:r>
            <a:endParaRPr lang="en-US" sz="1200" dirty="0"/>
          </a:p>
        </p:txBody>
      </p:sp>
      <p:sp>
        <p:nvSpPr>
          <p:cNvPr id="9" name="Text 7"/>
          <p:cNvSpPr txBox="1"/>
          <p:nvPr/>
        </p:nvSpPr>
        <p:spPr>
          <a:xfrm>
            <a:off x="950976" y="2288667"/>
            <a:ext cx="5925312" cy="441579"/>
          </a:xfrm>
          <a:prstGeom prst="rect">
            <a:avLst/>
          </a:prstGeom>
          <a:noFill/>
          <a:ln/>
        </p:spPr>
        <p:txBody>
          <a:bodyPr wrap="square" lIns="0" tIns="0" rIns="0" bIns="0" rtlCol="0" anchor="t"/>
          <a:lstStyle/>
          <a:p>
            <a:pPr indent="0" marL="0">
              <a:lnSpc>
                <a:spcPct val="120000"/>
              </a:lnSpc>
              <a:buNone/>
            </a:pPr>
            <a:r>
              <a:rPr lang="en-US" sz="1050" dirty="0">
                <a:solidFill>
                  <a:srgbClr val="222222"/>
                </a:solidFill>
                <a:latin typeface="Calibri" pitchFamily="34" charset="0"/>
                <a:ea typeface="Calibri" pitchFamily="34" charset="-122"/>
                <a:cs typeface="Calibri" pitchFamily="34" charset="-120"/>
              </a:rPr>
              <a:t>事務局が「共通設問テンプレート」を用意している場合は、編集画面の下にある</a:t>
            </a:r>
            <a:pPr indent="0" marL="0">
              <a:lnSpc>
                <a:spcPct val="120000"/>
              </a:lnSpc>
              <a:buNone/>
            </a:pPr>
            <a:r>
              <a:rPr lang="en-US" sz="1050" b="1" dirty="0">
                <a:solidFill>
                  <a:srgbClr val="222222"/>
                </a:solidFill>
                <a:latin typeface="Calibri" pitchFamily="34" charset="0"/>
                <a:ea typeface="Calibri" pitchFamily="34" charset="-122"/>
                <a:cs typeface="Calibri" pitchFamily="34" charset="-120"/>
              </a:rPr>
              <a:t>「共通設問を取り込む」</a:t>
            </a:r>
            <a:pPr indent="0" marL="0">
              <a:lnSpc>
                <a:spcPct val="120000"/>
              </a:lnSpc>
              <a:buNone/>
            </a:pPr>
            <a:r>
              <a:rPr lang="en-US" sz="1050" dirty="0">
                <a:solidFill>
                  <a:srgbClr val="222222"/>
                </a:solidFill>
                <a:latin typeface="Calibri" pitchFamily="34" charset="0"/>
                <a:ea typeface="Calibri" pitchFamily="34" charset="-122"/>
                <a:cs typeface="Calibri" pitchFamily="34" charset="-120"/>
              </a:rPr>
              <a:t>で、全社共通の設問を自社アンケートに追加できます。</a:t>
            </a:r>
            <a:endParaRPr lang="en-US" sz="1050" dirty="0"/>
          </a:p>
        </p:txBody>
      </p:sp>
      <p:sp>
        <p:nvSpPr>
          <p:cNvPr id="10" name="Shape 8"/>
          <p:cNvSpPr/>
          <p:nvPr/>
        </p:nvSpPr>
        <p:spPr>
          <a:xfrm>
            <a:off x="566928" y="2876550"/>
            <a:ext cx="6428232" cy="624459"/>
          </a:xfrm>
          <a:prstGeom prst="roundRect">
            <a:avLst>
              <a:gd name="adj" fmla="val 8786"/>
            </a:avLst>
          </a:prstGeom>
          <a:solidFill>
            <a:srgbClr val="E3F0F4"/>
          </a:solidFill>
          <a:ln w="9525">
            <a:solidFill>
              <a:srgbClr val="1C7293"/>
            </a:solidFill>
            <a:prstDash val="solid"/>
          </a:ln>
        </p:spPr>
      </p:sp>
      <p:sp>
        <p:nvSpPr>
          <p:cNvPr id="11" name="Text 9"/>
          <p:cNvSpPr txBox="1"/>
          <p:nvPr/>
        </p:nvSpPr>
        <p:spPr>
          <a:xfrm>
            <a:off x="658368" y="2967990"/>
            <a:ext cx="237744" cy="237744"/>
          </a:xfrm>
          <a:prstGeom prst="rect">
            <a:avLst/>
          </a:prstGeom>
          <a:noFill/>
          <a:ln/>
        </p:spPr>
        <p:txBody>
          <a:bodyPr wrap="square" lIns="0" tIns="0" rIns="0" bIns="0" rtlCol="0" anchor="ctr"/>
          <a:lstStyle/>
          <a:p>
            <a:pPr algn="ctr" indent="0" marL="0">
              <a:buNone/>
            </a:pPr>
            <a:r>
              <a:rPr lang="en-US" sz="1200" b="1" dirty="0">
                <a:solidFill>
                  <a:srgbClr val="1C7293"/>
                </a:solidFill>
                <a:latin typeface="Calibri" pitchFamily="34" charset="0"/>
                <a:ea typeface="Calibri" pitchFamily="34" charset="-122"/>
                <a:cs typeface="Calibri" pitchFamily="34" charset="-120"/>
              </a:rPr>
              <a:t>i</a:t>
            </a:r>
            <a:endParaRPr lang="en-US" sz="1200" dirty="0"/>
          </a:p>
        </p:txBody>
      </p:sp>
      <p:sp>
        <p:nvSpPr>
          <p:cNvPr id="12" name="Text 10"/>
          <p:cNvSpPr txBox="1"/>
          <p:nvPr/>
        </p:nvSpPr>
        <p:spPr>
          <a:xfrm>
            <a:off x="950976" y="2986278"/>
            <a:ext cx="5925312" cy="441579"/>
          </a:xfrm>
          <a:prstGeom prst="rect">
            <a:avLst/>
          </a:prstGeom>
          <a:noFill/>
          <a:ln/>
        </p:spPr>
        <p:txBody>
          <a:bodyPr wrap="square" lIns="0" tIns="0" rIns="0" bIns="0" rtlCol="0" anchor="t"/>
          <a:lstStyle/>
          <a:p>
            <a:pPr indent="0" marL="0">
              <a:lnSpc>
                <a:spcPct val="120000"/>
              </a:lnSpc>
              <a:buNone/>
            </a:pPr>
            <a:r>
              <a:rPr lang="en-US" sz="1050" dirty="0">
                <a:solidFill>
                  <a:srgbClr val="222222"/>
                </a:solidFill>
                <a:latin typeface="Calibri" pitchFamily="34" charset="0"/>
                <a:ea typeface="Calibri" pitchFamily="34" charset="-122"/>
                <a:cs typeface="Calibri" pitchFamily="34" charset="-120"/>
              </a:rPr>
              <a:t>来場者の画面では、自社の設問の下に事務局の</a:t>
            </a:r>
            <a:pPr indent="0" marL="0">
              <a:lnSpc>
                <a:spcPct val="120000"/>
              </a:lnSpc>
              <a:buNone/>
            </a:pPr>
            <a:r>
              <a:rPr lang="en-US" sz="1050" b="1" dirty="0">
                <a:solidFill>
                  <a:srgbClr val="222222"/>
                </a:solidFill>
                <a:latin typeface="Calibri" pitchFamily="34" charset="0"/>
                <a:ea typeface="Calibri" pitchFamily="34" charset="-122"/>
                <a:cs typeface="Calibri" pitchFamily="34" charset="-120"/>
              </a:rPr>
              <a:t>総合アンケート</a:t>
            </a:r>
            <a:pPr indent="0" marL="0">
              <a:lnSpc>
                <a:spcPct val="120000"/>
              </a:lnSpc>
              <a:buNone/>
            </a:pPr>
            <a:r>
              <a:rPr lang="en-US" sz="1050" dirty="0">
                <a:solidFill>
                  <a:srgbClr val="222222"/>
                </a:solidFill>
                <a:latin typeface="Calibri" pitchFamily="34" charset="0"/>
                <a:ea typeface="Calibri" pitchFamily="34" charset="-122"/>
                <a:cs typeface="Calibri" pitchFamily="34" charset="-120"/>
              </a:rPr>
              <a:t>（イベント全体について聞くもの）が</a:t>
            </a:r>
            <a:endParaRPr lang="en-US" sz="1050" dirty="0"/>
          </a:p>
        </p:txBody>
      </p:sp>
      <p:sp>
        <p:nvSpPr>
          <p:cNvPr id="13" name="Shape 11"/>
          <p:cNvSpPr/>
          <p:nvPr/>
        </p:nvSpPr>
        <p:spPr>
          <a:xfrm>
            <a:off x="566928" y="3574161"/>
            <a:ext cx="6428232" cy="624459"/>
          </a:xfrm>
          <a:prstGeom prst="roundRect">
            <a:avLst>
              <a:gd name="adj" fmla="val 8786"/>
            </a:avLst>
          </a:prstGeom>
          <a:solidFill>
            <a:srgbClr val="E3F0F4"/>
          </a:solidFill>
          <a:ln w="9525">
            <a:solidFill>
              <a:srgbClr val="1C7293"/>
            </a:solidFill>
            <a:prstDash val="solid"/>
          </a:ln>
        </p:spPr>
      </p:sp>
      <p:sp>
        <p:nvSpPr>
          <p:cNvPr id="14" name="Text 12"/>
          <p:cNvSpPr txBox="1"/>
          <p:nvPr/>
        </p:nvSpPr>
        <p:spPr>
          <a:xfrm>
            <a:off x="658368" y="3665601"/>
            <a:ext cx="237744" cy="237744"/>
          </a:xfrm>
          <a:prstGeom prst="rect">
            <a:avLst/>
          </a:prstGeom>
          <a:noFill/>
          <a:ln/>
        </p:spPr>
        <p:txBody>
          <a:bodyPr wrap="square" lIns="0" tIns="0" rIns="0" bIns="0" rtlCol="0" anchor="ctr"/>
          <a:lstStyle/>
          <a:p>
            <a:pPr algn="ctr" indent="0" marL="0">
              <a:buNone/>
            </a:pPr>
            <a:r>
              <a:rPr lang="en-US" sz="1200" b="1" dirty="0">
                <a:solidFill>
                  <a:srgbClr val="1C7293"/>
                </a:solidFill>
                <a:latin typeface="Calibri" pitchFamily="34" charset="0"/>
                <a:ea typeface="Calibri" pitchFamily="34" charset="-122"/>
                <a:cs typeface="Calibri" pitchFamily="34" charset="-120"/>
              </a:rPr>
              <a:t>i</a:t>
            </a:r>
            <a:endParaRPr lang="en-US" sz="1200" dirty="0"/>
          </a:p>
        </p:txBody>
      </p:sp>
      <p:sp>
        <p:nvSpPr>
          <p:cNvPr id="15" name="Text 13"/>
          <p:cNvSpPr txBox="1"/>
          <p:nvPr/>
        </p:nvSpPr>
        <p:spPr>
          <a:xfrm>
            <a:off x="950976" y="3683889"/>
            <a:ext cx="5925312" cy="441579"/>
          </a:xfrm>
          <a:prstGeom prst="rect">
            <a:avLst/>
          </a:prstGeom>
          <a:noFill/>
          <a:ln/>
        </p:spPr>
        <p:txBody>
          <a:bodyPr wrap="square" lIns="0" tIns="0" rIns="0" bIns="0" rtlCol="0" anchor="t"/>
          <a:lstStyle/>
          <a:p>
            <a:pPr indent="0" marL="0">
              <a:lnSpc>
                <a:spcPct val="120000"/>
              </a:lnSpc>
              <a:buNone/>
            </a:pPr>
            <a:r>
              <a:rPr lang="en-US" sz="1050" dirty="0">
                <a:solidFill>
                  <a:srgbClr val="222222"/>
                </a:solidFill>
                <a:latin typeface="Calibri" pitchFamily="34" charset="0"/>
                <a:ea typeface="Calibri" pitchFamily="34" charset="-122"/>
                <a:cs typeface="Calibri" pitchFamily="34" charset="-120"/>
              </a:rPr>
              <a:t>出ることがあります。まだ答えていない方に1回だけ表示されるもので、</a:t>
            </a:r>
            <a:pPr indent="0" marL="0">
              <a:lnSpc>
                <a:spcPct val="120000"/>
              </a:lnSpc>
              <a:buNone/>
            </a:pPr>
            <a:r>
              <a:rPr lang="en-US" sz="1050" b="1" dirty="0">
                <a:solidFill>
                  <a:srgbClr val="222222"/>
                </a:solidFill>
                <a:latin typeface="Calibri" pitchFamily="34" charset="0"/>
                <a:ea typeface="Calibri" pitchFamily="34" charset="-122"/>
                <a:cs typeface="Calibri" pitchFamily="34" charset="-120"/>
              </a:rPr>
              <a:t>自社の集計には入りません</a:t>
            </a:r>
            <a:pPr indent="0" marL="0">
              <a:lnSpc>
                <a:spcPct val="120000"/>
              </a:lnSpc>
              <a:buNone/>
            </a:pPr>
            <a:r>
              <a:rPr lang="en-US" sz="1050" dirty="0">
                <a:solidFill>
                  <a:srgbClr val="222222"/>
                </a:solidFill>
                <a:latin typeface="Calibri" pitchFamily="34" charset="0"/>
                <a:ea typeface="Calibri" pitchFamily="34" charset="-122"/>
                <a:cs typeface="Calibri" pitchFamily="34" charset="-120"/>
              </a:rPr>
              <a:t>。</a:t>
            </a:r>
            <a:endParaRPr lang="en-US" sz="1050" dirty="0"/>
          </a:p>
        </p:txBody>
      </p:sp>
      <p:sp>
        <p:nvSpPr>
          <p:cNvPr id="16" name="Text 14"/>
          <p:cNvSpPr txBox="1"/>
          <p:nvPr/>
        </p:nvSpPr>
        <p:spPr>
          <a:xfrm>
            <a:off x="566928" y="4381500"/>
            <a:ext cx="6428232" cy="257810"/>
          </a:xfrm>
          <a:prstGeom prst="rect">
            <a:avLst/>
          </a:prstGeom>
          <a:noFill/>
          <a:ln/>
        </p:spPr>
        <p:txBody>
          <a:bodyPr wrap="square" lIns="0" tIns="0" rIns="0" bIns="0" rtlCol="0" anchor="t"/>
          <a:lstStyle/>
          <a:p>
            <a:pPr indent="0" marL="0">
              <a:buNone/>
            </a:pPr>
            <a:r>
              <a:rPr lang="en-US" sz="1400" b="1" dirty="0">
                <a:solidFill>
                  <a:srgbClr val="1C7293"/>
                </a:solidFill>
                <a:latin typeface="Calibri" pitchFamily="34" charset="0"/>
                <a:ea typeface="Calibri" pitchFamily="34" charset="-122"/>
                <a:cs typeface="Calibri" pitchFamily="34" charset="-120"/>
              </a:rPr>
              <a:t>設問を直すとき</a:t>
            </a:r>
            <a:endParaRPr lang="en-US" sz="1400" dirty="0"/>
          </a:p>
        </p:txBody>
      </p:sp>
      <p:sp>
        <p:nvSpPr>
          <p:cNvPr id="17" name="Text 15"/>
          <p:cNvSpPr txBox="1"/>
          <p:nvPr/>
        </p:nvSpPr>
        <p:spPr>
          <a:xfrm>
            <a:off x="713232" y="4712462"/>
            <a:ext cx="6281928" cy="257429"/>
          </a:xfrm>
          <a:prstGeom prst="rect">
            <a:avLst/>
          </a:prstGeom>
          <a:noFill/>
          <a:ln/>
        </p:spPr>
        <p:txBody>
          <a:bodyPr wrap="square" lIns="0" tIns="0" rIns="0" bIns="0" rtlCol="0" anchor="t"/>
          <a:lstStyle/>
          <a:p>
            <a:pPr marL="342900" indent="-342900">
              <a:lnSpc>
                <a:spcPct val="125000"/>
              </a:lnSpc>
              <a:buSzPct val="100000"/>
              <a:buChar char="●"/>
            </a:pPr>
            <a:r>
              <a:rPr lang="en-US" sz="1100" dirty="0">
                <a:solidFill>
                  <a:srgbClr val="222222"/>
                </a:solidFill>
                <a:latin typeface="Calibri" pitchFamily="34" charset="0"/>
                <a:ea typeface="Calibri" pitchFamily="34" charset="-122"/>
                <a:cs typeface="Calibri" pitchFamily="34" charset="-120"/>
              </a:rPr>
              <a:t>設問文や選択肢は、回答が始まったあとでも直せます</a:t>
            </a:r>
            <a:endParaRPr lang="en-US" sz="1100" dirty="0"/>
          </a:p>
        </p:txBody>
      </p:sp>
      <p:sp>
        <p:nvSpPr>
          <p:cNvPr id="18" name="Text 16"/>
          <p:cNvSpPr txBox="1"/>
          <p:nvPr/>
        </p:nvSpPr>
        <p:spPr>
          <a:xfrm>
            <a:off x="713232" y="4988179"/>
            <a:ext cx="6281928" cy="257429"/>
          </a:xfrm>
          <a:prstGeom prst="rect">
            <a:avLst/>
          </a:prstGeom>
          <a:noFill/>
          <a:ln/>
        </p:spPr>
        <p:txBody>
          <a:bodyPr wrap="square" lIns="0" tIns="0" rIns="0" bIns="0" rtlCol="0" anchor="t"/>
          <a:lstStyle/>
          <a:p>
            <a:pPr marL="342900" indent="-342900">
              <a:lnSpc>
                <a:spcPct val="125000"/>
              </a:lnSpc>
              <a:buSzPct val="100000"/>
              <a:buChar char="●"/>
            </a:pPr>
            <a:r>
              <a:rPr lang="en-US" sz="1100" dirty="0">
                <a:solidFill>
                  <a:srgbClr val="222222"/>
                </a:solidFill>
                <a:latin typeface="Calibri" pitchFamily="34" charset="0"/>
                <a:ea typeface="Calibri" pitchFamily="34" charset="-122"/>
                <a:cs typeface="Calibri" pitchFamily="34" charset="-120"/>
              </a:rPr>
              <a:t>ただし</a:t>
            </a:r>
            <a:pPr indent="0" marL="0">
              <a:lnSpc>
                <a:spcPct val="125000"/>
              </a:lnSpc>
              <a:buNone/>
            </a:pPr>
            <a:r>
              <a:rPr lang="en-US" sz="1100" b="1" dirty="0">
                <a:solidFill>
                  <a:srgbClr val="222222"/>
                </a:solidFill>
                <a:latin typeface="Calibri" pitchFamily="34" charset="0"/>
                <a:ea typeface="Calibri" pitchFamily="34" charset="-122"/>
                <a:cs typeface="Calibri" pitchFamily="34" charset="-120"/>
              </a:rPr>
              <a:t>設問を削除すると、その設問への回答も一緒に消えます</a:t>
            </a:r>
            <a:endParaRPr lang="en-US" sz="1100" dirty="0"/>
          </a:p>
        </p:txBody>
      </p:sp>
      <p:sp>
        <p:nvSpPr>
          <p:cNvPr id="19" name="Text 17"/>
          <p:cNvSpPr txBox="1"/>
          <p:nvPr/>
        </p:nvSpPr>
        <p:spPr>
          <a:xfrm>
            <a:off x="713232" y="5263896"/>
            <a:ext cx="6281928" cy="257429"/>
          </a:xfrm>
          <a:prstGeom prst="rect">
            <a:avLst/>
          </a:prstGeom>
          <a:noFill/>
          <a:ln/>
        </p:spPr>
        <p:txBody>
          <a:bodyPr wrap="square" lIns="0" tIns="0" rIns="0" bIns="0" rtlCol="0" anchor="t"/>
          <a:lstStyle/>
          <a:p>
            <a:pPr marL="342900" indent="-342900">
              <a:lnSpc>
                <a:spcPct val="125000"/>
              </a:lnSpc>
              <a:buSzPct val="100000"/>
              <a:buChar char="●"/>
            </a:pPr>
            <a:r>
              <a:rPr lang="en-US" sz="1100" dirty="0">
                <a:solidFill>
                  <a:srgbClr val="222222"/>
                </a:solidFill>
                <a:latin typeface="Calibri" pitchFamily="34" charset="0"/>
                <a:ea typeface="Calibri" pitchFamily="34" charset="-122"/>
                <a:cs typeface="Calibri" pitchFamily="34" charset="-120"/>
              </a:rPr>
              <a:t>選択肢を変えると、変更前の回答はそのまま残ります（集計時にご注意ください）</a:t>
            </a:r>
            <a:endParaRPr lang="en-US" sz="1100" dirty="0"/>
          </a:p>
        </p:txBody>
      </p:sp>
      <p:sp>
        <p:nvSpPr>
          <p:cNvPr id="20" name="Shape 18"/>
          <p:cNvSpPr/>
          <p:nvPr/>
        </p:nvSpPr>
        <p:spPr>
          <a:xfrm>
            <a:off x="566928" y="5539613"/>
            <a:ext cx="6428232" cy="624459"/>
          </a:xfrm>
          <a:prstGeom prst="roundRect">
            <a:avLst>
              <a:gd name="adj" fmla="val 8786"/>
            </a:avLst>
          </a:prstGeom>
          <a:solidFill>
            <a:srgbClr val="FDF0E6"/>
          </a:solidFill>
          <a:ln w="9525">
            <a:solidFill>
              <a:srgbClr val="E08A3C"/>
            </a:solidFill>
            <a:prstDash val="solid"/>
          </a:ln>
        </p:spPr>
      </p:sp>
      <p:sp>
        <p:nvSpPr>
          <p:cNvPr id="21" name="Text 19"/>
          <p:cNvSpPr txBox="1"/>
          <p:nvPr/>
        </p:nvSpPr>
        <p:spPr>
          <a:xfrm>
            <a:off x="658368" y="5631053"/>
            <a:ext cx="237744" cy="237744"/>
          </a:xfrm>
          <a:prstGeom prst="rect">
            <a:avLst/>
          </a:prstGeom>
          <a:noFill/>
          <a:ln/>
        </p:spPr>
        <p:txBody>
          <a:bodyPr wrap="square" lIns="0" tIns="0" rIns="0" bIns="0" rtlCol="0" anchor="ctr"/>
          <a:lstStyle/>
          <a:p>
            <a:pPr algn="ctr" indent="0" marL="0">
              <a:buNone/>
            </a:pPr>
            <a:r>
              <a:rPr lang="en-US" sz="1200" b="1" dirty="0">
                <a:solidFill>
                  <a:srgbClr val="C25A17"/>
                </a:solidFill>
                <a:latin typeface="Calibri" pitchFamily="34" charset="0"/>
                <a:ea typeface="Calibri" pitchFamily="34" charset="-122"/>
                <a:cs typeface="Calibri" pitchFamily="34" charset="-120"/>
              </a:rPr>
              <a:t>！</a:t>
            </a:r>
            <a:endParaRPr lang="en-US" sz="1200" dirty="0"/>
          </a:p>
        </p:txBody>
      </p:sp>
      <p:sp>
        <p:nvSpPr>
          <p:cNvPr id="22" name="Text 20"/>
          <p:cNvSpPr txBox="1"/>
          <p:nvPr/>
        </p:nvSpPr>
        <p:spPr>
          <a:xfrm>
            <a:off x="950976" y="5649341"/>
            <a:ext cx="5925312" cy="441579"/>
          </a:xfrm>
          <a:prstGeom prst="rect">
            <a:avLst/>
          </a:prstGeom>
          <a:noFill/>
          <a:ln/>
        </p:spPr>
        <p:txBody>
          <a:bodyPr wrap="square" lIns="0" tIns="0" rIns="0" bIns="0" rtlCol="0" anchor="t"/>
          <a:lstStyle/>
          <a:p>
            <a:pPr indent="0" marL="0">
              <a:lnSpc>
                <a:spcPct val="120000"/>
              </a:lnSpc>
              <a:buNone/>
            </a:pPr>
            <a:r>
              <a:rPr lang="en-US" sz="1050" dirty="0">
                <a:solidFill>
                  <a:srgbClr val="222222"/>
                </a:solidFill>
                <a:latin typeface="Calibri" pitchFamily="34" charset="0"/>
                <a:ea typeface="Calibri" pitchFamily="34" charset="-122"/>
                <a:cs typeface="Calibri" pitchFamily="34" charset="-120"/>
              </a:rPr>
              <a:t>回答受付が始まったあとに設問を削除する場合は、先にCSVをダウンロードして保存しておいてください。</a:t>
            </a:r>
            <a:endParaRPr lang="en-US" sz="1050" dirty="0"/>
          </a:p>
        </p:txBody>
      </p:sp>
      <p:pic>
        <p:nvPicPr>
          <p:cNvPr id="23" name="Image 0" descr="C:\Users\sato\Desktop\enque\docs\images\c-publish.png">    </p:cNvPr>
          <p:cNvPicPr>
            <a:picLocks noChangeAspect="1"/>
          </p:cNvPicPr>
          <p:nvPr/>
        </p:nvPicPr>
        <p:blipFill>
          <a:blip r:embed="rId1"/>
          <a:stretch>
            <a:fillRect/>
          </a:stretch>
        </p:blipFill>
        <p:spPr>
          <a:xfrm>
            <a:off x="566928" y="6237224"/>
            <a:ext cx="6428232" cy="810327"/>
          </a:xfrm>
          <a:prstGeom prst="rect">
            <a:avLst/>
          </a:prstGeom>
        </p:spPr>
      </p:pic>
      <p:sp>
        <p:nvSpPr>
          <p:cNvPr id="24" name="Text 21"/>
          <p:cNvSpPr txBox="1"/>
          <p:nvPr/>
        </p:nvSpPr>
        <p:spPr>
          <a:xfrm>
            <a:off x="566928" y="7102415"/>
            <a:ext cx="6428232" cy="274320"/>
          </a:xfrm>
          <a:prstGeom prst="rect">
            <a:avLst/>
          </a:prstGeom>
          <a:noFill/>
          <a:ln/>
        </p:spPr>
        <p:txBody>
          <a:bodyPr wrap="square" lIns="0" tIns="0" rIns="0" bIns="0" rtlCol="0" anchor="ctr"/>
          <a:lstStyle/>
          <a:p>
            <a:pPr algn="ctr" indent="0" marL="0">
              <a:buNone/>
            </a:pPr>
            <a:r>
              <a:rPr lang="en-US" sz="950" dirty="0">
                <a:solidFill>
                  <a:srgbClr val="6B6B6B"/>
                </a:solidFill>
                <a:latin typeface="Calibri" pitchFamily="34" charset="0"/>
                <a:ea typeface="Calibri" pitchFamily="34" charset="-122"/>
                <a:cs typeface="Calibri" pitchFamily="34" charset="-120"/>
              </a:rPr>
              <a:t>アンケート編集画面の「公開する」チェックボックスと保存ボタンの周辺。</a:t>
            </a:r>
            <a:endParaRPr lang="en-US" sz="950" dirty="0"/>
          </a:p>
        </p:txBody>
      </p:sp>
      <p:sp>
        <p:nvSpPr>
          <p:cNvPr id="25" name="Text 22"/>
          <p:cNvSpPr txBox="1"/>
          <p:nvPr/>
        </p:nvSpPr>
        <p:spPr>
          <a:xfrm>
            <a:off x="566928" y="10186416"/>
            <a:ext cx="6428232" cy="228600"/>
          </a:xfrm>
          <a:prstGeom prst="rect">
            <a:avLst/>
          </a:prstGeom>
          <a:noFill/>
          <a:ln/>
        </p:spPr>
        <p:txBody>
          <a:bodyPr wrap="square" lIns="0" tIns="0" rIns="0" bIns="0" rtlCol="0" anchor="ctr"/>
          <a:lstStyle/>
          <a:p>
            <a:pPr algn="r" indent="0" marL="0">
              <a:buNone/>
            </a:pPr>
            <a:r>
              <a:rPr lang="en-US" sz="900" dirty="0">
                <a:solidFill>
                  <a:srgbClr val="6B6B6B"/>
                </a:solidFill>
                <a:latin typeface="Calibri" pitchFamily="34" charset="0"/>
                <a:ea typeface="Calibri" pitchFamily="34" charset="-122"/>
                <a:cs typeface="Calibri" pitchFamily="34" charset="-120"/>
              </a:rPr>
              <a:t>企業担当者向け　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457200"/>
            <a:ext cx="6428232" cy="237744"/>
          </a:xfrm>
          <a:prstGeom prst="rect">
            <a:avLst/>
          </a:prstGeom>
          <a:noFill/>
          <a:ln/>
        </p:spPr>
        <p:txBody>
          <a:bodyPr wrap="square" lIns="0" tIns="0" rIns="0" bIns="0" rtlCol="0" anchor="ctr"/>
          <a:lstStyle/>
          <a:p>
            <a:pPr indent="0" marL="0">
              <a:buNone/>
            </a:pPr>
            <a:r>
              <a:rPr lang="en-US" sz="1000" b="1" dirty="0">
                <a:solidFill>
                  <a:srgbClr val="1C7293"/>
                </a:solidFill>
                <a:latin typeface="Calibri" pitchFamily="34" charset="0"/>
                <a:ea typeface="Calibri" pitchFamily="34" charset="-122"/>
                <a:cs typeface="Calibri" pitchFamily="34" charset="-120"/>
              </a:rPr>
              <a:t>企業担当者マニュアル</a:t>
            </a:r>
            <a:endParaRPr lang="en-US" sz="1000" dirty="0"/>
          </a:p>
        </p:txBody>
      </p:sp>
      <p:sp>
        <p:nvSpPr>
          <p:cNvPr id="3" name="Text 1"/>
          <p:cNvSpPr txBox="1"/>
          <p:nvPr/>
        </p:nvSpPr>
        <p:spPr>
          <a:xfrm>
            <a:off x="566928" y="713232"/>
            <a:ext cx="6428232" cy="640080"/>
          </a:xfrm>
          <a:prstGeom prst="rect">
            <a:avLst/>
          </a:prstGeom>
          <a:noFill/>
          <a:ln/>
        </p:spPr>
        <p:txBody>
          <a:bodyPr wrap="square" lIns="0" tIns="0" rIns="0" bIns="0" rtlCol="0" anchor="t"/>
          <a:lstStyle/>
          <a:p>
            <a:pPr indent="0" marL="0">
              <a:buNone/>
            </a:pPr>
            <a:r>
              <a:rPr lang="en-US" sz="2200" b="1" dirty="0">
                <a:solidFill>
                  <a:srgbClr val="222222"/>
                </a:solidFill>
                <a:latin typeface="Calibri" pitchFamily="34" charset="0"/>
                <a:ea typeface="Calibri" pitchFamily="34" charset="-122"/>
                <a:cs typeface="Calibri" pitchFamily="34" charset="-120"/>
              </a:rPr>
              <a:t>回答状況を見る</a:t>
            </a:r>
            <a:endParaRPr lang="en-US" sz="2200" dirty="0"/>
          </a:p>
        </p:txBody>
      </p:sp>
      <p:sp>
        <p:nvSpPr>
          <p:cNvPr id="4" name="Text 2"/>
          <p:cNvSpPr txBox="1"/>
          <p:nvPr/>
        </p:nvSpPr>
        <p:spPr>
          <a:xfrm>
            <a:off x="566928" y="1481328"/>
            <a:ext cx="6428232" cy="257429"/>
          </a:xfrm>
          <a:prstGeom prst="rect">
            <a:avLst/>
          </a:prstGeom>
          <a:noFill/>
          <a:ln/>
        </p:spPr>
        <p:txBody>
          <a:bodyPr wrap="square" lIns="0" tIns="0" rIns="0" bIns="0" rtlCol="0" anchor="t"/>
          <a:lstStyle/>
          <a:p>
            <a:pPr indent="0" marL="0">
              <a:lnSpc>
                <a:spcPct val="125000"/>
              </a:lnSpc>
              <a:buNone/>
            </a:pPr>
            <a:r>
              <a:rPr lang="en-US" sz="1100" dirty="0">
                <a:solidFill>
                  <a:srgbClr val="222222"/>
                </a:solidFill>
                <a:latin typeface="Calibri" pitchFamily="34" charset="0"/>
                <a:ea typeface="Calibri" pitchFamily="34" charset="-122"/>
                <a:cs typeface="Calibri" pitchFamily="34" charset="-120"/>
              </a:rPr>
              <a:t>ダッシュボードに次の情報が出ます。</a:t>
            </a:r>
            <a:endParaRPr lang="en-US" sz="1100" dirty="0"/>
          </a:p>
        </p:txBody>
      </p:sp>
      <p:sp>
        <p:nvSpPr>
          <p:cNvPr id="5" name="Text 3"/>
          <p:cNvSpPr txBox="1"/>
          <p:nvPr/>
        </p:nvSpPr>
        <p:spPr>
          <a:xfrm>
            <a:off x="713232" y="1775333"/>
            <a:ext cx="6281928" cy="257429"/>
          </a:xfrm>
          <a:prstGeom prst="rect">
            <a:avLst/>
          </a:prstGeom>
          <a:noFill/>
          <a:ln/>
        </p:spPr>
        <p:txBody>
          <a:bodyPr wrap="square" lIns="0" tIns="0" rIns="0" bIns="0" rtlCol="0" anchor="t"/>
          <a:lstStyle/>
          <a:p>
            <a:pPr marL="342900" indent="-342900">
              <a:lnSpc>
                <a:spcPct val="125000"/>
              </a:lnSpc>
              <a:buSzPct val="100000"/>
              <a:buChar char="●"/>
            </a:pPr>
            <a:r>
              <a:rPr lang="en-US" sz="1100" b="1" dirty="0">
                <a:solidFill>
                  <a:srgbClr val="222222"/>
                </a:solidFill>
                <a:latin typeface="Calibri" pitchFamily="34" charset="0"/>
                <a:ea typeface="Calibri" pitchFamily="34" charset="-122"/>
                <a:cs typeface="Calibri" pitchFamily="34" charset="-120"/>
              </a:rPr>
              <a:t>回答数</a:t>
            </a:r>
            <a:pPr indent="0" marL="0">
              <a:lnSpc>
                <a:spcPct val="125000"/>
              </a:lnSpc>
              <a:buNone/>
            </a:pPr>
            <a:r>
              <a:rPr lang="en-US" sz="1100" dirty="0">
                <a:solidFill>
                  <a:srgbClr val="222222"/>
                </a:solidFill>
                <a:latin typeface="Calibri" pitchFamily="34" charset="0"/>
                <a:ea typeface="Calibri" pitchFamily="34" charset="-122"/>
                <a:cs typeface="Calibri" pitchFamily="34" charset="-120"/>
              </a:rPr>
              <a:t>（重複を除いた件数）</a:t>
            </a:r>
            <a:endParaRPr lang="en-US" sz="1100" dirty="0"/>
          </a:p>
        </p:txBody>
      </p:sp>
      <p:sp>
        <p:nvSpPr>
          <p:cNvPr id="6" name="Text 4"/>
          <p:cNvSpPr txBox="1"/>
          <p:nvPr/>
        </p:nvSpPr>
        <p:spPr>
          <a:xfrm>
            <a:off x="713232" y="2051050"/>
            <a:ext cx="6281928" cy="257429"/>
          </a:xfrm>
          <a:prstGeom prst="rect">
            <a:avLst/>
          </a:prstGeom>
          <a:noFill/>
          <a:ln/>
        </p:spPr>
        <p:txBody>
          <a:bodyPr wrap="square" lIns="0" tIns="0" rIns="0" bIns="0" rtlCol="0" anchor="t"/>
          <a:lstStyle/>
          <a:p>
            <a:pPr marL="342900" indent="-342900">
              <a:lnSpc>
                <a:spcPct val="125000"/>
              </a:lnSpc>
              <a:buSzPct val="100000"/>
              <a:buChar char="●"/>
            </a:pPr>
            <a:r>
              <a:rPr lang="en-US" sz="1100" b="1" dirty="0">
                <a:solidFill>
                  <a:srgbClr val="222222"/>
                </a:solidFill>
                <a:latin typeface="Calibri" pitchFamily="34" charset="0"/>
                <a:ea typeface="Calibri" pitchFamily="34" charset="-122"/>
                <a:cs typeface="Calibri" pitchFamily="34" charset="-120"/>
              </a:rPr>
              <a:t>修正された回答</a:t>
            </a:r>
            <a:pPr indent="0" marL="0">
              <a:lnSpc>
                <a:spcPct val="125000"/>
              </a:lnSpc>
              <a:buNone/>
            </a:pPr>
            <a:r>
              <a:rPr lang="en-US" sz="1100" dirty="0">
                <a:solidFill>
                  <a:srgbClr val="222222"/>
                </a:solidFill>
                <a:latin typeface="Calibri" pitchFamily="34" charset="0"/>
                <a:ea typeface="Calibri" pitchFamily="34" charset="-122"/>
                <a:cs typeface="Calibri" pitchFamily="34" charset="-120"/>
              </a:rPr>
              <a:t>：来場者があとから書き直した件数</a:t>
            </a:r>
            <a:endParaRPr lang="en-US" sz="1100" dirty="0"/>
          </a:p>
        </p:txBody>
      </p:sp>
      <p:sp>
        <p:nvSpPr>
          <p:cNvPr id="7" name="Text 5"/>
          <p:cNvSpPr txBox="1"/>
          <p:nvPr/>
        </p:nvSpPr>
        <p:spPr>
          <a:xfrm>
            <a:off x="713232" y="2326767"/>
            <a:ext cx="6281928" cy="257429"/>
          </a:xfrm>
          <a:prstGeom prst="rect">
            <a:avLst/>
          </a:prstGeom>
          <a:noFill/>
          <a:ln/>
        </p:spPr>
        <p:txBody>
          <a:bodyPr wrap="square" lIns="0" tIns="0" rIns="0" bIns="0" rtlCol="0" anchor="t"/>
          <a:lstStyle/>
          <a:p>
            <a:pPr marL="342900" indent="-342900">
              <a:lnSpc>
                <a:spcPct val="125000"/>
              </a:lnSpc>
              <a:buSzPct val="100000"/>
              <a:buChar char="●"/>
            </a:pPr>
            <a:r>
              <a:rPr lang="en-US" sz="1100" b="1" dirty="0">
                <a:solidFill>
                  <a:srgbClr val="222222"/>
                </a:solidFill>
                <a:latin typeface="Calibri" pitchFamily="34" charset="0"/>
                <a:ea typeface="Calibri" pitchFamily="34" charset="-122"/>
                <a:cs typeface="Calibri" pitchFamily="34" charset="-120"/>
              </a:rPr>
              <a:t>設問数</a:t>
            </a:r>
            <a:endParaRPr lang="en-US" sz="1100" dirty="0"/>
          </a:p>
        </p:txBody>
      </p:sp>
      <p:sp>
        <p:nvSpPr>
          <p:cNvPr id="8" name="Text 6"/>
          <p:cNvSpPr txBox="1"/>
          <p:nvPr/>
        </p:nvSpPr>
        <p:spPr>
          <a:xfrm>
            <a:off x="713232" y="2602484"/>
            <a:ext cx="6281928" cy="257429"/>
          </a:xfrm>
          <a:prstGeom prst="rect">
            <a:avLst/>
          </a:prstGeom>
          <a:noFill/>
          <a:ln/>
        </p:spPr>
        <p:txBody>
          <a:bodyPr wrap="square" lIns="0" tIns="0" rIns="0" bIns="0" rtlCol="0" anchor="t"/>
          <a:lstStyle/>
          <a:p>
            <a:pPr marL="342900" indent="-342900">
              <a:lnSpc>
                <a:spcPct val="125000"/>
              </a:lnSpc>
              <a:buSzPct val="100000"/>
              <a:buChar char="●"/>
            </a:pPr>
            <a:r>
              <a:rPr lang="en-US" sz="1100" b="1" dirty="0">
                <a:solidFill>
                  <a:srgbClr val="222222"/>
                </a:solidFill>
                <a:latin typeface="Calibri" pitchFamily="34" charset="0"/>
                <a:ea typeface="Calibri" pitchFamily="34" charset="-122"/>
                <a:cs typeface="Calibri" pitchFamily="34" charset="-120"/>
              </a:rPr>
              <a:t>時間帯別の回答数</a:t>
            </a:r>
            <a:pPr indent="0" marL="0">
              <a:lnSpc>
                <a:spcPct val="125000"/>
              </a:lnSpc>
              <a:buNone/>
            </a:pPr>
            <a:r>
              <a:rPr lang="en-US" sz="1100" dirty="0">
                <a:solidFill>
                  <a:srgbClr val="222222"/>
                </a:solidFill>
                <a:latin typeface="Calibri" pitchFamily="34" charset="0"/>
                <a:ea typeface="Calibri" pitchFamily="34" charset="-122"/>
                <a:cs typeface="Calibri" pitchFamily="34" charset="-120"/>
              </a:rPr>
              <a:t>のグラフ</a:t>
            </a:r>
            <a:endParaRPr lang="en-US" sz="1100" dirty="0"/>
          </a:p>
        </p:txBody>
      </p:sp>
      <p:sp>
        <p:nvSpPr>
          <p:cNvPr id="9" name="Text 7"/>
          <p:cNvSpPr txBox="1"/>
          <p:nvPr/>
        </p:nvSpPr>
        <p:spPr>
          <a:xfrm>
            <a:off x="713232" y="2878201"/>
            <a:ext cx="6281928" cy="257429"/>
          </a:xfrm>
          <a:prstGeom prst="rect">
            <a:avLst/>
          </a:prstGeom>
          <a:noFill/>
          <a:ln/>
        </p:spPr>
        <p:txBody>
          <a:bodyPr wrap="square" lIns="0" tIns="0" rIns="0" bIns="0" rtlCol="0" anchor="t"/>
          <a:lstStyle/>
          <a:p>
            <a:pPr marL="342900" indent="-342900">
              <a:lnSpc>
                <a:spcPct val="125000"/>
              </a:lnSpc>
              <a:buSzPct val="100000"/>
              <a:buChar char="●"/>
            </a:pPr>
            <a:r>
              <a:rPr lang="en-US" sz="1100" b="1" dirty="0">
                <a:solidFill>
                  <a:srgbClr val="222222"/>
                </a:solidFill>
                <a:latin typeface="Calibri" pitchFamily="34" charset="0"/>
                <a:ea typeface="Calibri" pitchFamily="34" charset="-122"/>
                <a:cs typeface="Calibri" pitchFamily="34" charset="-120"/>
              </a:rPr>
              <a:t>設問ごとの集計</a:t>
            </a:r>
            <a:pPr indent="0" marL="0">
              <a:lnSpc>
                <a:spcPct val="125000"/>
              </a:lnSpc>
              <a:buNone/>
            </a:pPr>
            <a:r>
              <a:rPr lang="en-US" sz="1100" dirty="0">
                <a:solidFill>
                  <a:srgbClr val="222222"/>
                </a:solidFill>
                <a:latin typeface="Calibri" pitchFamily="34" charset="0"/>
                <a:ea typeface="Calibri" pitchFamily="34" charset="-122"/>
                <a:cs typeface="Calibri" pitchFamily="34" charset="-120"/>
              </a:rPr>
              <a:t>（選択式は棒グラフ、星評価は平均、NPSはスコア、自由記述は一覧）</a:t>
            </a:r>
            <a:endParaRPr lang="en-US" sz="1100" dirty="0"/>
          </a:p>
        </p:txBody>
      </p:sp>
      <p:sp>
        <p:nvSpPr>
          <p:cNvPr id="10" name="Shape 8"/>
          <p:cNvSpPr/>
          <p:nvPr/>
        </p:nvSpPr>
        <p:spPr>
          <a:xfrm>
            <a:off x="566928" y="3153918"/>
            <a:ext cx="6428232" cy="431102"/>
          </a:xfrm>
          <a:prstGeom prst="roundRect">
            <a:avLst>
              <a:gd name="adj" fmla="val 12726"/>
            </a:avLst>
          </a:prstGeom>
          <a:solidFill>
            <a:srgbClr val="E3F0F4"/>
          </a:solidFill>
          <a:ln w="9525">
            <a:solidFill>
              <a:srgbClr val="1C7293"/>
            </a:solidFill>
            <a:prstDash val="solid"/>
          </a:ln>
        </p:spPr>
      </p:sp>
      <p:sp>
        <p:nvSpPr>
          <p:cNvPr id="11" name="Text 9"/>
          <p:cNvSpPr txBox="1"/>
          <p:nvPr/>
        </p:nvSpPr>
        <p:spPr>
          <a:xfrm>
            <a:off x="658368" y="3245358"/>
            <a:ext cx="237744" cy="237744"/>
          </a:xfrm>
          <a:prstGeom prst="rect">
            <a:avLst/>
          </a:prstGeom>
          <a:noFill/>
          <a:ln/>
        </p:spPr>
        <p:txBody>
          <a:bodyPr wrap="square" lIns="0" tIns="0" rIns="0" bIns="0" rtlCol="0" anchor="ctr"/>
          <a:lstStyle/>
          <a:p>
            <a:pPr algn="ctr" indent="0" marL="0">
              <a:buNone/>
            </a:pPr>
            <a:r>
              <a:rPr lang="en-US" sz="1200" b="1" dirty="0">
                <a:solidFill>
                  <a:srgbClr val="1C7293"/>
                </a:solidFill>
                <a:latin typeface="Calibri" pitchFamily="34" charset="0"/>
                <a:ea typeface="Calibri" pitchFamily="34" charset="-122"/>
                <a:cs typeface="Calibri" pitchFamily="34" charset="-120"/>
              </a:rPr>
              <a:t>i</a:t>
            </a:r>
            <a:endParaRPr lang="en-US" sz="1200" dirty="0"/>
          </a:p>
        </p:txBody>
      </p:sp>
      <p:sp>
        <p:nvSpPr>
          <p:cNvPr id="12" name="Text 10"/>
          <p:cNvSpPr txBox="1"/>
          <p:nvPr/>
        </p:nvSpPr>
        <p:spPr>
          <a:xfrm>
            <a:off x="950976" y="3263646"/>
            <a:ext cx="5925312" cy="248221"/>
          </a:xfrm>
          <a:prstGeom prst="rect">
            <a:avLst/>
          </a:prstGeom>
          <a:noFill/>
          <a:ln/>
        </p:spPr>
        <p:txBody>
          <a:bodyPr wrap="square" lIns="0" tIns="0" rIns="0" bIns="0" rtlCol="0" anchor="t"/>
          <a:lstStyle/>
          <a:p>
            <a:pPr indent="0" marL="0">
              <a:lnSpc>
                <a:spcPct val="120000"/>
              </a:lnSpc>
              <a:buNone/>
            </a:pPr>
            <a:r>
              <a:rPr lang="en-US" sz="1050" dirty="0">
                <a:solidFill>
                  <a:srgbClr val="222222"/>
                </a:solidFill>
                <a:latin typeface="Calibri" pitchFamily="34" charset="0"/>
                <a:ea typeface="Calibri" pitchFamily="34" charset="-122"/>
                <a:cs typeface="Calibri" pitchFamily="34" charset="-120"/>
              </a:rPr>
              <a:t>数字は回答されるたびに更新されます。画面を再読み込みすると最新になります。</a:t>
            </a:r>
            <a:endParaRPr lang="en-US" sz="1050" dirty="0"/>
          </a:p>
        </p:txBody>
      </p:sp>
      <p:sp>
        <p:nvSpPr>
          <p:cNvPr id="13" name="Text 11"/>
          <p:cNvSpPr txBox="1"/>
          <p:nvPr/>
        </p:nvSpPr>
        <p:spPr>
          <a:xfrm>
            <a:off x="566928" y="3767900"/>
            <a:ext cx="6428232" cy="257810"/>
          </a:xfrm>
          <a:prstGeom prst="rect">
            <a:avLst/>
          </a:prstGeom>
          <a:noFill/>
          <a:ln/>
        </p:spPr>
        <p:txBody>
          <a:bodyPr wrap="square" lIns="0" tIns="0" rIns="0" bIns="0" rtlCol="0" anchor="t"/>
          <a:lstStyle/>
          <a:p>
            <a:pPr indent="0" marL="0">
              <a:buNone/>
            </a:pPr>
            <a:r>
              <a:rPr lang="en-US" sz="1400" b="1" dirty="0">
                <a:solidFill>
                  <a:srgbClr val="1C7293"/>
                </a:solidFill>
                <a:latin typeface="Calibri" pitchFamily="34" charset="0"/>
                <a:ea typeface="Calibri" pitchFamily="34" charset="-122"/>
                <a:cs typeface="Calibri" pitchFamily="34" charset="-120"/>
              </a:rPr>
              <a:t>同じ来場者が2回答えたとき</a:t>
            </a:r>
            <a:endParaRPr lang="en-US" sz="1400" dirty="0"/>
          </a:p>
        </p:txBody>
      </p:sp>
      <p:sp>
        <p:nvSpPr>
          <p:cNvPr id="14" name="Text 12"/>
          <p:cNvSpPr txBox="1"/>
          <p:nvPr/>
        </p:nvSpPr>
        <p:spPr>
          <a:xfrm>
            <a:off x="566928" y="4098862"/>
            <a:ext cx="6428232" cy="459994"/>
          </a:xfrm>
          <a:prstGeom prst="rect">
            <a:avLst/>
          </a:prstGeom>
          <a:noFill/>
          <a:ln/>
        </p:spPr>
        <p:txBody>
          <a:bodyPr wrap="square" lIns="0" tIns="0" rIns="0" bIns="0" rtlCol="0" anchor="t"/>
          <a:lstStyle/>
          <a:p>
            <a:pPr indent="0" marL="0">
              <a:lnSpc>
                <a:spcPct val="125000"/>
              </a:lnSpc>
              <a:buNone/>
            </a:pPr>
            <a:r>
              <a:rPr lang="en-US" sz="1100" dirty="0">
                <a:solidFill>
                  <a:srgbClr val="222222"/>
                </a:solidFill>
                <a:latin typeface="Calibri" pitchFamily="34" charset="0"/>
                <a:ea typeface="Calibri" pitchFamily="34" charset="-122"/>
                <a:cs typeface="Calibri" pitchFamily="34" charset="-120"/>
              </a:rPr>
              <a:t>同じ方が自社のQRコードをもう一度読み取ると、来場者の画面には</a:t>
            </a:r>
            <a:pPr indent="0" marL="0">
              <a:lnSpc>
                <a:spcPct val="125000"/>
              </a:lnSpc>
              <a:buNone/>
            </a:pPr>
            <a:r>
              <a:rPr lang="en-US" sz="1100" b="1" dirty="0">
                <a:solidFill>
                  <a:srgbClr val="222222"/>
                </a:solidFill>
                <a:latin typeface="Calibri" pitchFamily="34" charset="0"/>
                <a:ea typeface="Calibri" pitchFamily="34" charset="-122"/>
                <a:cs typeface="Calibri" pitchFamily="34" charset="-120"/>
              </a:rPr>
              <a:t>前回の回答が入った状態</a:t>
            </a:r>
            <a:pPr indent="0" marL="0">
              <a:lnSpc>
                <a:spcPct val="125000"/>
              </a:lnSpc>
              <a:buNone/>
            </a:pPr>
            <a:r>
              <a:rPr lang="en-US" sz="1100" dirty="0">
                <a:solidFill>
                  <a:srgbClr val="222222"/>
                </a:solidFill>
                <a:latin typeface="Calibri" pitchFamily="34" charset="0"/>
                <a:ea typeface="Calibri" pitchFamily="34" charset="-122"/>
                <a:cs typeface="Calibri" pitchFamily="34" charset="-120"/>
              </a:rPr>
              <a:t>で表示され、書き換えると</a:t>
            </a:r>
            <a:pPr indent="0" marL="0">
              <a:lnSpc>
                <a:spcPct val="125000"/>
              </a:lnSpc>
              <a:buNone/>
            </a:pPr>
            <a:r>
              <a:rPr lang="en-US" sz="1100" b="1" dirty="0">
                <a:solidFill>
                  <a:srgbClr val="222222"/>
                </a:solidFill>
                <a:latin typeface="Calibri" pitchFamily="34" charset="0"/>
                <a:ea typeface="Calibri" pitchFamily="34" charset="-122"/>
                <a:cs typeface="Calibri" pitchFamily="34" charset="-120"/>
              </a:rPr>
              <a:t>前の回答が置き換わります</a:t>
            </a:r>
            <a:pPr indent="0" marL="0">
              <a:lnSpc>
                <a:spcPct val="125000"/>
              </a:lnSpc>
              <a:buNone/>
            </a:pPr>
            <a:r>
              <a:rPr lang="en-US" sz="1100" dirty="0">
                <a:solidFill>
                  <a:srgbClr val="222222"/>
                </a:solidFill>
                <a:latin typeface="Calibri" pitchFamily="34" charset="0"/>
                <a:ea typeface="Calibri" pitchFamily="34" charset="-122"/>
                <a:cs typeface="Calibri" pitchFamily="34" charset="-120"/>
              </a:rPr>
              <a:t>。回答数は増えません。</a:t>
            </a:r>
            <a:endParaRPr lang="en-US" sz="1100" dirty="0"/>
          </a:p>
        </p:txBody>
      </p:sp>
      <p:sp>
        <p:nvSpPr>
          <p:cNvPr id="15" name="Shape 13"/>
          <p:cNvSpPr/>
          <p:nvPr/>
        </p:nvSpPr>
        <p:spPr>
          <a:xfrm>
            <a:off x="566928" y="4595432"/>
            <a:ext cx="6428232" cy="624459"/>
          </a:xfrm>
          <a:prstGeom prst="roundRect">
            <a:avLst>
              <a:gd name="adj" fmla="val 8786"/>
            </a:avLst>
          </a:prstGeom>
          <a:solidFill>
            <a:srgbClr val="FDF0E6"/>
          </a:solidFill>
          <a:ln w="9525">
            <a:solidFill>
              <a:srgbClr val="E08A3C"/>
            </a:solidFill>
            <a:prstDash val="solid"/>
          </a:ln>
        </p:spPr>
      </p:sp>
      <p:sp>
        <p:nvSpPr>
          <p:cNvPr id="16" name="Text 14"/>
          <p:cNvSpPr txBox="1"/>
          <p:nvPr/>
        </p:nvSpPr>
        <p:spPr>
          <a:xfrm>
            <a:off x="658368" y="4686871"/>
            <a:ext cx="237744" cy="237744"/>
          </a:xfrm>
          <a:prstGeom prst="rect">
            <a:avLst/>
          </a:prstGeom>
          <a:noFill/>
          <a:ln/>
        </p:spPr>
        <p:txBody>
          <a:bodyPr wrap="square" lIns="0" tIns="0" rIns="0" bIns="0" rtlCol="0" anchor="ctr"/>
          <a:lstStyle/>
          <a:p>
            <a:pPr algn="ctr" indent="0" marL="0">
              <a:buNone/>
            </a:pPr>
            <a:r>
              <a:rPr lang="en-US" sz="1200" b="1" dirty="0">
                <a:solidFill>
                  <a:srgbClr val="C25A17"/>
                </a:solidFill>
                <a:latin typeface="Calibri" pitchFamily="34" charset="0"/>
                <a:ea typeface="Calibri" pitchFamily="34" charset="-122"/>
                <a:cs typeface="Calibri" pitchFamily="34" charset="-120"/>
              </a:rPr>
              <a:t>！</a:t>
            </a:r>
            <a:endParaRPr lang="en-US" sz="1200" dirty="0"/>
          </a:p>
        </p:txBody>
      </p:sp>
      <p:sp>
        <p:nvSpPr>
          <p:cNvPr id="17" name="Text 15"/>
          <p:cNvSpPr txBox="1"/>
          <p:nvPr/>
        </p:nvSpPr>
        <p:spPr>
          <a:xfrm>
            <a:off x="950976" y="4705160"/>
            <a:ext cx="5925312" cy="441579"/>
          </a:xfrm>
          <a:prstGeom prst="rect">
            <a:avLst/>
          </a:prstGeom>
          <a:noFill/>
          <a:ln/>
        </p:spPr>
        <p:txBody>
          <a:bodyPr wrap="square" lIns="0" tIns="0" rIns="0" bIns="0" rtlCol="0" anchor="t"/>
          <a:lstStyle/>
          <a:p>
            <a:pPr indent="0" marL="0">
              <a:lnSpc>
                <a:spcPct val="120000"/>
              </a:lnSpc>
              <a:buNone/>
            </a:pPr>
            <a:r>
              <a:rPr lang="en-US" sz="1050" dirty="0">
                <a:solidFill>
                  <a:srgbClr val="222222"/>
                </a:solidFill>
                <a:latin typeface="Calibri" pitchFamily="34" charset="0"/>
                <a:ea typeface="Calibri" pitchFamily="34" charset="-122"/>
                <a:cs typeface="Calibri" pitchFamily="34" charset="-120"/>
              </a:rPr>
              <a:t>このため、</a:t>
            </a:r>
            <a:pPr indent="0" marL="0">
              <a:lnSpc>
                <a:spcPct val="120000"/>
              </a:lnSpc>
              <a:buNone/>
            </a:pPr>
            <a:r>
              <a:rPr lang="en-US" sz="1050" b="1" dirty="0">
                <a:solidFill>
                  <a:srgbClr val="222222"/>
                </a:solidFill>
                <a:latin typeface="Calibri" pitchFamily="34" charset="0"/>
                <a:ea typeface="Calibri" pitchFamily="34" charset="-122"/>
                <a:cs typeface="Calibri" pitchFamily="34" charset="-120"/>
              </a:rPr>
              <a:t>一度見た集計の数字があとから変わることがあります</a:t>
            </a:r>
            <a:pPr indent="0" marL="0">
              <a:lnSpc>
                <a:spcPct val="120000"/>
              </a:lnSpc>
              <a:buNone/>
            </a:pPr>
            <a:r>
              <a:rPr lang="en-US" sz="1050" dirty="0">
                <a:solidFill>
                  <a:srgbClr val="222222"/>
                </a:solidFill>
                <a:latin typeface="Calibri" pitchFamily="34" charset="0"/>
                <a:ea typeface="Calibri" pitchFamily="34" charset="-122"/>
                <a:cs typeface="Calibri" pitchFamily="34" charset="-120"/>
              </a:rPr>
              <a:t>（★4が★2になる、など）。ダッシュボードの「修正された回答」で、書き直しが何件あったか分かります。</a:t>
            </a:r>
            <a:endParaRPr lang="en-US" sz="1050" dirty="0"/>
          </a:p>
        </p:txBody>
      </p:sp>
      <p:pic>
        <p:nvPicPr>
          <p:cNvPr id="18" name="Image 0" descr="C:\Users\sato\Desktop\enque\docs\images\c-stats.png">    </p:cNvPr>
          <p:cNvPicPr>
            <a:picLocks noChangeAspect="1"/>
          </p:cNvPicPr>
          <p:nvPr/>
        </p:nvPicPr>
        <p:blipFill>
          <a:blip r:embed="rId1"/>
          <a:stretch>
            <a:fillRect/>
          </a:stretch>
        </p:blipFill>
        <p:spPr>
          <a:xfrm>
            <a:off x="2140821" y="5293043"/>
            <a:ext cx="3280447" cy="3474720"/>
          </a:xfrm>
          <a:prstGeom prst="rect">
            <a:avLst/>
          </a:prstGeom>
        </p:spPr>
      </p:pic>
      <p:sp>
        <p:nvSpPr>
          <p:cNvPr id="19" name="Text 16"/>
          <p:cNvSpPr txBox="1"/>
          <p:nvPr/>
        </p:nvSpPr>
        <p:spPr>
          <a:xfrm>
            <a:off x="566928" y="8822627"/>
            <a:ext cx="6428232" cy="274320"/>
          </a:xfrm>
          <a:prstGeom prst="rect">
            <a:avLst/>
          </a:prstGeom>
          <a:noFill/>
          <a:ln/>
        </p:spPr>
        <p:txBody>
          <a:bodyPr wrap="square" lIns="0" tIns="0" rIns="0" bIns="0" rtlCol="0" anchor="ctr"/>
          <a:lstStyle/>
          <a:p>
            <a:pPr algn="ctr" indent="0" marL="0">
              <a:buNone/>
            </a:pPr>
            <a:r>
              <a:rPr lang="en-US" sz="950" dirty="0">
                <a:solidFill>
                  <a:srgbClr val="6B6B6B"/>
                </a:solidFill>
                <a:latin typeface="Calibri" pitchFamily="34" charset="0"/>
                <a:ea typeface="Calibri" pitchFamily="34" charset="-122"/>
                <a:cs typeface="Calibri" pitchFamily="34" charset="-120"/>
              </a:rPr>
              <a:t>設問ごとの集計グラフ（棒グラフとNPS・星評価の数字が見えるもの）。</a:t>
            </a:r>
            <a:endParaRPr lang="en-US" sz="950" dirty="0"/>
          </a:p>
        </p:txBody>
      </p:sp>
      <p:sp>
        <p:nvSpPr>
          <p:cNvPr id="20" name="Text 17"/>
          <p:cNvSpPr txBox="1"/>
          <p:nvPr/>
        </p:nvSpPr>
        <p:spPr>
          <a:xfrm>
            <a:off x="566928" y="10186416"/>
            <a:ext cx="6428232" cy="228600"/>
          </a:xfrm>
          <a:prstGeom prst="rect">
            <a:avLst/>
          </a:prstGeom>
          <a:noFill/>
          <a:ln/>
        </p:spPr>
        <p:txBody>
          <a:bodyPr wrap="square" lIns="0" tIns="0" rIns="0" bIns="0" rtlCol="0" anchor="ctr"/>
          <a:lstStyle/>
          <a:p>
            <a:pPr algn="r" indent="0" marL="0">
              <a:buNone/>
            </a:pPr>
            <a:r>
              <a:rPr lang="en-US" sz="900" dirty="0">
                <a:solidFill>
                  <a:srgbClr val="6B6B6B"/>
                </a:solidFill>
                <a:latin typeface="Calibri" pitchFamily="34" charset="0"/>
                <a:ea typeface="Calibri" pitchFamily="34" charset="-122"/>
                <a:cs typeface="Calibri" pitchFamily="34" charset="-120"/>
              </a:rPr>
              <a:t>企業担当者向け　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457200"/>
            <a:ext cx="6428232" cy="237744"/>
          </a:xfrm>
          <a:prstGeom prst="rect">
            <a:avLst/>
          </a:prstGeom>
          <a:noFill/>
          <a:ln/>
        </p:spPr>
        <p:txBody>
          <a:bodyPr wrap="square" lIns="0" tIns="0" rIns="0" bIns="0" rtlCol="0" anchor="ctr"/>
          <a:lstStyle/>
          <a:p>
            <a:pPr indent="0" marL="0">
              <a:buNone/>
            </a:pPr>
            <a:r>
              <a:rPr lang="en-US" sz="1000" b="1" dirty="0">
                <a:solidFill>
                  <a:srgbClr val="1C7293"/>
                </a:solidFill>
                <a:latin typeface="Calibri" pitchFamily="34" charset="0"/>
                <a:ea typeface="Calibri" pitchFamily="34" charset="-122"/>
                <a:cs typeface="Calibri" pitchFamily="34" charset="-120"/>
              </a:rPr>
              <a:t>企業担当者マニュアル</a:t>
            </a:r>
            <a:endParaRPr lang="en-US" sz="1000" dirty="0"/>
          </a:p>
        </p:txBody>
      </p:sp>
      <p:sp>
        <p:nvSpPr>
          <p:cNvPr id="3" name="Text 1"/>
          <p:cNvSpPr txBox="1"/>
          <p:nvPr/>
        </p:nvSpPr>
        <p:spPr>
          <a:xfrm>
            <a:off x="566928" y="713232"/>
            <a:ext cx="6428232" cy="640080"/>
          </a:xfrm>
          <a:prstGeom prst="rect">
            <a:avLst/>
          </a:prstGeom>
          <a:noFill/>
          <a:ln/>
        </p:spPr>
        <p:txBody>
          <a:bodyPr wrap="square" lIns="0" tIns="0" rIns="0" bIns="0" rtlCol="0" anchor="t"/>
          <a:lstStyle/>
          <a:p>
            <a:pPr indent="0" marL="0">
              <a:buNone/>
            </a:pPr>
            <a:r>
              <a:rPr lang="en-US" sz="2200" b="1" dirty="0">
                <a:solidFill>
                  <a:srgbClr val="222222"/>
                </a:solidFill>
                <a:latin typeface="Calibri" pitchFamily="34" charset="0"/>
                <a:ea typeface="Calibri" pitchFamily="34" charset="-122"/>
                <a:cs typeface="Calibri" pitchFamily="34" charset="-120"/>
              </a:rPr>
              <a:t>回答の一覧とCSV</a:t>
            </a:r>
            <a:endParaRPr lang="en-US" sz="2200" dirty="0"/>
          </a:p>
        </p:txBody>
      </p:sp>
      <p:sp>
        <p:nvSpPr>
          <p:cNvPr id="4" name="Text 2"/>
          <p:cNvSpPr txBox="1"/>
          <p:nvPr/>
        </p:nvSpPr>
        <p:spPr>
          <a:xfrm>
            <a:off x="566928" y="1591056"/>
            <a:ext cx="6428232" cy="257810"/>
          </a:xfrm>
          <a:prstGeom prst="rect">
            <a:avLst/>
          </a:prstGeom>
          <a:noFill/>
          <a:ln/>
        </p:spPr>
        <p:txBody>
          <a:bodyPr wrap="square" lIns="0" tIns="0" rIns="0" bIns="0" rtlCol="0" anchor="t"/>
          <a:lstStyle/>
          <a:p>
            <a:pPr indent="0" marL="0">
              <a:buNone/>
            </a:pPr>
            <a:r>
              <a:rPr lang="en-US" sz="1400" b="1" dirty="0">
                <a:solidFill>
                  <a:srgbClr val="1C7293"/>
                </a:solidFill>
                <a:latin typeface="Calibri" pitchFamily="34" charset="0"/>
                <a:ea typeface="Calibri" pitchFamily="34" charset="-122"/>
                <a:cs typeface="Calibri" pitchFamily="34" charset="-120"/>
              </a:rPr>
              <a:t>一覧で見る</a:t>
            </a:r>
            <a:endParaRPr lang="en-US" sz="1400" dirty="0"/>
          </a:p>
        </p:txBody>
      </p:sp>
      <p:sp>
        <p:nvSpPr>
          <p:cNvPr id="5" name="Text 3"/>
          <p:cNvSpPr txBox="1"/>
          <p:nvPr/>
        </p:nvSpPr>
        <p:spPr>
          <a:xfrm>
            <a:off x="566928" y="1922018"/>
            <a:ext cx="6428232" cy="459994"/>
          </a:xfrm>
          <a:prstGeom prst="rect">
            <a:avLst/>
          </a:prstGeom>
          <a:noFill/>
          <a:ln/>
        </p:spPr>
        <p:txBody>
          <a:bodyPr wrap="square" lIns="0" tIns="0" rIns="0" bIns="0" rtlCol="0" anchor="t"/>
          <a:lstStyle/>
          <a:p>
            <a:pPr indent="0" marL="0">
              <a:lnSpc>
                <a:spcPct val="125000"/>
              </a:lnSpc>
              <a:buNone/>
            </a:pPr>
            <a:r>
              <a:rPr lang="en-US" sz="1100" dirty="0">
                <a:solidFill>
                  <a:srgbClr val="222222"/>
                </a:solidFill>
                <a:latin typeface="Calibri" pitchFamily="34" charset="0"/>
                <a:ea typeface="Calibri" pitchFamily="34" charset="-122"/>
                <a:cs typeface="Calibri" pitchFamily="34" charset="-120"/>
              </a:rPr>
              <a:t>ダッシュボードの</a:t>
            </a:r>
            <a:pPr indent="0" marL="0">
              <a:lnSpc>
                <a:spcPct val="125000"/>
              </a:lnSpc>
              <a:buNone/>
            </a:pPr>
            <a:r>
              <a:rPr lang="en-US" sz="1100" b="1" dirty="0">
                <a:solidFill>
                  <a:srgbClr val="222222"/>
                </a:solidFill>
                <a:latin typeface="Calibri" pitchFamily="34" charset="0"/>
                <a:ea typeface="Calibri" pitchFamily="34" charset="-122"/>
                <a:cs typeface="Calibri" pitchFamily="34" charset="-120"/>
              </a:rPr>
              <a:t>「回答一覧」</a:t>
            </a:r>
            <a:pPr indent="0" marL="0">
              <a:lnSpc>
                <a:spcPct val="125000"/>
              </a:lnSpc>
              <a:buNone/>
            </a:pPr>
            <a:r>
              <a:rPr lang="en-US" sz="1100" dirty="0">
                <a:solidFill>
                  <a:srgbClr val="222222"/>
                </a:solidFill>
                <a:latin typeface="Calibri" pitchFamily="34" charset="0"/>
                <a:ea typeface="Calibri" pitchFamily="34" charset="-122"/>
                <a:cs typeface="Calibri" pitchFamily="34" charset="-120"/>
              </a:rPr>
              <a:t>を押すと、1件ずつの回答内容を新しい順に確認できます（1ページ50件）。</a:t>
            </a:r>
            <a:endParaRPr lang="en-US" sz="1100" dirty="0"/>
          </a:p>
        </p:txBody>
      </p:sp>
      <p:sp>
        <p:nvSpPr>
          <p:cNvPr id="6" name="Text 4"/>
          <p:cNvSpPr txBox="1"/>
          <p:nvPr/>
        </p:nvSpPr>
        <p:spPr>
          <a:xfrm>
            <a:off x="566928" y="2528316"/>
            <a:ext cx="6428232" cy="257810"/>
          </a:xfrm>
          <a:prstGeom prst="rect">
            <a:avLst/>
          </a:prstGeom>
          <a:noFill/>
          <a:ln/>
        </p:spPr>
        <p:txBody>
          <a:bodyPr wrap="square" lIns="0" tIns="0" rIns="0" bIns="0" rtlCol="0" anchor="t"/>
          <a:lstStyle/>
          <a:p>
            <a:pPr indent="0" marL="0">
              <a:buNone/>
            </a:pPr>
            <a:r>
              <a:rPr lang="en-US" sz="1400" b="1" dirty="0">
                <a:solidFill>
                  <a:srgbClr val="1C7293"/>
                </a:solidFill>
                <a:latin typeface="Calibri" pitchFamily="34" charset="0"/>
                <a:ea typeface="Calibri" pitchFamily="34" charset="-122"/>
                <a:cs typeface="Calibri" pitchFamily="34" charset="-120"/>
              </a:rPr>
              <a:t>CSVでダウンロードする</a:t>
            </a:r>
            <a:endParaRPr lang="en-US" sz="1400" dirty="0"/>
          </a:p>
        </p:txBody>
      </p:sp>
      <p:sp>
        <p:nvSpPr>
          <p:cNvPr id="7" name="Text 5"/>
          <p:cNvSpPr txBox="1"/>
          <p:nvPr/>
        </p:nvSpPr>
        <p:spPr>
          <a:xfrm>
            <a:off x="566928" y="2859278"/>
            <a:ext cx="6428232" cy="257429"/>
          </a:xfrm>
          <a:prstGeom prst="rect">
            <a:avLst/>
          </a:prstGeom>
          <a:noFill/>
          <a:ln/>
        </p:spPr>
        <p:txBody>
          <a:bodyPr wrap="square" lIns="0" tIns="0" rIns="0" bIns="0" rtlCol="0" anchor="t"/>
          <a:lstStyle/>
          <a:p>
            <a:pPr indent="0" marL="0">
              <a:lnSpc>
                <a:spcPct val="125000"/>
              </a:lnSpc>
              <a:buNone/>
            </a:pPr>
            <a:r>
              <a:rPr lang="en-US" sz="1100" b="1" dirty="0">
                <a:solidFill>
                  <a:srgbClr val="222222"/>
                </a:solidFill>
                <a:latin typeface="Calibri" pitchFamily="34" charset="0"/>
                <a:ea typeface="Calibri" pitchFamily="34" charset="-122"/>
                <a:cs typeface="Calibri" pitchFamily="34" charset="-120"/>
              </a:rPr>
              <a:t>「CSVダウンロード」</a:t>
            </a:r>
            <a:pPr indent="0" marL="0">
              <a:lnSpc>
                <a:spcPct val="125000"/>
              </a:lnSpc>
              <a:buNone/>
            </a:pPr>
            <a:r>
              <a:rPr lang="en-US" sz="1100" dirty="0">
                <a:solidFill>
                  <a:srgbClr val="222222"/>
                </a:solidFill>
                <a:latin typeface="Calibri" pitchFamily="34" charset="0"/>
                <a:ea typeface="Calibri" pitchFamily="34" charset="-122"/>
                <a:cs typeface="Calibri" pitchFamily="34" charset="-120"/>
              </a:rPr>
              <a:t>を押すと、自社ぶんの回答がCSVファイルで保存されます。</a:t>
            </a:r>
            <a:endParaRPr lang="en-US" sz="1100" dirty="0"/>
          </a:p>
        </p:txBody>
      </p:sp>
      <p:sp>
        <p:nvSpPr>
          <p:cNvPr id="8" name="Text 6"/>
          <p:cNvSpPr txBox="1"/>
          <p:nvPr/>
        </p:nvSpPr>
        <p:spPr>
          <a:xfrm>
            <a:off x="713232" y="3153283"/>
            <a:ext cx="6281928" cy="257429"/>
          </a:xfrm>
          <a:prstGeom prst="rect">
            <a:avLst/>
          </a:prstGeom>
          <a:noFill/>
          <a:ln/>
        </p:spPr>
        <p:txBody>
          <a:bodyPr wrap="square" lIns="0" tIns="0" rIns="0" bIns="0" rtlCol="0" anchor="t"/>
          <a:lstStyle/>
          <a:p>
            <a:pPr marL="342900" indent="-342900">
              <a:lnSpc>
                <a:spcPct val="125000"/>
              </a:lnSpc>
              <a:buSzPct val="100000"/>
              <a:buChar char="●"/>
            </a:pPr>
            <a:r>
              <a:rPr lang="en-US" sz="1100" b="1" dirty="0">
                <a:solidFill>
                  <a:srgbClr val="222222"/>
                </a:solidFill>
                <a:latin typeface="Calibri" pitchFamily="34" charset="0"/>
                <a:ea typeface="Calibri" pitchFamily="34" charset="-122"/>
                <a:cs typeface="Calibri" pitchFamily="34" charset="-120"/>
              </a:rPr>
              <a:t>UTF-8（BOM付き）</a:t>
            </a:r>
            <a:pPr indent="0" marL="0">
              <a:lnSpc>
                <a:spcPct val="125000"/>
              </a:lnSpc>
              <a:buNone/>
            </a:pPr>
            <a:r>
              <a:rPr lang="en-US" sz="1100" dirty="0">
                <a:solidFill>
                  <a:srgbClr val="222222"/>
                </a:solidFill>
                <a:latin typeface="Calibri" pitchFamily="34" charset="0"/>
                <a:ea typeface="Calibri" pitchFamily="34" charset="-122"/>
                <a:cs typeface="Calibri" pitchFamily="34" charset="-120"/>
              </a:rPr>
              <a:t>なので、Excelでそのまま開けます</a:t>
            </a:r>
            <a:endParaRPr lang="en-US" sz="1100" dirty="0"/>
          </a:p>
        </p:txBody>
      </p:sp>
      <p:sp>
        <p:nvSpPr>
          <p:cNvPr id="9" name="Text 7"/>
          <p:cNvSpPr txBox="1"/>
          <p:nvPr/>
        </p:nvSpPr>
        <p:spPr>
          <a:xfrm>
            <a:off x="713232" y="3429000"/>
            <a:ext cx="6281928" cy="257429"/>
          </a:xfrm>
          <a:prstGeom prst="rect">
            <a:avLst/>
          </a:prstGeom>
          <a:noFill/>
          <a:ln/>
        </p:spPr>
        <p:txBody>
          <a:bodyPr wrap="square" lIns="0" tIns="0" rIns="0" bIns="0" rtlCol="0" anchor="t"/>
          <a:lstStyle/>
          <a:p>
            <a:pPr marL="342900" indent="-342900">
              <a:lnSpc>
                <a:spcPct val="125000"/>
              </a:lnSpc>
              <a:buSzPct val="100000"/>
              <a:buChar char="●"/>
            </a:pPr>
            <a:r>
              <a:rPr lang="en-US" sz="1100" dirty="0">
                <a:solidFill>
                  <a:srgbClr val="222222"/>
                </a:solidFill>
                <a:latin typeface="Calibri" pitchFamily="34" charset="0"/>
                <a:ea typeface="Calibri" pitchFamily="34" charset="-122"/>
                <a:cs typeface="Calibri" pitchFamily="34" charset="-120"/>
              </a:rPr>
              <a:t>1行が1件の回答、設問が列になります</a:t>
            </a:r>
            <a:endParaRPr lang="en-US" sz="1100" dirty="0"/>
          </a:p>
        </p:txBody>
      </p:sp>
      <p:sp>
        <p:nvSpPr>
          <p:cNvPr id="10" name="Text 8"/>
          <p:cNvSpPr txBox="1"/>
          <p:nvPr/>
        </p:nvSpPr>
        <p:spPr>
          <a:xfrm>
            <a:off x="713232" y="3704717"/>
            <a:ext cx="6281928" cy="257429"/>
          </a:xfrm>
          <a:prstGeom prst="rect">
            <a:avLst/>
          </a:prstGeom>
          <a:noFill/>
          <a:ln/>
        </p:spPr>
        <p:txBody>
          <a:bodyPr wrap="square" lIns="0" tIns="0" rIns="0" bIns="0" rtlCol="0" anchor="t"/>
          <a:lstStyle/>
          <a:p>
            <a:pPr marL="342900" indent="-342900">
              <a:lnSpc>
                <a:spcPct val="125000"/>
              </a:lnSpc>
              <a:buSzPct val="100000"/>
              <a:buChar char="●"/>
            </a:pPr>
            <a:r>
              <a:rPr lang="en-US" sz="1100" b="1" dirty="0">
                <a:solidFill>
                  <a:srgbClr val="222222"/>
                </a:solidFill>
                <a:latin typeface="Calibri" pitchFamily="34" charset="0"/>
                <a:ea typeface="Calibri" pitchFamily="34" charset="-122"/>
                <a:cs typeface="Calibri" pitchFamily="34" charset="-120"/>
              </a:rPr>
              <a:t>来場者のメールアドレスは含まれません</a:t>
            </a:r>
            <a:pPr indent="0" marL="0">
              <a:lnSpc>
                <a:spcPct val="125000"/>
              </a:lnSpc>
              <a:buNone/>
            </a:pPr>
            <a:r>
              <a:rPr lang="en-US" sz="1100" dirty="0">
                <a:solidFill>
                  <a:srgbClr val="222222"/>
                </a:solidFill>
                <a:latin typeface="Calibri" pitchFamily="34" charset="0"/>
                <a:ea typeface="Calibri" pitchFamily="34" charset="-122"/>
                <a:cs typeface="Calibri" pitchFamily="34" charset="-120"/>
              </a:rPr>
              <a:t>（匿名のIDのみ）</a:t>
            </a:r>
            <a:endParaRPr lang="en-US" sz="1100" dirty="0"/>
          </a:p>
        </p:txBody>
      </p:sp>
      <p:sp>
        <p:nvSpPr>
          <p:cNvPr id="11" name="Shape 9"/>
          <p:cNvSpPr/>
          <p:nvPr/>
        </p:nvSpPr>
        <p:spPr>
          <a:xfrm>
            <a:off x="566928" y="3980434"/>
            <a:ext cx="6428232" cy="624459"/>
          </a:xfrm>
          <a:prstGeom prst="roundRect">
            <a:avLst>
              <a:gd name="adj" fmla="val 8786"/>
            </a:avLst>
          </a:prstGeom>
          <a:solidFill>
            <a:srgbClr val="E3F0F4"/>
          </a:solidFill>
          <a:ln w="9525">
            <a:solidFill>
              <a:srgbClr val="1C7293"/>
            </a:solidFill>
            <a:prstDash val="solid"/>
          </a:ln>
        </p:spPr>
      </p:sp>
      <p:sp>
        <p:nvSpPr>
          <p:cNvPr id="12" name="Text 10"/>
          <p:cNvSpPr txBox="1"/>
          <p:nvPr/>
        </p:nvSpPr>
        <p:spPr>
          <a:xfrm>
            <a:off x="658368" y="4071874"/>
            <a:ext cx="237744" cy="237744"/>
          </a:xfrm>
          <a:prstGeom prst="rect">
            <a:avLst/>
          </a:prstGeom>
          <a:noFill/>
          <a:ln/>
        </p:spPr>
        <p:txBody>
          <a:bodyPr wrap="square" lIns="0" tIns="0" rIns="0" bIns="0" rtlCol="0" anchor="ctr"/>
          <a:lstStyle/>
          <a:p>
            <a:pPr algn="ctr" indent="0" marL="0">
              <a:buNone/>
            </a:pPr>
            <a:r>
              <a:rPr lang="en-US" sz="1200" b="1" dirty="0">
                <a:solidFill>
                  <a:srgbClr val="1C7293"/>
                </a:solidFill>
                <a:latin typeface="Calibri" pitchFamily="34" charset="0"/>
                <a:ea typeface="Calibri" pitchFamily="34" charset="-122"/>
                <a:cs typeface="Calibri" pitchFamily="34" charset="-120"/>
              </a:rPr>
              <a:t>i</a:t>
            </a:r>
            <a:endParaRPr lang="en-US" sz="1200" dirty="0"/>
          </a:p>
        </p:txBody>
      </p:sp>
      <p:sp>
        <p:nvSpPr>
          <p:cNvPr id="13" name="Text 11"/>
          <p:cNvSpPr txBox="1"/>
          <p:nvPr/>
        </p:nvSpPr>
        <p:spPr>
          <a:xfrm>
            <a:off x="950976" y="4090162"/>
            <a:ext cx="5925312" cy="441579"/>
          </a:xfrm>
          <a:prstGeom prst="rect">
            <a:avLst/>
          </a:prstGeom>
          <a:noFill/>
          <a:ln/>
        </p:spPr>
        <p:txBody>
          <a:bodyPr wrap="square" lIns="0" tIns="0" rIns="0" bIns="0" rtlCol="0" anchor="t"/>
          <a:lstStyle/>
          <a:p>
            <a:pPr indent="0" marL="0">
              <a:lnSpc>
                <a:spcPct val="120000"/>
              </a:lnSpc>
              <a:buNone/>
            </a:pPr>
            <a:r>
              <a:rPr lang="en-US" sz="1050" dirty="0">
                <a:solidFill>
                  <a:srgbClr val="222222"/>
                </a:solidFill>
                <a:latin typeface="Calibri" pitchFamily="34" charset="0"/>
                <a:ea typeface="Calibri" pitchFamily="34" charset="-122"/>
                <a:cs typeface="Calibri" pitchFamily="34" charset="-120"/>
              </a:rPr>
              <a:t>「重複を含めて表示」は、書き直しの仕組みが入る前に記録された重複を確認するためのものです。通常は使いません。</a:t>
            </a:r>
            <a:endParaRPr lang="en-US" sz="1050" dirty="0"/>
          </a:p>
        </p:txBody>
      </p:sp>
      <p:pic>
        <p:nvPicPr>
          <p:cNvPr id="14" name="Image 0" descr="C:\Users\sato\Desktop\enque\docs\images\c-responses.png">    </p:cNvPr>
          <p:cNvPicPr>
            <a:picLocks noChangeAspect="1"/>
          </p:cNvPicPr>
          <p:nvPr/>
        </p:nvPicPr>
        <p:blipFill>
          <a:blip r:embed="rId1"/>
          <a:stretch>
            <a:fillRect/>
          </a:stretch>
        </p:blipFill>
        <p:spPr>
          <a:xfrm>
            <a:off x="1828991" y="4678045"/>
            <a:ext cx="3904106" cy="3474720"/>
          </a:xfrm>
          <a:prstGeom prst="rect">
            <a:avLst/>
          </a:prstGeom>
        </p:spPr>
      </p:pic>
      <p:sp>
        <p:nvSpPr>
          <p:cNvPr id="15" name="Text 12"/>
          <p:cNvSpPr txBox="1"/>
          <p:nvPr/>
        </p:nvSpPr>
        <p:spPr>
          <a:xfrm>
            <a:off x="566928" y="8207629"/>
            <a:ext cx="6428232" cy="274320"/>
          </a:xfrm>
          <a:prstGeom prst="rect">
            <a:avLst/>
          </a:prstGeom>
          <a:noFill/>
          <a:ln/>
        </p:spPr>
        <p:txBody>
          <a:bodyPr wrap="square" lIns="0" tIns="0" rIns="0" bIns="0" rtlCol="0" anchor="ctr"/>
          <a:lstStyle/>
          <a:p>
            <a:pPr algn="ctr" indent="0" marL="0">
              <a:buNone/>
            </a:pPr>
            <a:r>
              <a:rPr lang="en-US" sz="950" dirty="0">
                <a:solidFill>
                  <a:srgbClr val="6B6B6B"/>
                </a:solidFill>
                <a:latin typeface="Calibri" pitchFamily="34" charset="0"/>
                <a:ea typeface="Calibri" pitchFamily="34" charset="-122"/>
                <a:cs typeface="Calibri" pitchFamily="34" charset="-120"/>
              </a:rPr>
              <a:t>回答一覧の画面（送信日時と回答内容が並んでいるもの）。</a:t>
            </a:r>
            <a:endParaRPr lang="en-US" sz="950" dirty="0"/>
          </a:p>
        </p:txBody>
      </p:sp>
      <p:sp>
        <p:nvSpPr>
          <p:cNvPr id="16" name="Text 13"/>
          <p:cNvSpPr txBox="1"/>
          <p:nvPr/>
        </p:nvSpPr>
        <p:spPr>
          <a:xfrm>
            <a:off x="566928" y="10186416"/>
            <a:ext cx="6428232" cy="228600"/>
          </a:xfrm>
          <a:prstGeom prst="rect">
            <a:avLst/>
          </a:prstGeom>
          <a:noFill/>
          <a:ln/>
        </p:spPr>
        <p:txBody>
          <a:bodyPr wrap="square" lIns="0" tIns="0" rIns="0" bIns="0" rtlCol="0" anchor="ctr"/>
          <a:lstStyle/>
          <a:p>
            <a:pPr algn="r" indent="0" marL="0">
              <a:buNone/>
            </a:pPr>
            <a:r>
              <a:rPr lang="en-US" sz="900" dirty="0">
                <a:solidFill>
                  <a:srgbClr val="6B6B6B"/>
                </a:solidFill>
                <a:latin typeface="Calibri" pitchFamily="34" charset="0"/>
                <a:ea typeface="Calibri" pitchFamily="34" charset="-122"/>
                <a:cs typeface="Calibri" pitchFamily="34" charset="-120"/>
              </a:rPr>
              <a:t>企業担当者向け　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457200"/>
            <a:ext cx="6428232" cy="237744"/>
          </a:xfrm>
          <a:prstGeom prst="rect">
            <a:avLst/>
          </a:prstGeom>
          <a:noFill/>
          <a:ln/>
        </p:spPr>
        <p:txBody>
          <a:bodyPr wrap="square" lIns="0" tIns="0" rIns="0" bIns="0" rtlCol="0" anchor="ctr"/>
          <a:lstStyle/>
          <a:p>
            <a:pPr indent="0" marL="0">
              <a:buNone/>
            </a:pPr>
            <a:r>
              <a:rPr lang="en-US" sz="1000" b="1" dirty="0">
                <a:solidFill>
                  <a:srgbClr val="1C7293"/>
                </a:solidFill>
                <a:latin typeface="Calibri" pitchFamily="34" charset="0"/>
                <a:ea typeface="Calibri" pitchFamily="34" charset="-122"/>
                <a:cs typeface="Calibri" pitchFamily="34" charset="-120"/>
              </a:rPr>
              <a:t>企業担当者マニュアル</a:t>
            </a:r>
            <a:endParaRPr lang="en-US" sz="1000" dirty="0"/>
          </a:p>
        </p:txBody>
      </p:sp>
      <p:sp>
        <p:nvSpPr>
          <p:cNvPr id="3" name="Text 1"/>
          <p:cNvSpPr txBox="1"/>
          <p:nvPr/>
        </p:nvSpPr>
        <p:spPr>
          <a:xfrm>
            <a:off x="566928" y="713232"/>
            <a:ext cx="6428232" cy="640080"/>
          </a:xfrm>
          <a:prstGeom prst="rect">
            <a:avLst/>
          </a:prstGeom>
          <a:noFill/>
          <a:ln/>
        </p:spPr>
        <p:txBody>
          <a:bodyPr wrap="square" lIns="0" tIns="0" rIns="0" bIns="0" rtlCol="0" anchor="t"/>
          <a:lstStyle/>
          <a:p>
            <a:pPr indent="0" marL="0">
              <a:buNone/>
            </a:pPr>
            <a:r>
              <a:rPr lang="en-US" sz="2200" b="1" dirty="0">
                <a:solidFill>
                  <a:srgbClr val="222222"/>
                </a:solidFill>
                <a:latin typeface="Calibri" pitchFamily="34" charset="0"/>
                <a:ea typeface="Calibri" pitchFamily="34" charset="-122"/>
                <a:cs typeface="Calibri" pitchFamily="34" charset="-120"/>
              </a:rPr>
              <a:t>自社のQRコード</a:t>
            </a:r>
            <a:endParaRPr lang="en-US" sz="2200" dirty="0"/>
          </a:p>
        </p:txBody>
      </p:sp>
      <p:sp>
        <p:nvSpPr>
          <p:cNvPr id="4" name="Text 2"/>
          <p:cNvSpPr txBox="1"/>
          <p:nvPr/>
        </p:nvSpPr>
        <p:spPr>
          <a:xfrm>
            <a:off x="566928" y="1481328"/>
            <a:ext cx="6428232" cy="257429"/>
          </a:xfrm>
          <a:prstGeom prst="rect">
            <a:avLst/>
          </a:prstGeom>
          <a:noFill/>
          <a:ln/>
        </p:spPr>
        <p:txBody>
          <a:bodyPr wrap="square" lIns="0" tIns="0" rIns="0" bIns="0" rtlCol="0" anchor="t"/>
          <a:lstStyle/>
          <a:p>
            <a:pPr indent="0" marL="0">
              <a:lnSpc>
                <a:spcPct val="125000"/>
              </a:lnSpc>
              <a:buNone/>
            </a:pPr>
            <a:r>
              <a:rPr lang="en-US" sz="1100" dirty="0">
                <a:solidFill>
                  <a:srgbClr val="222222"/>
                </a:solidFill>
                <a:latin typeface="Calibri" pitchFamily="34" charset="0"/>
                <a:ea typeface="Calibri" pitchFamily="34" charset="-122"/>
                <a:cs typeface="Calibri" pitchFamily="34" charset="-120"/>
              </a:rPr>
              <a:t>ダッシュボードの</a:t>
            </a:r>
            <a:pPr indent="0" marL="0">
              <a:lnSpc>
                <a:spcPct val="125000"/>
              </a:lnSpc>
              <a:buNone/>
            </a:pPr>
            <a:r>
              <a:rPr lang="en-US" sz="1100" b="1" dirty="0">
                <a:solidFill>
                  <a:srgbClr val="222222"/>
                </a:solidFill>
                <a:latin typeface="Calibri" pitchFamily="34" charset="0"/>
                <a:ea typeface="Calibri" pitchFamily="34" charset="-122"/>
                <a:cs typeface="Calibri" pitchFamily="34" charset="-120"/>
              </a:rPr>
              <a:t>「QRコード」</a:t>
            </a:r>
            <a:pPr indent="0" marL="0">
              <a:lnSpc>
                <a:spcPct val="125000"/>
              </a:lnSpc>
              <a:buNone/>
            </a:pPr>
            <a:r>
              <a:rPr lang="en-US" sz="1100" dirty="0">
                <a:solidFill>
                  <a:srgbClr val="222222"/>
                </a:solidFill>
                <a:latin typeface="Calibri" pitchFamily="34" charset="0"/>
                <a:ea typeface="Calibri" pitchFamily="34" charset="-122"/>
                <a:cs typeface="Calibri" pitchFamily="34" charset="-120"/>
              </a:rPr>
              <a:t>から、自社ブース用のQRコードを表示・印刷できます。</a:t>
            </a:r>
            <a:endParaRPr lang="en-US" sz="1100" dirty="0"/>
          </a:p>
        </p:txBody>
      </p:sp>
      <p:sp>
        <p:nvSpPr>
          <p:cNvPr id="5" name="Text 3"/>
          <p:cNvSpPr txBox="1"/>
          <p:nvPr/>
        </p:nvSpPr>
        <p:spPr>
          <a:xfrm>
            <a:off x="713232" y="1775333"/>
            <a:ext cx="6281928" cy="257429"/>
          </a:xfrm>
          <a:prstGeom prst="rect">
            <a:avLst/>
          </a:prstGeom>
          <a:noFill/>
          <a:ln/>
        </p:spPr>
        <p:txBody>
          <a:bodyPr wrap="square" lIns="0" tIns="0" rIns="0" bIns="0" rtlCol="0" anchor="t"/>
          <a:lstStyle/>
          <a:p>
            <a:pPr marL="342900" indent="-342900">
              <a:lnSpc>
                <a:spcPct val="125000"/>
              </a:lnSpc>
              <a:buSzPct val="100000"/>
              <a:buChar char="●"/>
            </a:pPr>
            <a:r>
              <a:rPr lang="en-US" sz="1100" dirty="0">
                <a:solidFill>
                  <a:srgbClr val="222222"/>
                </a:solidFill>
                <a:latin typeface="Calibri" pitchFamily="34" charset="0"/>
                <a:ea typeface="Calibri" pitchFamily="34" charset="-122"/>
                <a:cs typeface="Calibri" pitchFamily="34" charset="-120"/>
              </a:rPr>
              <a:t>ブースに掲示するQRコードは</a:t>
            </a:r>
            <a:pPr indent="0" marL="0">
              <a:lnSpc>
                <a:spcPct val="125000"/>
              </a:lnSpc>
              <a:buNone/>
            </a:pPr>
            <a:r>
              <a:rPr lang="en-US" sz="1100" b="1" dirty="0">
                <a:solidFill>
                  <a:srgbClr val="222222"/>
                </a:solidFill>
                <a:latin typeface="Calibri" pitchFamily="34" charset="0"/>
                <a:ea typeface="Calibri" pitchFamily="34" charset="-122"/>
                <a:cs typeface="Calibri" pitchFamily="34" charset="-120"/>
              </a:rPr>
              <a:t>事務局がまとめて印刷</a:t>
            </a:r>
            <a:pPr indent="0" marL="0">
              <a:lnSpc>
                <a:spcPct val="125000"/>
              </a:lnSpc>
              <a:buNone/>
            </a:pPr>
            <a:r>
              <a:rPr lang="en-US" sz="1100" dirty="0">
                <a:solidFill>
                  <a:srgbClr val="222222"/>
                </a:solidFill>
                <a:latin typeface="Calibri" pitchFamily="34" charset="0"/>
                <a:ea typeface="Calibri" pitchFamily="34" charset="-122"/>
                <a:cs typeface="Calibri" pitchFamily="34" charset="-120"/>
              </a:rPr>
              <a:t>します</a:t>
            </a:r>
            <a:endParaRPr lang="en-US" sz="1100" dirty="0"/>
          </a:p>
        </p:txBody>
      </p:sp>
      <p:sp>
        <p:nvSpPr>
          <p:cNvPr id="6" name="Text 4"/>
          <p:cNvSpPr txBox="1"/>
          <p:nvPr/>
        </p:nvSpPr>
        <p:spPr>
          <a:xfrm>
            <a:off x="713232" y="2051050"/>
            <a:ext cx="6281928" cy="257429"/>
          </a:xfrm>
          <a:prstGeom prst="rect">
            <a:avLst/>
          </a:prstGeom>
          <a:noFill/>
          <a:ln/>
        </p:spPr>
        <p:txBody>
          <a:bodyPr wrap="square" lIns="0" tIns="0" rIns="0" bIns="0" rtlCol="0" anchor="t"/>
          <a:lstStyle/>
          <a:p>
            <a:pPr marL="342900" indent="-342900">
              <a:lnSpc>
                <a:spcPct val="125000"/>
              </a:lnSpc>
              <a:buSzPct val="100000"/>
              <a:buChar char="●"/>
            </a:pPr>
            <a:r>
              <a:rPr lang="en-US" sz="1100" dirty="0">
                <a:solidFill>
                  <a:srgbClr val="222222"/>
                </a:solidFill>
                <a:latin typeface="Calibri" pitchFamily="34" charset="0"/>
                <a:ea typeface="Calibri" pitchFamily="34" charset="-122"/>
                <a:cs typeface="Calibri" pitchFamily="34" charset="-120"/>
              </a:rPr>
              <a:t>追加で必要になった場合や、予備が欲しい場合にお使いください</a:t>
            </a:r>
            <a:endParaRPr lang="en-US" sz="1100" dirty="0"/>
          </a:p>
        </p:txBody>
      </p:sp>
      <p:sp>
        <p:nvSpPr>
          <p:cNvPr id="7" name="Text 5"/>
          <p:cNvSpPr txBox="1"/>
          <p:nvPr/>
        </p:nvSpPr>
        <p:spPr>
          <a:xfrm>
            <a:off x="713232" y="2326767"/>
            <a:ext cx="6281928" cy="257429"/>
          </a:xfrm>
          <a:prstGeom prst="rect">
            <a:avLst/>
          </a:prstGeom>
          <a:noFill/>
          <a:ln/>
        </p:spPr>
        <p:txBody>
          <a:bodyPr wrap="square" lIns="0" tIns="0" rIns="0" bIns="0" rtlCol="0" anchor="t"/>
          <a:lstStyle/>
          <a:p>
            <a:pPr marL="342900" indent="-342900">
              <a:lnSpc>
                <a:spcPct val="125000"/>
              </a:lnSpc>
              <a:buSzPct val="100000"/>
              <a:buChar char="●"/>
            </a:pPr>
            <a:r>
              <a:rPr lang="en-US" sz="1100" dirty="0">
                <a:solidFill>
                  <a:srgbClr val="222222"/>
                </a:solidFill>
                <a:latin typeface="Calibri" pitchFamily="34" charset="0"/>
                <a:ea typeface="Calibri" pitchFamily="34" charset="-122"/>
                <a:cs typeface="Calibri" pitchFamily="34" charset="-120"/>
              </a:rPr>
              <a:t>印刷ダイアログで「PDFとして保存」を選べばPDFになります</a:t>
            </a:r>
            <a:endParaRPr lang="en-US" sz="1100" dirty="0"/>
          </a:p>
        </p:txBody>
      </p:sp>
      <p:sp>
        <p:nvSpPr>
          <p:cNvPr id="8" name="Shape 6"/>
          <p:cNvSpPr/>
          <p:nvPr/>
        </p:nvSpPr>
        <p:spPr>
          <a:xfrm>
            <a:off x="566928" y="2602484"/>
            <a:ext cx="6428232" cy="431102"/>
          </a:xfrm>
          <a:prstGeom prst="roundRect">
            <a:avLst>
              <a:gd name="adj" fmla="val 12726"/>
            </a:avLst>
          </a:prstGeom>
          <a:solidFill>
            <a:srgbClr val="FDF0E6"/>
          </a:solidFill>
          <a:ln w="9525">
            <a:solidFill>
              <a:srgbClr val="E08A3C"/>
            </a:solidFill>
            <a:prstDash val="solid"/>
          </a:ln>
        </p:spPr>
      </p:sp>
      <p:sp>
        <p:nvSpPr>
          <p:cNvPr id="9" name="Text 7"/>
          <p:cNvSpPr txBox="1"/>
          <p:nvPr/>
        </p:nvSpPr>
        <p:spPr>
          <a:xfrm>
            <a:off x="658368" y="2693924"/>
            <a:ext cx="237744" cy="237744"/>
          </a:xfrm>
          <a:prstGeom prst="rect">
            <a:avLst/>
          </a:prstGeom>
          <a:noFill/>
          <a:ln/>
        </p:spPr>
        <p:txBody>
          <a:bodyPr wrap="square" lIns="0" tIns="0" rIns="0" bIns="0" rtlCol="0" anchor="ctr"/>
          <a:lstStyle/>
          <a:p>
            <a:pPr algn="ctr" indent="0" marL="0">
              <a:buNone/>
            </a:pPr>
            <a:r>
              <a:rPr lang="en-US" sz="1200" b="1" dirty="0">
                <a:solidFill>
                  <a:srgbClr val="C25A17"/>
                </a:solidFill>
                <a:latin typeface="Calibri" pitchFamily="34" charset="0"/>
                <a:ea typeface="Calibri" pitchFamily="34" charset="-122"/>
                <a:cs typeface="Calibri" pitchFamily="34" charset="-120"/>
              </a:rPr>
              <a:t>！</a:t>
            </a:r>
            <a:endParaRPr lang="en-US" sz="1200" dirty="0"/>
          </a:p>
        </p:txBody>
      </p:sp>
      <p:sp>
        <p:nvSpPr>
          <p:cNvPr id="10" name="Text 8"/>
          <p:cNvSpPr txBox="1"/>
          <p:nvPr/>
        </p:nvSpPr>
        <p:spPr>
          <a:xfrm>
            <a:off x="950976" y="2712212"/>
            <a:ext cx="5925312" cy="248221"/>
          </a:xfrm>
          <a:prstGeom prst="rect">
            <a:avLst/>
          </a:prstGeom>
          <a:noFill/>
          <a:ln/>
        </p:spPr>
        <p:txBody>
          <a:bodyPr wrap="square" lIns="0" tIns="0" rIns="0" bIns="0" rtlCol="0" anchor="t"/>
          <a:lstStyle/>
          <a:p>
            <a:pPr indent="0" marL="0">
              <a:lnSpc>
                <a:spcPct val="120000"/>
              </a:lnSpc>
              <a:buNone/>
            </a:pPr>
            <a:r>
              <a:rPr lang="en-US" sz="1050" dirty="0">
                <a:solidFill>
                  <a:srgbClr val="222222"/>
                </a:solidFill>
                <a:latin typeface="Calibri" pitchFamily="34" charset="0"/>
                <a:ea typeface="Calibri" pitchFamily="34" charset="-122"/>
                <a:cs typeface="Calibri" pitchFamily="34" charset="-120"/>
              </a:rPr>
              <a:t>QRコードのURLは企業ごとに違います。</a:t>
            </a:r>
            <a:pPr indent="0" marL="0">
              <a:lnSpc>
                <a:spcPct val="120000"/>
              </a:lnSpc>
              <a:buNone/>
            </a:pPr>
            <a:r>
              <a:rPr lang="en-US" sz="1050" b="1" dirty="0">
                <a:solidFill>
                  <a:srgbClr val="222222"/>
                </a:solidFill>
                <a:latin typeface="Calibri" pitchFamily="34" charset="0"/>
                <a:ea typeface="Calibri" pitchFamily="34" charset="-122"/>
                <a:cs typeface="Calibri" pitchFamily="34" charset="-120"/>
              </a:rPr>
              <a:t>他社のQRコードを掲示しないよう</a:t>
            </a:r>
            <a:pPr indent="0" marL="0">
              <a:lnSpc>
                <a:spcPct val="120000"/>
              </a:lnSpc>
              <a:buNone/>
            </a:pPr>
            <a:r>
              <a:rPr lang="en-US" sz="1050" dirty="0">
                <a:solidFill>
                  <a:srgbClr val="222222"/>
                </a:solidFill>
                <a:latin typeface="Calibri" pitchFamily="34" charset="0"/>
                <a:ea typeface="Calibri" pitchFamily="34" charset="-122"/>
                <a:cs typeface="Calibri" pitchFamily="34" charset="-120"/>
              </a:rPr>
              <a:t>ご注意ください。</a:t>
            </a:r>
            <a:endParaRPr lang="en-US" sz="1050" dirty="0"/>
          </a:p>
        </p:txBody>
      </p:sp>
      <p:pic>
        <p:nvPicPr>
          <p:cNvPr id="11" name="Image 0" descr="C:\Users\sato\Desktop\enque\docs\images\c-qr.png">    </p:cNvPr>
          <p:cNvPicPr>
            <a:picLocks noChangeAspect="1"/>
          </p:cNvPicPr>
          <p:nvPr/>
        </p:nvPicPr>
        <p:blipFill>
          <a:blip r:embed="rId1"/>
          <a:stretch>
            <a:fillRect/>
          </a:stretch>
        </p:blipFill>
        <p:spPr>
          <a:xfrm>
            <a:off x="566928" y="3106738"/>
            <a:ext cx="6428232" cy="3181485"/>
          </a:xfrm>
          <a:prstGeom prst="rect">
            <a:avLst/>
          </a:prstGeom>
        </p:spPr>
      </p:pic>
      <p:sp>
        <p:nvSpPr>
          <p:cNvPr id="12" name="Text 9"/>
          <p:cNvSpPr txBox="1"/>
          <p:nvPr/>
        </p:nvSpPr>
        <p:spPr>
          <a:xfrm>
            <a:off x="566928" y="6343087"/>
            <a:ext cx="6428232" cy="274320"/>
          </a:xfrm>
          <a:prstGeom prst="rect">
            <a:avLst/>
          </a:prstGeom>
          <a:noFill/>
          <a:ln/>
        </p:spPr>
        <p:txBody>
          <a:bodyPr wrap="square" lIns="0" tIns="0" rIns="0" bIns="0" rtlCol="0" anchor="ctr"/>
          <a:lstStyle/>
          <a:p>
            <a:pPr algn="ctr" indent="0" marL="0">
              <a:buNone/>
            </a:pPr>
            <a:r>
              <a:rPr lang="en-US" sz="950" dirty="0">
                <a:solidFill>
                  <a:srgbClr val="6B6B6B"/>
                </a:solidFill>
                <a:latin typeface="Calibri" pitchFamily="34" charset="0"/>
                <a:ea typeface="Calibri" pitchFamily="34" charset="-122"/>
                <a:cs typeface="Calibri" pitchFamily="34" charset="-120"/>
              </a:rPr>
              <a:t>QRコードの印刷ページ（自社1社分）。</a:t>
            </a:r>
            <a:endParaRPr lang="en-US" sz="950" dirty="0"/>
          </a:p>
        </p:txBody>
      </p:sp>
      <p:sp>
        <p:nvSpPr>
          <p:cNvPr id="13" name="Text 10"/>
          <p:cNvSpPr txBox="1"/>
          <p:nvPr/>
        </p:nvSpPr>
        <p:spPr>
          <a:xfrm>
            <a:off x="566928" y="10186416"/>
            <a:ext cx="6428232" cy="228600"/>
          </a:xfrm>
          <a:prstGeom prst="rect">
            <a:avLst/>
          </a:prstGeom>
          <a:noFill/>
          <a:ln/>
        </p:spPr>
        <p:txBody>
          <a:bodyPr wrap="square" lIns="0" tIns="0" rIns="0" bIns="0" rtlCol="0" anchor="ctr"/>
          <a:lstStyle/>
          <a:p>
            <a:pPr algn="r" indent="0" marL="0">
              <a:buNone/>
            </a:pPr>
            <a:r>
              <a:rPr lang="en-US" sz="900" dirty="0">
                <a:solidFill>
                  <a:srgbClr val="6B6B6B"/>
                </a:solidFill>
                <a:latin typeface="Calibri" pitchFamily="34" charset="0"/>
                <a:ea typeface="Calibri" pitchFamily="34" charset="-122"/>
                <a:cs typeface="Calibri" pitchFamily="34" charset="-120"/>
              </a:rPr>
              <a:t>企業担当者向け　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457200"/>
            <a:ext cx="6428232" cy="237744"/>
          </a:xfrm>
          <a:prstGeom prst="rect">
            <a:avLst/>
          </a:prstGeom>
          <a:noFill/>
          <a:ln/>
        </p:spPr>
        <p:txBody>
          <a:bodyPr wrap="square" lIns="0" tIns="0" rIns="0" bIns="0" rtlCol="0" anchor="ctr"/>
          <a:lstStyle/>
          <a:p>
            <a:pPr indent="0" marL="0">
              <a:buNone/>
            </a:pPr>
            <a:r>
              <a:rPr lang="en-US" sz="1000" b="1" dirty="0">
                <a:solidFill>
                  <a:srgbClr val="1C7293"/>
                </a:solidFill>
                <a:latin typeface="Calibri" pitchFamily="34" charset="0"/>
                <a:ea typeface="Calibri" pitchFamily="34" charset="-122"/>
                <a:cs typeface="Calibri" pitchFamily="34" charset="-120"/>
              </a:rPr>
              <a:t>企業担当者マニュアル</a:t>
            </a:r>
            <a:endParaRPr lang="en-US" sz="1000" dirty="0"/>
          </a:p>
        </p:txBody>
      </p:sp>
      <p:sp>
        <p:nvSpPr>
          <p:cNvPr id="3" name="Text 1"/>
          <p:cNvSpPr txBox="1"/>
          <p:nvPr/>
        </p:nvSpPr>
        <p:spPr>
          <a:xfrm>
            <a:off x="566928" y="713232"/>
            <a:ext cx="6428232" cy="640080"/>
          </a:xfrm>
          <a:prstGeom prst="rect">
            <a:avLst/>
          </a:prstGeom>
          <a:noFill/>
          <a:ln/>
        </p:spPr>
        <p:txBody>
          <a:bodyPr wrap="square" lIns="0" tIns="0" rIns="0" bIns="0" rtlCol="0" anchor="t"/>
          <a:lstStyle/>
          <a:p>
            <a:pPr indent="0" marL="0">
              <a:buNone/>
            </a:pPr>
            <a:r>
              <a:rPr lang="en-US" sz="2200" b="1" dirty="0">
                <a:solidFill>
                  <a:srgbClr val="222222"/>
                </a:solidFill>
                <a:latin typeface="Calibri" pitchFamily="34" charset="0"/>
                <a:ea typeface="Calibri" pitchFamily="34" charset="-122"/>
                <a:cs typeface="Calibri" pitchFamily="34" charset="-120"/>
              </a:rPr>
              <a:t>よくある質問</a:t>
            </a:r>
            <a:endParaRPr lang="en-US" sz="2200" dirty="0"/>
          </a:p>
        </p:txBody>
      </p:sp>
      <p:sp>
        <p:nvSpPr>
          <p:cNvPr id="4" name="Text 2"/>
          <p:cNvSpPr txBox="1"/>
          <p:nvPr/>
        </p:nvSpPr>
        <p:spPr>
          <a:xfrm>
            <a:off x="566928" y="1591056"/>
            <a:ext cx="6428232" cy="257810"/>
          </a:xfrm>
          <a:prstGeom prst="rect">
            <a:avLst/>
          </a:prstGeom>
          <a:noFill/>
          <a:ln/>
        </p:spPr>
        <p:txBody>
          <a:bodyPr wrap="square" lIns="0" tIns="0" rIns="0" bIns="0" rtlCol="0" anchor="t"/>
          <a:lstStyle/>
          <a:p>
            <a:pPr indent="0" marL="0">
              <a:buNone/>
            </a:pPr>
            <a:r>
              <a:rPr lang="en-US" sz="1400" b="1" dirty="0">
                <a:solidFill>
                  <a:srgbClr val="1C7293"/>
                </a:solidFill>
                <a:latin typeface="Calibri" pitchFamily="34" charset="0"/>
                <a:ea typeface="Calibri" pitchFamily="34" charset="-122"/>
                <a:cs typeface="Calibri" pitchFamily="34" charset="-120"/>
              </a:rPr>
              <a:t>他社の回答は見られますか</a:t>
            </a:r>
            <a:endParaRPr lang="en-US" sz="1400" dirty="0"/>
          </a:p>
        </p:txBody>
      </p:sp>
      <p:sp>
        <p:nvSpPr>
          <p:cNvPr id="5" name="Text 3"/>
          <p:cNvSpPr txBox="1"/>
          <p:nvPr/>
        </p:nvSpPr>
        <p:spPr>
          <a:xfrm>
            <a:off x="566928" y="1922018"/>
            <a:ext cx="6428232" cy="257429"/>
          </a:xfrm>
          <a:prstGeom prst="rect">
            <a:avLst/>
          </a:prstGeom>
          <a:noFill/>
          <a:ln/>
        </p:spPr>
        <p:txBody>
          <a:bodyPr wrap="square" lIns="0" tIns="0" rIns="0" bIns="0" rtlCol="0" anchor="t"/>
          <a:lstStyle/>
          <a:p>
            <a:pPr indent="0" marL="0">
              <a:lnSpc>
                <a:spcPct val="125000"/>
              </a:lnSpc>
              <a:buNone/>
            </a:pPr>
            <a:r>
              <a:rPr lang="en-US" sz="1100" dirty="0">
                <a:solidFill>
                  <a:srgbClr val="222222"/>
                </a:solidFill>
                <a:latin typeface="Calibri" pitchFamily="34" charset="0"/>
                <a:ea typeface="Calibri" pitchFamily="34" charset="-122"/>
                <a:cs typeface="Calibri" pitchFamily="34" charset="-120"/>
              </a:rPr>
              <a:t>見られません。他社のIDでURLを直接開いても「ページが見つかりません」と表示されます。</a:t>
            </a:r>
            <a:endParaRPr lang="en-US" sz="1100" dirty="0"/>
          </a:p>
        </p:txBody>
      </p:sp>
      <p:sp>
        <p:nvSpPr>
          <p:cNvPr id="6" name="Text 4"/>
          <p:cNvSpPr txBox="1"/>
          <p:nvPr/>
        </p:nvSpPr>
        <p:spPr>
          <a:xfrm>
            <a:off x="566928" y="2325751"/>
            <a:ext cx="6428232" cy="257810"/>
          </a:xfrm>
          <a:prstGeom prst="rect">
            <a:avLst/>
          </a:prstGeom>
          <a:noFill/>
          <a:ln/>
        </p:spPr>
        <p:txBody>
          <a:bodyPr wrap="square" lIns="0" tIns="0" rIns="0" bIns="0" rtlCol="0" anchor="t"/>
          <a:lstStyle/>
          <a:p>
            <a:pPr indent="0" marL="0">
              <a:buNone/>
            </a:pPr>
            <a:r>
              <a:rPr lang="en-US" sz="1400" b="1" dirty="0">
                <a:solidFill>
                  <a:srgbClr val="1C7293"/>
                </a:solidFill>
                <a:latin typeface="Calibri" pitchFamily="34" charset="0"/>
                <a:ea typeface="Calibri" pitchFamily="34" charset="-122"/>
                <a:cs typeface="Calibri" pitchFamily="34" charset="-120"/>
              </a:rPr>
              <a:t>来場者の名前やメールアドレスは分かりますか</a:t>
            </a:r>
            <a:endParaRPr lang="en-US" sz="1400" dirty="0"/>
          </a:p>
        </p:txBody>
      </p:sp>
      <p:sp>
        <p:nvSpPr>
          <p:cNvPr id="7" name="Text 5"/>
          <p:cNvSpPr txBox="1"/>
          <p:nvPr/>
        </p:nvSpPr>
        <p:spPr>
          <a:xfrm>
            <a:off x="566928" y="2656713"/>
            <a:ext cx="6428232" cy="459994"/>
          </a:xfrm>
          <a:prstGeom prst="rect">
            <a:avLst/>
          </a:prstGeom>
          <a:noFill/>
          <a:ln/>
        </p:spPr>
        <p:txBody>
          <a:bodyPr wrap="square" lIns="0" tIns="0" rIns="0" bIns="0" rtlCol="0" anchor="t"/>
          <a:lstStyle/>
          <a:p>
            <a:pPr indent="0" marL="0">
              <a:lnSpc>
                <a:spcPct val="125000"/>
              </a:lnSpc>
              <a:buNone/>
            </a:pPr>
            <a:r>
              <a:rPr lang="en-US" sz="1100" dirty="0">
                <a:solidFill>
                  <a:srgbClr val="222222"/>
                </a:solidFill>
                <a:latin typeface="Calibri" pitchFamily="34" charset="0"/>
                <a:ea typeface="Calibri" pitchFamily="34" charset="-122"/>
                <a:cs typeface="Calibri" pitchFamily="34" charset="-120"/>
              </a:rPr>
              <a:t>分かりません。このシステムでは氏名・住所を一切集めていません。メールアドレスは、イベント終了後のスマホ壁紙のご案内にのみ使われ、事務局側で管理されます（企業には共有されません）。</a:t>
            </a:r>
            <a:endParaRPr lang="en-US" sz="1100" dirty="0"/>
          </a:p>
        </p:txBody>
      </p:sp>
      <p:sp>
        <p:nvSpPr>
          <p:cNvPr id="8" name="Text 6"/>
          <p:cNvSpPr txBox="1"/>
          <p:nvPr/>
        </p:nvSpPr>
        <p:spPr>
          <a:xfrm>
            <a:off x="566928" y="3263011"/>
            <a:ext cx="6428232" cy="257810"/>
          </a:xfrm>
          <a:prstGeom prst="rect">
            <a:avLst/>
          </a:prstGeom>
          <a:noFill/>
          <a:ln/>
        </p:spPr>
        <p:txBody>
          <a:bodyPr wrap="square" lIns="0" tIns="0" rIns="0" bIns="0" rtlCol="0" anchor="t"/>
          <a:lstStyle/>
          <a:p>
            <a:pPr indent="0" marL="0">
              <a:buNone/>
            </a:pPr>
            <a:r>
              <a:rPr lang="en-US" sz="1400" b="1" dirty="0">
                <a:solidFill>
                  <a:srgbClr val="1C7293"/>
                </a:solidFill>
                <a:latin typeface="Calibri" pitchFamily="34" charset="0"/>
                <a:ea typeface="Calibri" pitchFamily="34" charset="-122"/>
                <a:cs typeface="Calibri" pitchFamily="34" charset="-120"/>
              </a:rPr>
              <a:t>同じ人が何社まわったか分かりますか</a:t>
            </a:r>
            <a:endParaRPr lang="en-US" sz="1400" dirty="0"/>
          </a:p>
        </p:txBody>
      </p:sp>
      <p:sp>
        <p:nvSpPr>
          <p:cNvPr id="9" name="Text 7"/>
          <p:cNvSpPr txBox="1"/>
          <p:nvPr/>
        </p:nvSpPr>
        <p:spPr>
          <a:xfrm>
            <a:off x="566928" y="3593973"/>
            <a:ext cx="6428232" cy="257429"/>
          </a:xfrm>
          <a:prstGeom prst="rect">
            <a:avLst/>
          </a:prstGeom>
          <a:noFill/>
          <a:ln/>
        </p:spPr>
        <p:txBody>
          <a:bodyPr wrap="square" lIns="0" tIns="0" rIns="0" bIns="0" rtlCol="0" anchor="t"/>
          <a:lstStyle/>
          <a:p>
            <a:pPr indent="0" marL="0">
              <a:lnSpc>
                <a:spcPct val="125000"/>
              </a:lnSpc>
              <a:buNone/>
            </a:pPr>
            <a:r>
              <a:rPr lang="en-US" sz="1100" dirty="0">
                <a:solidFill>
                  <a:srgbClr val="222222"/>
                </a:solidFill>
                <a:latin typeface="Calibri" pitchFamily="34" charset="0"/>
                <a:ea typeface="Calibri" pitchFamily="34" charset="-122"/>
                <a:cs typeface="Calibri" pitchFamily="34" charset="-120"/>
              </a:rPr>
              <a:t>自社の画面では分かりません。イベント全体の傾向は主催者が確認します。</a:t>
            </a:r>
            <a:endParaRPr lang="en-US" sz="1100" dirty="0"/>
          </a:p>
        </p:txBody>
      </p:sp>
      <p:sp>
        <p:nvSpPr>
          <p:cNvPr id="10" name="Text 8"/>
          <p:cNvSpPr txBox="1"/>
          <p:nvPr/>
        </p:nvSpPr>
        <p:spPr>
          <a:xfrm>
            <a:off x="566928" y="3997706"/>
            <a:ext cx="6428232" cy="257810"/>
          </a:xfrm>
          <a:prstGeom prst="rect">
            <a:avLst/>
          </a:prstGeom>
          <a:noFill/>
          <a:ln/>
        </p:spPr>
        <p:txBody>
          <a:bodyPr wrap="square" lIns="0" tIns="0" rIns="0" bIns="0" rtlCol="0" anchor="t"/>
          <a:lstStyle/>
          <a:p>
            <a:pPr indent="0" marL="0">
              <a:buNone/>
            </a:pPr>
            <a:r>
              <a:rPr lang="en-US" sz="1400" b="1" dirty="0">
                <a:solidFill>
                  <a:srgbClr val="1C7293"/>
                </a:solidFill>
                <a:latin typeface="Calibri" pitchFamily="34" charset="0"/>
                <a:ea typeface="Calibri" pitchFamily="34" charset="-122"/>
                <a:cs typeface="Calibri" pitchFamily="34" charset="-120"/>
              </a:rPr>
              <a:t>回答が0件のままです</a:t>
            </a:r>
            <a:endParaRPr lang="en-US" sz="1400" dirty="0"/>
          </a:p>
        </p:txBody>
      </p:sp>
      <p:sp>
        <p:nvSpPr>
          <p:cNvPr id="11" name="Text 9"/>
          <p:cNvSpPr txBox="1"/>
          <p:nvPr/>
        </p:nvSpPr>
        <p:spPr>
          <a:xfrm>
            <a:off x="566928" y="4328668"/>
            <a:ext cx="6428232" cy="459994"/>
          </a:xfrm>
          <a:prstGeom prst="rect">
            <a:avLst/>
          </a:prstGeom>
          <a:noFill/>
          <a:ln/>
        </p:spPr>
        <p:txBody>
          <a:bodyPr wrap="square" lIns="0" tIns="0" rIns="0" bIns="0" rtlCol="0" anchor="t"/>
          <a:lstStyle/>
          <a:p>
            <a:pPr indent="0" marL="0">
              <a:lnSpc>
                <a:spcPct val="125000"/>
              </a:lnSpc>
              <a:buNone/>
            </a:pPr>
            <a:r>
              <a:rPr lang="en-US" sz="1100" dirty="0">
                <a:solidFill>
                  <a:srgbClr val="222222"/>
                </a:solidFill>
                <a:latin typeface="Calibri" pitchFamily="34" charset="0"/>
                <a:ea typeface="Calibri" pitchFamily="34" charset="-122"/>
                <a:cs typeface="Calibri" pitchFamily="34" charset="-120"/>
              </a:rPr>
              <a:t>アンケートが</a:t>
            </a:r>
            <a:pPr indent="0" marL="0">
              <a:lnSpc>
                <a:spcPct val="125000"/>
              </a:lnSpc>
              <a:buNone/>
            </a:pPr>
            <a:r>
              <a:rPr lang="en-US" sz="1100" b="1" dirty="0">
                <a:solidFill>
                  <a:srgbClr val="222222"/>
                </a:solidFill>
                <a:latin typeface="Calibri" pitchFamily="34" charset="0"/>
                <a:ea typeface="Calibri" pitchFamily="34" charset="-122"/>
                <a:cs typeface="Calibri" pitchFamily="34" charset="-120"/>
              </a:rPr>
              <a:t>公開</a:t>
            </a:r>
            <a:pPr indent="0" marL="0">
              <a:lnSpc>
                <a:spcPct val="125000"/>
              </a:lnSpc>
              <a:buNone/>
            </a:pPr>
            <a:r>
              <a:rPr lang="en-US" sz="1100" dirty="0">
                <a:solidFill>
                  <a:srgbClr val="222222"/>
                </a:solidFill>
                <a:latin typeface="Calibri" pitchFamily="34" charset="0"/>
                <a:ea typeface="Calibri" pitchFamily="34" charset="-122"/>
                <a:cs typeface="Calibri" pitchFamily="34" charset="-120"/>
              </a:rPr>
              <a:t>になっているか、イベントが</a:t>
            </a:r>
            <a:pPr indent="0" marL="0">
              <a:lnSpc>
                <a:spcPct val="125000"/>
              </a:lnSpc>
              <a:buNone/>
            </a:pPr>
            <a:r>
              <a:rPr lang="en-US" sz="1100" b="1" dirty="0">
                <a:solidFill>
                  <a:srgbClr val="222222"/>
                </a:solidFill>
                <a:latin typeface="Calibri" pitchFamily="34" charset="0"/>
                <a:ea typeface="Calibri" pitchFamily="34" charset="-122"/>
                <a:cs typeface="Calibri" pitchFamily="34" charset="-120"/>
              </a:rPr>
              <a:t>開催中</a:t>
            </a:r>
            <a:pPr indent="0" marL="0">
              <a:lnSpc>
                <a:spcPct val="125000"/>
              </a:lnSpc>
              <a:buNone/>
            </a:pPr>
            <a:r>
              <a:rPr lang="en-US" sz="1100" dirty="0">
                <a:solidFill>
                  <a:srgbClr val="222222"/>
                </a:solidFill>
                <a:latin typeface="Calibri" pitchFamily="34" charset="0"/>
                <a:ea typeface="Calibri" pitchFamily="34" charset="-122"/>
                <a:cs typeface="Calibri" pitchFamily="34" charset="-120"/>
              </a:rPr>
              <a:t>になっているかをご確認ください。どちらも問題なければ事務局にご相談ください。</a:t>
            </a:r>
            <a:endParaRPr lang="en-US" sz="1100" dirty="0"/>
          </a:p>
        </p:txBody>
      </p:sp>
      <p:sp>
        <p:nvSpPr>
          <p:cNvPr id="12" name="Text 10"/>
          <p:cNvSpPr txBox="1"/>
          <p:nvPr/>
        </p:nvSpPr>
        <p:spPr>
          <a:xfrm>
            <a:off x="566928" y="4934966"/>
            <a:ext cx="6428232" cy="257810"/>
          </a:xfrm>
          <a:prstGeom prst="rect">
            <a:avLst/>
          </a:prstGeom>
          <a:noFill/>
          <a:ln/>
        </p:spPr>
        <p:txBody>
          <a:bodyPr wrap="square" lIns="0" tIns="0" rIns="0" bIns="0" rtlCol="0" anchor="t"/>
          <a:lstStyle/>
          <a:p>
            <a:pPr indent="0" marL="0">
              <a:buNone/>
            </a:pPr>
            <a:r>
              <a:rPr lang="en-US" sz="1400" b="1" dirty="0">
                <a:solidFill>
                  <a:srgbClr val="1C7293"/>
                </a:solidFill>
                <a:latin typeface="Calibri" pitchFamily="34" charset="0"/>
                <a:ea typeface="Calibri" pitchFamily="34" charset="-122"/>
                <a:cs typeface="Calibri" pitchFamily="34" charset="-120"/>
              </a:rPr>
              <a:t>アンケートの内容を印刷して確認したい</a:t>
            </a:r>
            <a:endParaRPr lang="en-US" sz="1400" dirty="0"/>
          </a:p>
        </p:txBody>
      </p:sp>
      <p:sp>
        <p:nvSpPr>
          <p:cNvPr id="13" name="Text 11"/>
          <p:cNvSpPr txBox="1"/>
          <p:nvPr/>
        </p:nvSpPr>
        <p:spPr>
          <a:xfrm>
            <a:off x="566928" y="5265928"/>
            <a:ext cx="6428232" cy="257429"/>
          </a:xfrm>
          <a:prstGeom prst="rect">
            <a:avLst/>
          </a:prstGeom>
          <a:noFill/>
          <a:ln/>
        </p:spPr>
        <p:txBody>
          <a:bodyPr wrap="square" lIns="0" tIns="0" rIns="0" bIns="0" rtlCol="0" anchor="t"/>
          <a:lstStyle/>
          <a:p>
            <a:pPr indent="0" marL="0">
              <a:lnSpc>
                <a:spcPct val="125000"/>
              </a:lnSpc>
              <a:buNone/>
            </a:pPr>
            <a:r>
              <a:rPr lang="en-US" sz="1100" dirty="0">
                <a:solidFill>
                  <a:srgbClr val="222222"/>
                </a:solidFill>
                <a:latin typeface="Calibri" pitchFamily="34" charset="0"/>
                <a:ea typeface="Calibri" pitchFamily="34" charset="-122"/>
                <a:cs typeface="Calibri" pitchFamily="34" charset="-120"/>
              </a:rPr>
              <a:t>ブラウザの印刷機能で、編集画面や集計画面をそのまま印刷できます。</a:t>
            </a:r>
            <a:endParaRPr lang="en-US" sz="1100" dirty="0"/>
          </a:p>
        </p:txBody>
      </p:sp>
      <p:sp>
        <p:nvSpPr>
          <p:cNvPr id="14" name="Shape 12"/>
          <p:cNvSpPr/>
          <p:nvPr/>
        </p:nvSpPr>
        <p:spPr>
          <a:xfrm>
            <a:off x="566928" y="5559933"/>
            <a:ext cx="6428232" cy="431102"/>
          </a:xfrm>
          <a:prstGeom prst="roundRect">
            <a:avLst>
              <a:gd name="adj" fmla="val 12726"/>
            </a:avLst>
          </a:prstGeom>
          <a:solidFill>
            <a:srgbClr val="E3F0F4"/>
          </a:solidFill>
          <a:ln w="9525">
            <a:solidFill>
              <a:srgbClr val="1C7293"/>
            </a:solidFill>
            <a:prstDash val="solid"/>
          </a:ln>
        </p:spPr>
      </p:sp>
      <p:sp>
        <p:nvSpPr>
          <p:cNvPr id="15" name="Text 13"/>
          <p:cNvSpPr txBox="1"/>
          <p:nvPr/>
        </p:nvSpPr>
        <p:spPr>
          <a:xfrm>
            <a:off x="658368" y="5651373"/>
            <a:ext cx="237744" cy="237744"/>
          </a:xfrm>
          <a:prstGeom prst="rect">
            <a:avLst/>
          </a:prstGeom>
          <a:noFill/>
          <a:ln/>
        </p:spPr>
        <p:txBody>
          <a:bodyPr wrap="square" lIns="0" tIns="0" rIns="0" bIns="0" rtlCol="0" anchor="ctr"/>
          <a:lstStyle/>
          <a:p>
            <a:pPr algn="ctr" indent="0" marL="0">
              <a:buNone/>
            </a:pPr>
            <a:r>
              <a:rPr lang="en-US" sz="1200" b="1" dirty="0">
                <a:solidFill>
                  <a:srgbClr val="1C7293"/>
                </a:solidFill>
                <a:latin typeface="Calibri" pitchFamily="34" charset="0"/>
                <a:ea typeface="Calibri" pitchFamily="34" charset="-122"/>
                <a:cs typeface="Calibri" pitchFamily="34" charset="-120"/>
              </a:rPr>
              <a:t>i</a:t>
            </a:r>
            <a:endParaRPr lang="en-US" sz="1200" dirty="0"/>
          </a:p>
        </p:txBody>
      </p:sp>
      <p:sp>
        <p:nvSpPr>
          <p:cNvPr id="16" name="Text 14"/>
          <p:cNvSpPr txBox="1"/>
          <p:nvPr/>
        </p:nvSpPr>
        <p:spPr>
          <a:xfrm>
            <a:off x="950976" y="5669661"/>
            <a:ext cx="5925312" cy="248221"/>
          </a:xfrm>
          <a:prstGeom prst="rect">
            <a:avLst/>
          </a:prstGeom>
          <a:noFill/>
          <a:ln/>
        </p:spPr>
        <p:txBody>
          <a:bodyPr wrap="square" lIns="0" tIns="0" rIns="0" bIns="0" rtlCol="0" anchor="t"/>
          <a:lstStyle/>
          <a:p>
            <a:pPr indent="0" marL="0">
              <a:lnSpc>
                <a:spcPct val="120000"/>
              </a:lnSpc>
              <a:buNone/>
            </a:pPr>
            <a:r>
              <a:rPr lang="en-US" sz="1050" dirty="0">
                <a:solidFill>
                  <a:srgbClr val="222222"/>
                </a:solidFill>
                <a:latin typeface="Calibri" pitchFamily="34" charset="0"/>
                <a:ea typeface="Calibri" pitchFamily="34" charset="-122"/>
                <a:cs typeface="Calibri" pitchFamily="34" charset="-120"/>
              </a:rPr>
              <a:t>分からないことがあれば、事務局までお問い合わせください。</a:t>
            </a:r>
            <a:endParaRPr lang="en-US" sz="1050" dirty="0"/>
          </a:p>
        </p:txBody>
      </p:sp>
      <p:sp>
        <p:nvSpPr>
          <p:cNvPr id="17" name="Text 15"/>
          <p:cNvSpPr txBox="1"/>
          <p:nvPr/>
        </p:nvSpPr>
        <p:spPr>
          <a:xfrm>
            <a:off x="566928" y="10186416"/>
            <a:ext cx="6428232" cy="228600"/>
          </a:xfrm>
          <a:prstGeom prst="rect">
            <a:avLst/>
          </a:prstGeom>
          <a:noFill/>
          <a:ln/>
        </p:spPr>
        <p:txBody>
          <a:bodyPr wrap="square" lIns="0" tIns="0" rIns="0" bIns="0" rtlCol="0" anchor="ctr"/>
          <a:lstStyle/>
          <a:p>
            <a:pPr algn="r" indent="0" marL="0">
              <a:buNone/>
            </a:pPr>
            <a:r>
              <a:rPr lang="en-US" sz="900" dirty="0">
                <a:solidFill>
                  <a:srgbClr val="6B6B6B"/>
                </a:solidFill>
                <a:latin typeface="Calibri" pitchFamily="34" charset="0"/>
                <a:ea typeface="Calibri" pitchFamily="34" charset="-122"/>
                <a:cs typeface="Calibri" pitchFamily="34" charset="-120"/>
              </a:rPr>
              <a:t>企業担当者向け　10</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企業担当者マニュアル</dc:title>
  <dc:subject>PptxGenJS Presentation</dc:subject>
  <dc:creator>企業周遊アンケートシステム</dc:creator>
  <cp:lastModifiedBy>企業周遊アンケートシステム</cp:lastModifiedBy>
  <cp:revision>1</cp:revision>
  <dcterms:created xsi:type="dcterms:W3CDTF">2026-10-16T01:44:00Z</dcterms:created>
  <dcterms:modified xsi:type="dcterms:W3CDTF">2026-10-16T01:44:00Z</dcterms:modified>
</cp:coreProperties>
</file>