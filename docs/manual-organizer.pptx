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66928" y="3291840"/>
            <a:ext cx="6428232"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企業周遊アンケートシステム</a:t>
            </a:r>
            <a:endParaRPr lang="en-US" sz="1300" dirty="0"/>
          </a:p>
        </p:txBody>
      </p:sp>
      <p:sp>
        <p:nvSpPr>
          <p:cNvPr id="3" name="Text 1"/>
          <p:cNvSpPr txBox="1"/>
          <p:nvPr/>
        </p:nvSpPr>
        <p:spPr>
          <a:xfrm>
            <a:off x="566928" y="3703320"/>
            <a:ext cx="6428232"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主催者マニュアル</a:t>
            </a:r>
            <a:endParaRPr lang="en-US" sz="3400" dirty="0"/>
          </a:p>
        </p:txBody>
      </p:sp>
      <p:sp>
        <p:nvSpPr>
          <p:cNvPr id="4" name="Text 2"/>
          <p:cNvSpPr txBox="1"/>
          <p:nvPr/>
        </p:nvSpPr>
        <p:spPr>
          <a:xfrm>
            <a:off x="566928" y="5257800"/>
            <a:ext cx="6428232" cy="109728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イベントの準備から、当日の運営、終了後の案内メール送付・集計・データ整理までの手順です。このシステムでできることは、この資料にすべて載っています。</a:t>
            </a:r>
            <a:endParaRPr lang="en-US" sz="1200" dirty="0"/>
          </a:p>
        </p:txBody>
      </p:sp>
      <p:sp>
        <p:nvSpPr>
          <p:cNvPr id="5" name="Text 3"/>
          <p:cNvSpPr txBox="1"/>
          <p:nvPr/>
        </p:nvSpPr>
        <p:spPr>
          <a:xfrm>
            <a:off x="566928" y="9683496"/>
            <a:ext cx="6428232" cy="4572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A4縦で印刷できます。画面例はテスト環境のもので、実際の表示とは名称や件数が異なる場合があります。</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全体の流れ</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準備・当日・終了後の3つに分かれます。</a:t>
            </a:r>
            <a:endParaRPr lang="en-US" sz="1100" dirty="0"/>
          </a:p>
        </p:txBody>
      </p:sp>
      <p:sp>
        <p:nvSpPr>
          <p:cNvPr id="5" name="Text 3"/>
          <p:cNvSpPr txBox="1"/>
          <p:nvPr/>
        </p:nvSpPr>
        <p:spPr>
          <a:xfrm>
            <a:off x="566928" y="1885061"/>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準備（イベント前）</a:t>
            </a:r>
            <a:endParaRPr lang="en-US" sz="1400" dirty="0"/>
          </a:p>
        </p:txBody>
      </p:sp>
      <p:sp>
        <p:nvSpPr>
          <p:cNvPr id="6" name="Shape 4"/>
          <p:cNvSpPr/>
          <p:nvPr/>
        </p:nvSpPr>
        <p:spPr>
          <a:xfrm>
            <a:off x="566928" y="2234311"/>
            <a:ext cx="274320" cy="274320"/>
          </a:xfrm>
          <a:prstGeom prst="ellipse">
            <a:avLst/>
          </a:prstGeom>
          <a:solidFill>
            <a:srgbClr val="1E2761"/>
          </a:solidFill>
          <a:ln/>
        </p:spPr>
      </p:sp>
      <p:sp>
        <p:nvSpPr>
          <p:cNvPr id="7" name="Text 5"/>
          <p:cNvSpPr txBox="1"/>
          <p:nvPr/>
        </p:nvSpPr>
        <p:spPr>
          <a:xfrm>
            <a:off x="566928" y="22343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969264" y="221602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管理画面にログインし、</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イベントを作る</a:t>
            </a:r>
            <a:endParaRPr lang="en-US" sz="1150" dirty="0"/>
          </a:p>
        </p:txBody>
      </p:sp>
      <p:sp>
        <p:nvSpPr>
          <p:cNvPr id="9" name="Shape 7"/>
          <p:cNvSpPr/>
          <p:nvPr/>
        </p:nvSpPr>
        <p:spPr>
          <a:xfrm>
            <a:off x="566928" y="2691511"/>
            <a:ext cx="274320" cy="274320"/>
          </a:xfrm>
          <a:prstGeom prst="ellipse">
            <a:avLst/>
          </a:prstGeom>
          <a:solidFill>
            <a:srgbClr val="1E2761"/>
          </a:solidFill>
          <a:ln/>
        </p:spPr>
      </p:sp>
      <p:sp>
        <p:nvSpPr>
          <p:cNvPr id="10" name="Text 8"/>
          <p:cNvSpPr txBox="1"/>
          <p:nvPr/>
        </p:nvSpPr>
        <p:spPr>
          <a:xfrm>
            <a:off x="566928" y="26915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69264" y="267322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出展企業を登録</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する（企業ごとにQRコードが発行されます）</a:t>
            </a:r>
            <a:endParaRPr lang="en-US" sz="1150" dirty="0"/>
          </a:p>
        </p:txBody>
      </p:sp>
      <p:sp>
        <p:nvSpPr>
          <p:cNvPr id="12" name="Shape 10"/>
          <p:cNvSpPr/>
          <p:nvPr/>
        </p:nvSpPr>
        <p:spPr>
          <a:xfrm>
            <a:off x="566928" y="3148711"/>
            <a:ext cx="274320" cy="274320"/>
          </a:xfrm>
          <a:prstGeom prst="ellipse">
            <a:avLst/>
          </a:prstGeom>
          <a:solidFill>
            <a:srgbClr val="1E2761"/>
          </a:solidFill>
          <a:ln/>
        </p:spPr>
      </p:sp>
      <p:sp>
        <p:nvSpPr>
          <p:cNvPr id="13" name="Text 11"/>
          <p:cNvSpPr txBox="1"/>
          <p:nvPr/>
        </p:nvSpPr>
        <p:spPr>
          <a:xfrm>
            <a:off x="566928" y="31487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969264" y="313042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各企業の</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アンケートの設問を登録</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し、公開する</a:t>
            </a:r>
            <a:endParaRPr lang="en-US" sz="1150" dirty="0"/>
          </a:p>
        </p:txBody>
      </p:sp>
      <p:sp>
        <p:nvSpPr>
          <p:cNvPr id="15" name="Shape 13"/>
          <p:cNvSpPr/>
          <p:nvPr/>
        </p:nvSpPr>
        <p:spPr>
          <a:xfrm>
            <a:off x="566928" y="3605911"/>
            <a:ext cx="274320" cy="274320"/>
          </a:xfrm>
          <a:prstGeom prst="ellipse">
            <a:avLst/>
          </a:prstGeom>
          <a:solidFill>
            <a:srgbClr val="1E2761"/>
          </a:solidFill>
          <a:ln/>
        </p:spPr>
      </p:sp>
      <p:sp>
        <p:nvSpPr>
          <p:cNvPr id="16" name="Text 14"/>
          <p:cNvSpPr txBox="1"/>
          <p:nvPr/>
        </p:nvSpPr>
        <p:spPr>
          <a:xfrm>
            <a:off x="566928" y="36059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txBox="1"/>
          <p:nvPr/>
        </p:nvSpPr>
        <p:spPr>
          <a:xfrm>
            <a:off x="969264" y="358762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QRコードを印刷</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してブースに配る</a:t>
            </a:r>
            <a:endParaRPr lang="en-US" sz="1150" dirty="0"/>
          </a:p>
        </p:txBody>
      </p:sp>
      <p:sp>
        <p:nvSpPr>
          <p:cNvPr id="18" name="Shape 16"/>
          <p:cNvSpPr/>
          <p:nvPr/>
        </p:nvSpPr>
        <p:spPr>
          <a:xfrm>
            <a:off x="566928" y="4063111"/>
            <a:ext cx="274320" cy="274320"/>
          </a:xfrm>
          <a:prstGeom prst="ellipse">
            <a:avLst/>
          </a:prstGeom>
          <a:solidFill>
            <a:srgbClr val="1E2761"/>
          </a:solidFill>
          <a:ln/>
        </p:spPr>
      </p:sp>
      <p:sp>
        <p:nvSpPr>
          <p:cNvPr id="19" name="Text 17"/>
          <p:cNvSpPr txBox="1"/>
          <p:nvPr/>
        </p:nvSpPr>
        <p:spPr>
          <a:xfrm>
            <a:off x="566928" y="40631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txBox="1"/>
          <p:nvPr/>
        </p:nvSpPr>
        <p:spPr>
          <a:xfrm>
            <a:off x="969264" y="404482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景品を登録</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する（用意した数量も入れます）</a:t>
            </a:r>
            <a:endParaRPr lang="en-US" sz="1150" dirty="0"/>
          </a:p>
        </p:txBody>
      </p:sp>
      <p:sp>
        <p:nvSpPr>
          <p:cNvPr id="21" name="Shape 19"/>
          <p:cNvSpPr/>
          <p:nvPr/>
        </p:nvSpPr>
        <p:spPr>
          <a:xfrm>
            <a:off x="566928" y="4520311"/>
            <a:ext cx="274320" cy="274320"/>
          </a:xfrm>
          <a:prstGeom prst="ellipse">
            <a:avLst/>
          </a:prstGeom>
          <a:solidFill>
            <a:srgbClr val="1E2761"/>
          </a:solidFill>
          <a:ln/>
        </p:spPr>
      </p:sp>
      <p:sp>
        <p:nvSpPr>
          <p:cNvPr id="22" name="Text 20"/>
          <p:cNvSpPr txBox="1"/>
          <p:nvPr/>
        </p:nvSpPr>
        <p:spPr>
          <a:xfrm>
            <a:off x="566928" y="45203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txBox="1"/>
          <p:nvPr/>
        </p:nvSpPr>
        <p:spPr>
          <a:xfrm>
            <a:off x="969264" y="450202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企業担当者・総合受付のアカウント</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を発行する</a:t>
            </a:r>
            <a:endParaRPr lang="en-US" sz="1150" dirty="0"/>
          </a:p>
        </p:txBody>
      </p:sp>
      <p:sp>
        <p:nvSpPr>
          <p:cNvPr id="24" name="Shape 22"/>
          <p:cNvSpPr/>
          <p:nvPr/>
        </p:nvSpPr>
        <p:spPr>
          <a:xfrm>
            <a:off x="566928" y="4977511"/>
            <a:ext cx="274320" cy="274320"/>
          </a:xfrm>
          <a:prstGeom prst="ellipse">
            <a:avLst/>
          </a:prstGeom>
          <a:solidFill>
            <a:srgbClr val="1E2761"/>
          </a:solidFill>
          <a:ln/>
        </p:spPr>
      </p:sp>
      <p:sp>
        <p:nvSpPr>
          <p:cNvPr id="25" name="Text 23"/>
          <p:cNvSpPr txBox="1"/>
          <p:nvPr/>
        </p:nvSpPr>
        <p:spPr>
          <a:xfrm>
            <a:off x="566928" y="49775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6" name="Text 24"/>
          <p:cNvSpPr txBox="1"/>
          <p:nvPr/>
        </p:nvSpPr>
        <p:spPr>
          <a:xfrm>
            <a:off x="969264" y="495922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スマホ壁紙</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を登録する</a:t>
            </a:r>
            <a:endParaRPr lang="en-US" sz="1150" dirty="0"/>
          </a:p>
        </p:txBody>
      </p:sp>
      <p:sp>
        <p:nvSpPr>
          <p:cNvPr id="27" name="Shape 25"/>
          <p:cNvSpPr/>
          <p:nvPr/>
        </p:nvSpPr>
        <p:spPr>
          <a:xfrm>
            <a:off x="566928" y="5434711"/>
            <a:ext cx="274320" cy="274320"/>
          </a:xfrm>
          <a:prstGeom prst="ellipse">
            <a:avLst/>
          </a:prstGeom>
          <a:solidFill>
            <a:srgbClr val="1E2761"/>
          </a:solidFill>
          <a:ln/>
        </p:spPr>
      </p:sp>
      <p:sp>
        <p:nvSpPr>
          <p:cNvPr id="28" name="Text 26"/>
          <p:cNvSpPr txBox="1"/>
          <p:nvPr/>
        </p:nvSpPr>
        <p:spPr>
          <a:xfrm>
            <a:off x="566928" y="54347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9" name="Text 27"/>
          <p:cNvSpPr txBox="1"/>
          <p:nvPr/>
        </p:nvSpPr>
        <p:spPr>
          <a:xfrm>
            <a:off x="969264" y="541642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総合アンケート</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（イベント全体について聞く設問）を登録して公開する</a:t>
            </a:r>
            <a:endParaRPr lang="en-US" sz="1150" dirty="0"/>
          </a:p>
        </p:txBody>
      </p:sp>
      <p:sp>
        <p:nvSpPr>
          <p:cNvPr id="30" name="Text 28"/>
          <p:cNvSpPr txBox="1"/>
          <p:nvPr/>
        </p:nvSpPr>
        <p:spPr>
          <a:xfrm>
            <a:off x="566928" y="5983351"/>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当日</a:t>
            </a:r>
            <a:endParaRPr lang="en-US" sz="1400" dirty="0"/>
          </a:p>
        </p:txBody>
      </p:sp>
      <p:sp>
        <p:nvSpPr>
          <p:cNvPr id="31" name="Shape 29"/>
          <p:cNvSpPr/>
          <p:nvPr/>
        </p:nvSpPr>
        <p:spPr>
          <a:xfrm>
            <a:off x="566928" y="6332601"/>
            <a:ext cx="274320" cy="274320"/>
          </a:xfrm>
          <a:prstGeom prst="ellipse">
            <a:avLst/>
          </a:prstGeom>
          <a:solidFill>
            <a:srgbClr val="1E2761"/>
          </a:solidFill>
          <a:ln/>
        </p:spPr>
      </p:sp>
      <p:sp>
        <p:nvSpPr>
          <p:cNvPr id="32" name="Text 30"/>
          <p:cNvSpPr txBox="1"/>
          <p:nvPr/>
        </p:nvSpPr>
        <p:spPr>
          <a:xfrm>
            <a:off x="566928" y="63326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3" name="Text 31"/>
          <p:cNvSpPr txBox="1"/>
          <p:nvPr/>
        </p:nvSpPr>
        <p:spPr>
          <a:xfrm>
            <a:off x="969264" y="631431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イベントの状態を</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「開催中」</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にする（これで回答の受付が始まります）</a:t>
            </a:r>
            <a:endParaRPr lang="en-US" sz="1150" dirty="0"/>
          </a:p>
        </p:txBody>
      </p:sp>
      <p:sp>
        <p:nvSpPr>
          <p:cNvPr id="34" name="Shape 32"/>
          <p:cNvSpPr/>
          <p:nvPr/>
        </p:nvSpPr>
        <p:spPr>
          <a:xfrm>
            <a:off x="566928" y="6789801"/>
            <a:ext cx="274320" cy="274320"/>
          </a:xfrm>
          <a:prstGeom prst="ellipse">
            <a:avLst/>
          </a:prstGeom>
          <a:solidFill>
            <a:srgbClr val="1E2761"/>
          </a:solidFill>
          <a:ln/>
        </p:spPr>
      </p:sp>
      <p:sp>
        <p:nvSpPr>
          <p:cNvPr id="35" name="Text 33"/>
          <p:cNvSpPr txBox="1"/>
          <p:nvPr/>
        </p:nvSpPr>
        <p:spPr>
          <a:xfrm>
            <a:off x="566928" y="67898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34"/>
          <p:cNvSpPr txBox="1"/>
          <p:nvPr/>
        </p:nvSpPr>
        <p:spPr>
          <a:xfrm>
            <a:off x="969264" y="677151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ダッシュボードで</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回答状況</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を見る</a:t>
            </a:r>
            <a:endParaRPr lang="en-US" sz="1150" dirty="0"/>
          </a:p>
        </p:txBody>
      </p:sp>
      <p:sp>
        <p:nvSpPr>
          <p:cNvPr id="37" name="Text 35"/>
          <p:cNvSpPr txBox="1"/>
          <p:nvPr/>
        </p:nvSpPr>
        <p:spPr>
          <a:xfrm>
            <a:off x="566928" y="7338441"/>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終了後</a:t>
            </a:r>
            <a:endParaRPr lang="en-US" sz="1400" dirty="0"/>
          </a:p>
        </p:txBody>
      </p:sp>
      <p:sp>
        <p:nvSpPr>
          <p:cNvPr id="38" name="Shape 36"/>
          <p:cNvSpPr/>
          <p:nvPr/>
        </p:nvSpPr>
        <p:spPr>
          <a:xfrm>
            <a:off x="566928" y="7687691"/>
            <a:ext cx="274320" cy="274320"/>
          </a:xfrm>
          <a:prstGeom prst="ellipse">
            <a:avLst/>
          </a:prstGeom>
          <a:solidFill>
            <a:srgbClr val="1E2761"/>
          </a:solidFill>
          <a:ln/>
        </p:spPr>
      </p:sp>
      <p:sp>
        <p:nvSpPr>
          <p:cNvPr id="39" name="Text 37"/>
          <p:cNvSpPr txBox="1"/>
          <p:nvPr/>
        </p:nvSpPr>
        <p:spPr>
          <a:xfrm>
            <a:off x="566928" y="768769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8"/>
          <p:cNvSpPr txBox="1"/>
          <p:nvPr/>
        </p:nvSpPr>
        <p:spPr>
          <a:xfrm>
            <a:off x="969264" y="766940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状態を</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「終了」</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にする</a:t>
            </a:r>
            <a:endParaRPr lang="en-US" sz="1150" dirty="0"/>
          </a:p>
        </p:txBody>
      </p:sp>
      <p:sp>
        <p:nvSpPr>
          <p:cNvPr id="41" name="Shape 39"/>
          <p:cNvSpPr/>
          <p:nvPr/>
        </p:nvSpPr>
        <p:spPr>
          <a:xfrm>
            <a:off x="566928" y="8144891"/>
            <a:ext cx="274320" cy="274320"/>
          </a:xfrm>
          <a:prstGeom prst="ellipse">
            <a:avLst/>
          </a:prstGeom>
          <a:solidFill>
            <a:srgbClr val="1E2761"/>
          </a:solidFill>
          <a:ln/>
        </p:spPr>
      </p:sp>
      <p:sp>
        <p:nvSpPr>
          <p:cNvPr id="42" name="Text 40"/>
          <p:cNvSpPr txBox="1"/>
          <p:nvPr/>
        </p:nvSpPr>
        <p:spPr>
          <a:xfrm>
            <a:off x="566928" y="814489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3" name="Text 41"/>
          <p:cNvSpPr txBox="1"/>
          <p:nvPr/>
        </p:nvSpPr>
        <p:spPr>
          <a:xfrm>
            <a:off x="969264" y="812660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壁紙のご案内メール</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を送る</a:t>
            </a:r>
            <a:endParaRPr lang="en-US" sz="1150" dirty="0"/>
          </a:p>
        </p:txBody>
      </p:sp>
      <p:sp>
        <p:nvSpPr>
          <p:cNvPr id="44" name="Shape 42"/>
          <p:cNvSpPr/>
          <p:nvPr/>
        </p:nvSpPr>
        <p:spPr>
          <a:xfrm>
            <a:off x="566928" y="8602091"/>
            <a:ext cx="274320" cy="274320"/>
          </a:xfrm>
          <a:prstGeom prst="ellipse">
            <a:avLst/>
          </a:prstGeom>
          <a:solidFill>
            <a:srgbClr val="1E2761"/>
          </a:solidFill>
          <a:ln/>
        </p:spPr>
      </p:sp>
      <p:sp>
        <p:nvSpPr>
          <p:cNvPr id="45" name="Text 43"/>
          <p:cNvSpPr txBox="1"/>
          <p:nvPr/>
        </p:nvSpPr>
        <p:spPr>
          <a:xfrm>
            <a:off x="566928" y="860209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4"/>
          <p:cNvSpPr txBox="1"/>
          <p:nvPr/>
        </p:nvSpPr>
        <p:spPr>
          <a:xfrm>
            <a:off x="969264" y="858380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CSVで集計データ</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を受け取る</a:t>
            </a:r>
            <a:endParaRPr lang="en-US" sz="1150" dirty="0"/>
          </a:p>
        </p:txBody>
      </p:sp>
      <p:sp>
        <p:nvSpPr>
          <p:cNvPr id="47" name="Shape 45"/>
          <p:cNvSpPr/>
          <p:nvPr/>
        </p:nvSpPr>
        <p:spPr>
          <a:xfrm>
            <a:off x="566928" y="9059291"/>
            <a:ext cx="274320" cy="274320"/>
          </a:xfrm>
          <a:prstGeom prst="ellipse">
            <a:avLst/>
          </a:prstGeom>
          <a:solidFill>
            <a:srgbClr val="1E2761"/>
          </a:solidFill>
          <a:ln/>
        </p:spPr>
      </p:sp>
      <p:sp>
        <p:nvSpPr>
          <p:cNvPr id="48" name="Text 46"/>
          <p:cNvSpPr txBox="1"/>
          <p:nvPr/>
        </p:nvSpPr>
        <p:spPr>
          <a:xfrm>
            <a:off x="566928" y="905929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9" name="Text 47"/>
          <p:cNvSpPr txBox="1"/>
          <p:nvPr/>
        </p:nvSpPr>
        <p:spPr>
          <a:xfrm>
            <a:off x="969264" y="904100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メールアドレスを削除</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する</a:t>
            </a:r>
            <a:endParaRPr lang="en-US" sz="1150" dirty="0"/>
          </a:p>
        </p:txBody>
      </p:sp>
      <p:sp>
        <p:nvSpPr>
          <p:cNvPr id="50" name="Shape 48"/>
          <p:cNvSpPr/>
          <p:nvPr/>
        </p:nvSpPr>
        <p:spPr>
          <a:xfrm>
            <a:off x="566928" y="9498203"/>
            <a:ext cx="6428232" cy="431102"/>
          </a:xfrm>
          <a:prstGeom prst="roundRect">
            <a:avLst>
              <a:gd name="adj" fmla="val 12726"/>
            </a:avLst>
          </a:prstGeom>
          <a:solidFill>
            <a:srgbClr val="E8ECF8"/>
          </a:solidFill>
          <a:ln w="9525">
            <a:solidFill>
              <a:srgbClr val="1E2761"/>
            </a:solidFill>
            <a:prstDash val="solid"/>
          </a:ln>
        </p:spPr>
      </p:sp>
      <p:sp>
        <p:nvSpPr>
          <p:cNvPr id="51" name="Text 49"/>
          <p:cNvSpPr txBox="1"/>
          <p:nvPr/>
        </p:nvSpPr>
        <p:spPr>
          <a:xfrm>
            <a:off x="658368" y="9589643"/>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52" name="Text 50"/>
          <p:cNvSpPr txBox="1"/>
          <p:nvPr/>
        </p:nvSpPr>
        <p:spPr>
          <a:xfrm>
            <a:off x="950976" y="9607931"/>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上から順に進めれば、迷わず運営できます。次のページから1つずつ説明します。</a:t>
            </a:r>
            <a:endParaRPr lang="en-US" sz="1050" dirty="0"/>
          </a:p>
        </p:txBody>
      </p:sp>
      <p:sp>
        <p:nvSpPr>
          <p:cNvPr id="53" name="Text 51"/>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準備1：ログインとイベントの作成</a:t>
            </a:r>
            <a:endParaRPr lang="en-US" sz="2200" dirty="0"/>
          </a:p>
        </p:txBody>
      </p:sp>
      <p:sp>
        <p:nvSpPr>
          <p:cNvPr id="4" name="Text 2"/>
          <p:cNvSpPr txBox="1"/>
          <p:nvPr/>
        </p:nvSpPr>
        <p:spPr>
          <a:xfrm>
            <a:off x="566928" y="1591056"/>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初めて使うとき</a:t>
            </a:r>
            <a:endParaRPr lang="en-US" sz="1400" dirty="0"/>
          </a:p>
        </p:txBody>
      </p:sp>
      <p:sp>
        <p:nvSpPr>
          <p:cNvPr id="5" name="Text 3"/>
          <p:cNvSpPr txBox="1"/>
          <p:nvPr/>
        </p:nvSpPr>
        <p:spPr>
          <a:xfrm>
            <a:off x="566928" y="192201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最初の1回だけ、主催者アカウントを作ります。</a:t>
            </a:r>
            <a:endParaRPr lang="en-US" sz="1100" dirty="0"/>
          </a:p>
        </p:txBody>
      </p:sp>
      <p:sp>
        <p:nvSpPr>
          <p:cNvPr id="6" name="Shape 4"/>
          <p:cNvSpPr/>
          <p:nvPr/>
        </p:nvSpPr>
        <p:spPr>
          <a:xfrm>
            <a:off x="566928" y="2234311"/>
            <a:ext cx="274320" cy="274320"/>
          </a:xfrm>
          <a:prstGeom prst="ellipse">
            <a:avLst/>
          </a:prstGeom>
          <a:solidFill>
            <a:srgbClr val="1E2761"/>
          </a:solidFill>
          <a:ln/>
        </p:spPr>
      </p:sp>
      <p:sp>
        <p:nvSpPr>
          <p:cNvPr id="7" name="Text 5"/>
          <p:cNvSpPr txBox="1"/>
          <p:nvPr/>
        </p:nvSpPr>
        <p:spPr>
          <a:xfrm>
            <a:off x="566928" y="22343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969264" y="221602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ブラウザで </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`/admin/setup.php`</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 を開く</a:t>
            </a:r>
            <a:endParaRPr lang="en-US" sz="1150" dirty="0"/>
          </a:p>
        </p:txBody>
      </p:sp>
      <p:sp>
        <p:nvSpPr>
          <p:cNvPr id="9" name="Shape 7"/>
          <p:cNvSpPr/>
          <p:nvPr/>
        </p:nvSpPr>
        <p:spPr>
          <a:xfrm>
            <a:off x="566928" y="2691511"/>
            <a:ext cx="274320" cy="274320"/>
          </a:xfrm>
          <a:prstGeom prst="ellipse">
            <a:avLst/>
          </a:prstGeom>
          <a:solidFill>
            <a:srgbClr val="1E2761"/>
          </a:solidFill>
          <a:ln/>
        </p:spPr>
      </p:sp>
      <p:sp>
        <p:nvSpPr>
          <p:cNvPr id="10" name="Text 8"/>
          <p:cNvSpPr txBox="1"/>
          <p:nvPr/>
        </p:nvSpPr>
        <p:spPr>
          <a:xfrm>
            <a:off x="566928" y="26915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69264" y="267322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ユーザー名・表示名・パスワード（8文字以上）を入力する</a:t>
            </a:r>
            <a:endParaRPr lang="en-US" sz="1150" dirty="0"/>
          </a:p>
        </p:txBody>
      </p:sp>
      <p:sp>
        <p:nvSpPr>
          <p:cNvPr id="12" name="Shape 10"/>
          <p:cNvSpPr/>
          <p:nvPr/>
        </p:nvSpPr>
        <p:spPr>
          <a:xfrm>
            <a:off x="566928" y="3148711"/>
            <a:ext cx="274320" cy="274320"/>
          </a:xfrm>
          <a:prstGeom prst="ellipse">
            <a:avLst/>
          </a:prstGeom>
          <a:solidFill>
            <a:srgbClr val="1E2761"/>
          </a:solidFill>
          <a:ln/>
        </p:spPr>
      </p:sp>
      <p:sp>
        <p:nvSpPr>
          <p:cNvPr id="13" name="Text 11"/>
          <p:cNvSpPr txBox="1"/>
          <p:nvPr/>
        </p:nvSpPr>
        <p:spPr>
          <a:xfrm>
            <a:off x="566928" y="31487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969264" y="313042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「作成する」を押す</a:t>
            </a:r>
            <a:endParaRPr lang="en-US" sz="1150" dirty="0"/>
          </a:p>
        </p:txBody>
      </p:sp>
      <p:sp>
        <p:nvSpPr>
          <p:cNvPr id="15" name="Shape 13"/>
          <p:cNvSpPr/>
          <p:nvPr/>
        </p:nvSpPr>
        <p:spPr>
          <a:xfrm>
            <a:off x="566928" y="3587623"/>
            <a:ext cx="6428232" cy="624459"/>
          </a:xfrm>
          <a:prstGeom prst="roundRect">
            <a:avLst>
              <a:gd name="adj" fmla="val 8786"/>
            </a:avLst>
          </a:prstGeom>
          <a:solidFill>
            <a:srgbClr val="FDF0E6"/>
          </a:solidFill>
          <a:ln w="9525">
            <a:solidFill>
              <a:srgbClr val="E08A3C"/>
            </a:solidFill>
            <a:prstDash val="solid"/>
          </a:ln>
        </p:spPr>
      </p:sp>
      <p:sp>
        <p:nvSpPr>
          <p:cNvPr id="16" name="Text 14"/>
          <p:cNvSpPr txBox="1"/>
          <p:nvPr/>
        </p:nvSpPr>
        <p:spPr>
          <a:xfrm>
            <a:off x="658368" y="3679063"/>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950976" y="3697351"/>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この画面はアカウントが1つでも登録されると使えなくなります。パスワードは必ず控えてください。</a:t>
            </a:r>
            <a:endParaRPr lang="en-US" sz="1050" dirty="0"/>
          </a:p>
        </p:txBody>
      </p:sp>
      <p:sp>
        <p:nvSpPr>
          <p:cNvPr id="18" name="Text 16"/>
          <p:cNvSpPr txBox="1"/>
          <p:nvPr/>
        </p:nvSpPr>
        <p:spPr>
          <a:xfrm>
            <a:off x="566928" y="4394962"/>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イベントを作る</a:t>
            </a:r>
            <a:endParaRPr lang="en-US" sz="1400" dirty="0"/>
          </a:p>
        </p:txBody>
      </p:sp>
      <p:sp>
        <p:nvSpPr>
          <p:cNvPr id="19" name="Shape 17"/>
          <p:cNvSpPr/>
          <p:nvPr/>
        </p:nvSpPr>
        <p:spPr>
          <a:xfrm>
            <a:off x="566928" y="4744212"/>
            <a:ext cx="274320" cy="274320"/>
          </a:xfrm>
          <a:prstGeom prst="ellipse">
            <a:avLst/>
          </a:prstGeom>
          <a:solidFill>
            <a:srgbClr val="1E2761"/>
          </a:solidFill>
          <a:ln/>
        </p:spPr>
      </p:sp>
      <p:sp>
        <p:nvSpPr>
          <p:cNvPr id="20" name="Text 18"/>
          <p:cNvSpPr txBox="1"/>
          <p:nvPr/>
        </p:nvSpPr>
        <p:spPr>
          <a:xfrm>
            <a:off x="566928" y="47442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9"/>
          <p:cNvSpPr txBox="1"/>
          <p:nvPr/>
        </p:nvSpPr>
        <p:spPr>
          <a:xfrm>
            <a:off x="969264" y="4725924"/>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ダッシュボードの「イベントを作成する」に</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イベント名</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と</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開催日</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を入力する</a:t>
            </a:r>
            <a:endParaRPr lang="en-US" sz="1150" dirty="0"/>
          </a:p>
        </p:txBody>
      </p:sp>
      <p:sp>
        <p:nvSpPr>
          <p:cNvPr id="22" name="Shape 20"/>
          <p:cNvSpPr/>
          <p:nvPr/>
        </p:nvSpPr>
        <p:spPr>
          <a:xfrm>
            <a:off x="566928" y="5201412"/>
            <a:ext cx="274320" cy="274320"/>
          </a:xfrm>
          <a:prstGeom prst="ellipse">
            <a:avLst/>
          </a:prstGeom>
          <a:solidFill>
            <a:srgbClr val="1E2761"/>
          </a:solidFill>
          <a:ln/>
        </p:spPr>
      </p:sp>
      <p:sp>
        <p:nvSpPr>
          <p:cNvPr id="23" name="Text 21"/>
          <p:cNvSpPr txBox="1"/>
          <p:nvPr/>
        </p:nvSpPr>
        <p:spPr>
          <a:xfrm>
            <a:off x="566928" y="52014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2"/>
          <p:cNvSpPr txBox="1"/>
          <p:nvPr/>
        </p:nvSpPr>
        <p:spPr>
          <a:xfrm>
            <a:off x="969264" y="5183124"/>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「作成する」を押す</a:t>
            </a:r>
            <a:endParaRPr lang="en-US" sz="1150" dirty="0"/>
          </a:p>
        </p:txBody>
      </p:sp>
      <p:sp>
        <p:nvSpPr>
          <p:cNvPr id="25" name="Shape 23"/>
          <p:cNvSpPr/>
          <p:nvPr/>
        </p:nvSpPr>
        <p:spPr>
          <a:xfrm>
            <a:off x="566928" y="5658612"/>
            <a:ext cx="274320" cy="274320"/>
          </a:xfrm>
          <a:prstGeom prst="ellipse">
            <a:avLst/>
          </a:prstGeom>
          <a:solidFill>
            <a:srgbClr val="1E2761"/>
          </a:solidFill>
          <a:ln/>
        </p:spPr>
      </p:sp>
      <p:sp>
        <p:nvSpPr>
          <p:cNvPr id="26" name="Text 24"/>
          <p:cNvSpPr txBox="1"/>
          <p:nvPr/>
        </p:nvSpPr>
        <p:spPr>
          <a:xfrm>
            <a:off x="566928" y="56586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Text 25"/>
          <p:cNvSpPr txBox="1"/>
          <p:nvPr/>
        </p:nvSpPr>
        <p:spPr>
          <a:xfrm>
            <a:off x="969264" y="5640324"/>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作成直後の状態は</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「準備中」</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です（この間は来場者はアンケートに回答できません）</a:t>
            </a:r>
            <a:endParaRPr lang="en-US" sz="1150" dirty="0"/>
          </a:p>
        </p:txBody>
      </p:sp>
      <p:pic>
        <p:nvPicPr>
          <p:cNvPr id="28" name="Image 0" descr="C:\Users\sato\Desktop\enque\docs\images\o-new-event.png">    </p:cNvPr>
          <p:cNvPicPr>
            <a:picLocks noChangeAspect="1"/>
          </p:cNvPicPr>
          <p:nvPr/>
        </p:nvPicPr>
        <p:blipFill>
          <a:blip r:embed="rId1"/>
          <a:stretch>
            <a:fillRect/>
          </a:stretch>
        </p:blipFill>
        <p:spPr>
          <a:xfrm>
            <a:off x="936779" y="6097524"/>
            <a:ext cx="5688531" cy="3474720"/>
          </a:xfrm>
          <a:prstGeom prst="rect">
            <a:avLst/>
          </a:prstGeom>
        </p:spPr>
      </p:pic>
      <p:sp>
        <p:nvSpPr>
          <p:cNvPr id="29" name="Text 26"/>
          <p:cNvSpPr txBox="1"/>
          <p:nvPr/>
        </p:nvSpPr>
        <p:spPr>
          <a:xfrm>
            <a:off x="566928" y="9627108"/>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ダッシュボードの「イベントを作成する」フォーム（イベント名・開催日の入力欄）。</a:t>
            </a:r>
            <a:endParaRPr lang="en-US" sz="950" dirty="0"/>
          </a:p>
        </p:txBody>
      </p:sp>
      <p:sp>
        <p:nvSpPr>
          <p:cNvPr id="30" name="Text 27"/>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準備2：出展企業を登録する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「企業・QR」の画面で、出展する企業を1社ずつ登録します。</a:t>
            </a:r>
            <a:endParaRPr lang="en-US" sz="1100" dirty="0"/>
          </a:p>
        </p:txBody>
      </p:sp>
      <p:sp>
        <p:nvSpPr>
          <p:cNvPr id="5" name="Shape 3"/>
          <p:cNvSpPr/>
          <p:nvPr/>
        </p:nvSpPr>
        <p:spPr>
          <a:xfrm>
            <a:off x="566928" y="1793621"/>
            <a:ext cx="274320" cy="274320"/>
          </a:xfrm>
          <a:prstGeom prst="ellipse">
            <a:avLst/>
          </a:prstGeom>
          <a:solidFill>
            <a:srgbClr val="1E2761"/>
          </a:solidFill>
          <a:ln/>
        </p:spPr>
      </p:sp>
      <p:sp>
        <p:nvSpPr>
          <p:cNvPr id="6" name="Text 4"/>
          <p:cNvSpPr txBox="1"/>
          <p:nvPr/>
        </p:nvSpPr>
        <p:spPr>
          <a:xfrm>
            <a:off x="566928" y="1793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69264" y="177533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企業名</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を入力する（必須）</a:t>
            </a:r>
            <a:endParaRPr lang="en-US" sz="1150" dirty="0"/>
          </a:p>
        </p:txBody>
      </p:sp>
      <p:sp>
        <p:nvSpPr>
          <p:cNvPr id="8" name="Shape 6"/>
          <p:cNvSpPr/>
          <p:nvPr/>
        </p:nvSpPr>
        <p:spPr>
          <a:xfrm>
            <a:off x="566928" y="2250821"/>
            <a:ext cx="274320" cy="274320"/>
          </a:xfrm>
          <a:prstGeom prst="ellipse">
            <a:avLst/>
          </a:prstGeom>
          <a:solidFill>
            <a:srgbClr val="1E2761"/>
          </a:solidFill>
          <a:ln/>
        </p:spPr>
      </p:sp>
      <p:sp>
        <p:nvSpPr>
          <p:cNvPr id="9" name="Text 7"/>
          <p:cNvSpPr txBox="1"/>
          <p:nvPr/>
        </p:nvSpPr>
        <p:spPr>
          <a:xfrm>
            <a:off x="566928" y="22508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969264" y="22325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必要なら</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ブース番号</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企業カラー</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ロゴ画像のURL</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を入れる</a:t>
            </a:r>
            <a:endParaRPr lang="en-US" sz="1150" dirty="0"/>
          </a:p>
        </p:txBody>
      </p:sp>
      <p:sp>
        <p:nvSpPr>
          <p:cNvPr id="11" name="Shape 9"/>
          <p:cNvSpPr/>
          <p:nvPr/>
        </p:nvSpPr>
        <p:spPr>
          <a:xfrm>
            <a:off x="566928" y="2708021"/>
            <a:ext cx="274320" cy="274320"/>
          </a:xfrm>
          <a:prstGeom prst="ellipse">
            <a:avLst/>
          </a:prstGeom>
          <a:solidFill>
            <a:srgbClr val="1E2761"/>
          </a:solidFill>
          <a:ln/>
        </p:spPr>
      </p:sp>
      <p:sp>
        <p:nvSpPr>
          <p:cNvPr id="12" name="Text 10"/>
          <p:cNvSpPr txBox="1"/>
          <p:nvPr/>
        </p:nvSpPr>
        <p:spPr>
          <a:xfrm>
            <a:off x="566928" y="2708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969264" y="26897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「登録する」を押す</a:t>
            </a:r>
            <a:endParaRPr lang="en-US" sz="1150" dirty="0"/>
          </a:p>
        </p:txBody>
      </p:sp>
      <p:sp>
        <p:nvSpPr>
          <p:cNvPr id="14" name="Text 12"/>
          <p:cNvSpPr txBox="1"/>
          <p:nvPr/>
        </p:nvSpPr>
        <p:spPr>
          <a:xfrm>
            <a:off x="566928" y="3146933"/>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登録すると、その企業だけの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推測されにくいURL</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が自動で発行されます。来場者はこのURLのQRコードからアンケートに回答します。</a:t>
            </a:r>
            <a:endParaRPr lang="en-US" sz="1100" dirty="0"/>
          </a:p>
        </p:txBody>
      </p:sp>
      <p:sp>
        <p:nvSpPr>
          <p:cNvPr id="15" name="Shape 13"/>
          <p:cNvSpPr/>
          <p:nvPr/>
        </p:nvSpPr>
        <p:spPr>
          <a:xfrm>
            <a:off x="566928" y="3643503"/>
            <a:ext cx="6428232" cy="624459"/>
          </a:xfrm>
          <a:prstGeom prst="roundRect">
            <a:avLst>
              <a:gd name="adj" fmla="val 8786"/>
            </a:avLst>
          </a:prstGeom>
          <a:solidFill>
            <a:srgbClr val="E8ECF8"/>
          </a:solidFill>
          <a:ln w="9525">
            <a:solidFill>
              <a:srgbClr val="1E2761"/>
            </a:solidFill>
            <a:prstDash val="solid"/>
          </a:ln>
        </p:spPr>
      </p:sp>
      <p:sp>
        <p:nvSpPr>
          <p:cNvPr id="16" name="Text 14"/>
          <p:cNvSpPr txBox="1"/>
          <p:nvPr/>
        </p:nvSpPr>
        <p:spPr>
          <a:xfrm>
            <a:off x="658368" y="3734943"/>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7" name="Text 15"/>
          <p:cNvSpPr txBox="1"/>
          <p:nvPr/>
        </p:nvSpPr>
        <p:spPr>
          <a:xfrm>
            <a:off x="950976" y="3753231"/>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企業カラーとロゴは、来場者が見るアンケート画面の見出しに使われます。空欄でも問題ありません。</a:t>
            </a:r>
            <a:endParaRPr lang="en-US" sz="1050" dirty="0"/>
          </a:p>
        </p:txBody>
      </p:sp>
      <p:sp>
        <p:nvSpPr>
          <p:cNvPr id="18" name="Shape 16"/>
          <p:cNvSpPr/>
          <p:nvPr/>
        </p:nvSpPr>
        <p:spPr>
          <a:xfrm>
            <a:off x="566928" y="4341114"/>
            <a:ext cx="6428232" cy="624459"/>
          </a:xfrm>
          <a:prstGeom prst="roundRect">
            <a:avLst>
              <a:gd name="adj" fmla="val 8786"/>
            </a:avLst>
          </a:prstGeom>
          <a:solidFill>
            <a:srgbClr val="FDF0E6"/>
          </a:solidFill>
          <a:ln w="9525">
            <a:solidFill>
              <a:srgbClr val="E08A3C"/>
            </a:solidFill>
            <a:prstDash val="solid"/>
          </a:ln>
        </p:spPr>
      </p:sp>
      <p:sp>
        <p:nvSpPr>
          <p:cNvPr id="19" name="Text 17"/>
          <p:cNvSpPr txBox="1"/>
          <p:nvPr/>
        </p:nvSpPr>
        <p:spPr>
          <a:xfrm>
            <a:off x="658368" y="4432554"/>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20" name="Text 18"/>
          <p:cNvSpPr txBox="1"/>
          <p:nvPr/>
        </p:nvSpPr>
        <p:spPr>
          <a:xfrm>
            <a:off x="950976" y="4450842"/>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企業名を変えても回答データは残ります。ただし</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「URLを再発行」を押すと、印刷済みのQRコードは使えなくなります</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。貼り替えができるときだけ使ってください。</a:t>
            </a:r>
            <a:endParaRPr lang="en-US" sz="1050" dirty="0"/>
          </a:p>
        </p:txBody>
      </p:sp>
      <p:pic>
        <p:nvPicPr>
          <p:cNvPr id="21" name="Image 0" descr="C:\Users\sato\Desktop\enque\docs\images\o-companies.png">    </p:cNvPr>
          <p:cNvPicPr>
            <a:picLocks noChangeAspect="1"/>
          </p:cNvPicPr>
          <p:nvPr/>
        </p:nvPicPr>
        <p:blipFill>
          <a:blip r:embed="rId1"/>
          <a:stretch>
            <a:fillRect/>
          </a:stretch>
        </p:blipFill>
        <p:spPr>
          <a:xfrm>
            <a:off x="566928" y="5038725"/>
            <a:ext cx="6428232" cy="1691354"/>
          </a:xfrm>
          <a:prstGeom prst="rect">
            <a:avLst/>
          </a:prstGeom>
        </p:spPr>
      </p:pic>
      <p:sp>
        <p:nvSpPr>
          <p:cNvPr id="22" name="Text 19"/>
          <p:cNvSpPr txBox="1"/>
          <p:nvPr/>
        </p:nvSpPr>
        <p:spPr>
          <a:xfrm>
            <a:off x="566928" y="6784943"/>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「企業・QRコードの管理」画面。登録済みの企業が並んでいるところ。</a:t>
            </a:r>
            <a:endParaRPr lang="en-US" sz="950" dirty="0"/>
          </a:p>
        </p:txBody>
      </p:sp>
      <p:sp>
        <p:nvSpPr>
          <p:cNvPr id="23" name="Text 20"/>
          <p:cNvSpPr txBox="1"/>
          <p:nvPr/>
        </p:nvSpPr>
        <p:spPr>
          <a:xfrm>
            <a:off x="566928" y="7223855"/>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動作確認のためにURLを共有する</a:t>
            </a:r>
            <a:endParaRPr lang="en-US" sz="1400" dirty="0"/>
          </a:p>
        </p:txBody>
      </p:sp>
      <p:sp>
        <p:nvSpPr>
          <p:cNvPr id="24" name="Text 21"/>
          <p:cNvSpPr txBox="1"/>
          <p:nvPr/>
        </p:nvSpPr>
        <p:spPr>
          <a:xfrm>
            <a:off x="566928" y="7554817"/>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同じ画面の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「アンケートURLをスタッフに共有する」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を開くと、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共有リンクが1本</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表示されます。</a:t>
            </a:r>
            <a:endParaRPr lang="en-US" sz="1100" dirty="0"/>
          </a:p>
        </p:txBody>
      </p:sp>
      <p:sp>
        <p:nvSpPr>
          <p:cNvPr id="25" name="Text 22"/>
          <p:cNvSpPr txBox="1"/>
          <p:nvPr/>
        </p:nvSpPr>
        <p:spPr>
          <a:xfrm>
            <a:off x="566928" y="7848822"/>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これをSlackなどに貼れば、受け取った人は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ログインなしで全社ぶんの一覧</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を開き、そこから各アンケートを開けます。</a:t>
            </a:r>
            <a:endParaRPr lang="en-US" sz="1100" dirty="0"/>
          </a:p>
        </p:txBody>
      </p:sp>
      <p:sp>
        <p:nvSpPr>
          <p:cNvPr id="26" name="Text 23"/>
          <p:cNvSpPr txBox="1"/>
          <p:nvPr/>
        </p:nvSpPr>
        <p:spPr>
          <a:xfrm>
            <a:off x="713232" y="8345392"/>
            <a:ext cx="6281928" cy="459994"/>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URLを直接貼りたいときは、同じ場所の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「まとめてコピーする」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で全社ぶんのテキストをコピーできます</a:t>
            </a:r>
            <a:endParaRPr lang="en-US" sz="1100" dirty="0"/>
          </a:p>
        </p:txBody>
      </p:sp>
      <p:sp>
        <p:nvSpPr>
          <p:cNvPr id="27" name="Text 24"/>
          <p:cNvSpPr txBox="1"/>
          <p:nvPr/>
        </p:nvSpPr>
        <p:spPr>
          <a:xfrm>
            <a:off x="713232" y="8823674"/>
            <a:ext cx="6281928" cy="459994"/>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共有リンクが社外に出てしまったときは、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「共有リンクを作り直す」</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を押してください（古いリンクは開けなくなります）</a:t>
            </a:r>
            <a:endParaRPr lang="en-US" sz="1100" dirty="0"/>
          </a:p>
        </p:txBody>
      </p:sp>
      <p:sp>
        <p:nvSpPr>
          <p:cNvPr id="28" name="Shape 25"/>
          <p:cNvSpPr/>
          <p:nvPr/>
        </p:nvSpPr>
        <p:spPr>
          <a:xfrm>
            <a:off x="566928" y="9301956"/>
            <a:ext cx="6428232" cy="624459"/>
          </a:xfrm>
          <a:prstGeom prst="roundRect">
            <a:avLst>
              <a:gd name="adj" fmla="val 8786"/>
            </a:avLst>
          </a:prstGeom>
          <a:solidFill>
            <a:srgbClr val="E8ECF8"/>
          </a:solidFill>
          <a:ln w="9525">
            <a:solidFill>
              <a:srgbClr val="1E2761"/>
            </a:solidFill>
            <a:prstDash val="solid"/>
          </a:ln>
        </p:spPr>
      </p:sp>
      <p:sp>
        <p:nvSpPr>
          <p:cNvPr id="29" name="Text 26"/>
          <p:cNvSpPr txBox="1"/>
          <p:nvPr/>
        </p:nvSpPr>
        <p:spPr>
          <a:xfrm>
            <a:off x="658368" y="9393396"/>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30" name="Text 27"/>
          <p:cNvSpPr txBox="1"/>
          <p:nvPr/>
        </p:nvSpPr>
        <p:spPr>
          <a:xfrm>
            <a:off x="950976" y="9411684"/>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共有リンクはブースのQRコードからは推測できない別の合言葉です。検索エンジンにも載りません。</a:t>
            </a:r>
            <a:endParaRPr lang="en-US" sz="1050" dirty="0"/>
          </a:p>
        </p:txBody>
      </p:sp>
      <p:sp>
        <p:nvSpPr>
          <p:cNvPr id="31" name="Text 28"/>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準備2：出展企業を登録する（つづき）</a:t>
            </a:r>
            <a:endParaRPr lang="en-US" sz="2200" dirty="0"/>
          </a:p>
        </p:txBody>
      </p:sp>
      <p:pic>
        <p:nvPicPr>
          <p:cNvPr id="4" name="Image 0" descr="C:\Users\sato\Desktop\enque\docs\images\o-share-urls.png">    </p:cNvPr>
          <p:cNvPicPr>
            <a:picLocks noChangeAspect="1"/>
          </p:cNvPicPr>
          <p:nvPr/>
        </p:nvPicPr>
        <p:blipFill>
          <a:blip r:embed="rId1"/>
          <a:stretch>
            <a:fillRect/>
          </a:stretch>
        </p:blipFill>
        <p:spPr>
          <a:xfrm>
            <a:off x="1350796" y="1481328"/>
            <a:ext cx="4860496"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「企業・QRコードの管理」画面の「アンケートURLをスタッフに共有する」を開いたところ。</a:t>
            </a:r>
            <a:endParaRPr lang="en-US" sz="950" dirty="0"/>
          </a:p>
        </p:txBody>
      </p:sp>
      <p:pic>
        <p:nvPicPr>
          <p:cNvPr id="6" name="Image 1" descr="C:\Users\sato\Desktop\enque\docs\images\o-url-list.png">    </p:cNvPr>
          <p:cNvPicPr>
            <a:picLocks noChangeAspect="1"/>
          </p:cNvPicPr>
          <p:nvPr/>
        </p:nvPicPr>
        <p:blipFill>
          <a:blip r:embed="rId2"/>
          <a:stretch>
            <a:fillRect/>
          </a:stretch>
        </p:blipFill>
        <p:spPr>
          <a:xfrm>
            <a:off x="2635039" y="5340096"/>
            <a:ext cx="2292010" cy="3474720"/>
          </a:xfrm>
          <a:prstGeom prst="rect">
            <a:avLst/>
          </a:prstGeom>
        </p:spPr>
      </p:pic>
      <p:sp>
        <p:nvSpPr>
          <p:cNvPr id="7" name="Text 3"/>
          <p:cNvSpPr txBox="1"/>
          <p:nvPr/>
        </p:nvSpPr>
        <p:spPr>
          <a:xfrm>
            <a:off x="566928" y="8869680"/>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共有リンクを開いた「アンケートURLの一覧」（スマートフォンの画面）。</a:t>
            </a:r>
            <a:endParaRPr lang="en-US" sz="950" dirty="0"/>
          </a:p>
        </p:txBody>
      </p:sp>
      <p:sp>
        <p:nvSpPr>
          <p:cNvPr id="8" name="Shape 4"/>
          <p:cNvSpPr/>
          <p:nvPr/>
        </p:nvSpPr>
        <p:spPr>
          <a:xfrm>
            <a:off x="566928" y="9198864"/>
            <a:ext cx="6428232" cy="624459"/>
          </a:xfrm>
          <a:prstGeom prst="roundRect">
            <a:avLst>
              <a:gd name="adj" fmla="val 8786"/>
            </a:avLst>
          </a:prstGeom>
          <a:solidFill>
            <a:srgbClr val="FDF0E6"/>
          </a:solidFill>
          <a:ln w="9525">
            <a:solidFill>
              <a:srgbClr val="E08A3C"/>
            </a:solidFill>
            <a:prstDash val="solid"/>
          </a:ln>
        </p:spPr>
      </p:sp>
      <p:sp>
        <p:nvSpPr>
          <p:cNvPr id="9" name="Text 5"/>
          <p:cNvSpPr txBox="1"/>
          <p:nvPr/>
        </p:nvSpPr>
        <p:spPr>
          <a:xfrm>
            <a:off x="658368" y="9290304"/>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0" name="Text 6"/>
          <p:cNvSpPr txBox="1"/>
          <p:nvPr/>
        </p:nvSpPr>
        <p:spPr>
          <a:xfrm>
            <a:off x="950976" y="9308592"/>
            <a:ext cx="5925312" cy="441579"/>
          </a:xfrm>
          <a:prstGeom prst="rect">
            <a:avLst/>
          </a:prstGeom>
          <a:noFill/>
          <a:ln/>
        </p:spPr>
        <p:txBody>
          <a:bodyPr wrap="square" lIns="0" tIns="0" rIns="0" bIns="0" rtlCol="0" anchor="t"/>
          <a:lstStyle/>
          <a:p>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イベントが「開催中」のときにURLを開くと、回答しなくても「ユニーク来場者」が1人ぶん増えます。</a:t>
            </a:r>
            <a:endParaRPr lang="en-US" sz="1050" dirty="0"/>
          </a:p>
        </p:txBody>
      </p:sp>
      <p:sp>
        <p:nvSpPr>
          <p:cNvPr id="11" name="Text 7"/>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準備2：出展企業を登録する（つづき）</a:t>
            </a:r>
            <a:endParaRPr lang="en-US" sz="2200" dirty="0"/>
          </a:p>
        </p:txBody>
      </p:sp>
      <p:sp>
        <p:nvSpPr>
          <p:cNvPr id="4" name="Text 2"/>
          <p:cNvSpPr txBox="1"/>
          <p:nvPr/>
        </p:nvSpPr>
        <p:spPr>
          <a:xfrm>
            <a:off x="566928" y="148132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動作確認は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「準備中」のうち</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に済ませてください（準備中なら「まだ公開されていません」と出るだけで、記録は残りません）。</a:t>
            </a:r>
            <a:endParaRPr lang="en-US" sz="1100" dirty="0"/>
          </a:p>
        </p:txBody>
      </p:sp>
      <p:sp>
        <p:nvSpPr>
          <p:cNvPr id="5" name="Text 3"/>
          <p:cNvSpPr txBox="1"/>
          <p:nvPr/>
        </p:nvSpPr>
        <p:spPr>
          <a:xfrm>
            <a:off x="566928" y="197789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どうしても開催中に確認する場合は、増えたぶんを見込んで数字を読んでください。</a:t>
            </a:r>
            <a:endParaRPr lang="en-US" sz="1100" dirty="0"/>
          </a:p>
        </p:txBody>
      </p:sp>
      <p:sp>
        <p:nvSpPr>
          <p:cNvPr id="6" name="Text 4"/>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準備3：アンケートの設問を作る</a:t>
            </a:r>
            <a:endParaRPr lang="en-US" sz="2200" dirty="0"/>
          </a:p>
        </p:txBody>
      </p:sp>
      <p:sp>
        <p:nvSpPr>
          <p:cNvPr id="4" name="Text 2"/>
          <p:cNvSpPr txBox="1"/>
          <p:nvPr/>
        </p:nvSpPr>
        <p:spPr>
          <a:xfrm>
            <a:off x="566928" y="1591056"/>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全社で共通の設問を使う場合（おすすめ）</a:t>
            </a:r>
            <a:endParaRPr lang="en-US" sz="1400" dirty="0"/>
          </a:p>
        </p:txBody>
      </p:sp>
      <p:sp>
        <p:nvSpPr>
          <p:cNvPr id="5" name="Text 3"/>
          <p:cNvSpPr txBox="1"/>
          <p:nvPr/>
        </p:nvSpPr>
        <p:spPr>
          <a:xfrm>
            <a:off x="566928" y="192201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各社のアンケートに同じ設問を入れたいときに使います（イベント全体について1回だけ聞く</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総合アンケート</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とは別のものです）。</a:t>
            </a:r>
            <a:endParaRPr lang="en-US" sz="1100" dirty="0"/>
          </a:p>
        </p:txBody>
      </p:sp>
      <p:sp>
        <p:nvSpPr>
          <p:cNvPr id="6" name="Shape 4"/>
          <p:cNvSpPr/>
          <p:nvPr/>
        </p:nvSpPr>
        <p:spPr>
          <a:xfrm>
            <a:off x="566928" y="2436876"/>
            <a:ext cx="274320" cy="274320"/>
          </a:xfrm>
          <a:prstGeom prst="ellipse">
            <a:avLst/>
          </a:prstGeom>
          <a:solidFill>
            <a:srgbClr val="1E2761"/>
          </a:solidFill>
          <a:ln/>
        </p:spPr>
      </p:sp>
      <p:sp>
        <p:nvSpPr>
          <p:cNvPr id="7" name="Text 5"/>
          <p:cNvSpPr txBox="1"/>
          <p:nvPr/>
        </p:nvSpPr>
        <p:spPr>
          <a:xfrm>
            <a:off x="566928" y="24368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969264" y="241858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「総合アンケート」の画面で</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「テンプレートを作成する」</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a:t>
            </a:r>
            <a:endParaRPr lang="en-US" sz="1150" dirty="0"/>
          </a:p>
        </p:txBody>
      </p:sp>
      <p:sp>
        <p:nvSpPr>
          <p:cNvPr id="9" name="Shape 7"/>
          <p:cNvSpPr/>
          <p:nvPr/>
        </p:nvSpPr>
        <p:spPr>
          <a:xfrm>
            <a:off x="566928" y="2894076"/>
            <a:ext cx="274320" cy="274320"/>
          </a:xfrm>
          <a:prstGeom prst="ellipse">
            <a:avLst/>
          </a:prstGeom>
          <a:solidFill>
            <a:srgbClr val="1E2761"/>
          </a:solidFill>
          <a:ln/>
        </p:spPr>
      </p:sp>
      <p:sp>
        <p:nvSpPr>
          <p:cNvPr id="10" name="Text 8"/>
          <p:cNvSpPr txBox="1"/>
          <p:nvPr/>
        </p:nvSpPr>
        <p:spPr>
          <a:xfrm>
            <a:off x="566928" y="28940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69264" y="287578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共通で聞きたい設問（来場目的・所属業界など）を登録する</a:t>
            </a:r>
            <a:endParaRPr lang="en-US" sz="1150" dirty="0"/>
          </a:p>
        </p:txBody>
      </p:sp>
      <p:sp>
        <p:nvSpPr>
          <p:cNvPr id="12" name="Shape 10"/>
          <p:cNvSpPr/>
          <p:nvPr/>
        </p:nvSpPr>
        <p:spPr>
          <a:xfrm>
            <a:off x="566928" y="3351276"/>
            <a:ext cx="274320" cy="274320"/>
          </a:xfrm>
          <a:prstGeom prst="ellipse">
            <a:avLst/>
          </a:prstGeom>
          <a:solidFill>
            <a:srgbClr val="1E2761"/>
          </a:solidFill>
          <a:ln/>
        </p:spPr>
      </p:sp>
      <p:sp>
        <p:nvSpPr>
          <p:cNvPr id="13" name="Text 11"/>
          <p:cNvSpPr txBox="1"/>
          <p:nvPr/>
        </p:nvSpPr>
        <p:spPr>
          <a:xfrm>
            <a:off x="566928" y="33512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969264" y="3332988"/>
            <a:ext cx="6025896" cy="478409"/>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各企業のアンケート編集画面で</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「共通設問を取り込む」</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を押すと、その企業の設問としてコピーされます</a:t>
            </a:r>
            <a:endParaRPr lang="en-US" sz="1150" dirty="0"/>
          </a:p>
        </p:txBody>
      </p:sp>
      <p:sp>
        <p:nvSpPr>
          <p:cNvPr id="15" name="Text 13"/>
          <p:cNvSpPr txBox="1"/>
          <p:nvPr/>
        </p:nvSpPr>
        <p:spPr>
          <a:xfrm>
            <a:off x="566928" y="3975989"/>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企業ごとの設問を登録する</a:t>
            </a:r>
            <a:endParaRPr lang="en-US" sz="1400" dirty="0"/>
          </a:p>
        </p:txBody>
      </p:sp>
      <p:sp>
        <p:nvSpPr>
          <p:cNvPr id="16" name="Shape 14"/>
          <p:cNvSpPr/>
          <p:nvPr/>
        </p:nvSpPr>
        <p:spPr>
          <a:xfrm>
            <a:off x="566928" y="4325239"/>
            <a:ext cx="274320" cy="274320"/>
          </a:xfrm>
          <a:prstGeom prst="ellipse">
            <a:avLst/>
          </a:prstGeom>
          <a:solidFill>
            <a:srgbClr val="1E2761"/>
          </a:solidFill>
          <a:ln/>
        </p:spPr>
      </p:sp>
      <p:sp>
        <p:nvSpPr>
          <p:cNvPr id="17" name="Text 15"/>
          <p:cNvSpPr txBox="1"/>
          <p:nvPr/>
        </p:nvSpPr>
        <p:spPr>
          <a:xfrm>
            <a:off x="566928" y="43252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6"/>
          <p:cNvSpPr txBox="1"/>
          <p:nvPr/>
        </p:nvSpPr>
        <p:spPr>
          <a:xfrm>
            <a:off x="969264" y="4306951"/>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「企業・QR」で対象企業の</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「アンケート編集」</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a:t>
            </a:r>
            <a:endParaRPr lang="en-US" sz="1150" dirty="0"/>
          </a:p>
        </p:txBody>
      </p:sp>
      <p:sp>
        <p:nvSpPr>
          <p:cNvPr id="19" name="Shape 17"/>
          <p:cNvSpPr/>
          <p:nvPr/>
        </p:nvSpPr>
        <p:spPr>
          <a:xfrm>
            <a:off x="566928" y="4782439"/>
            <a:ext cx="274320" cy="274320"/>
          </a:xfrm>
          <a:prstGeom prst="ellipse">
            <a:avLst/>
          </a:prstGeom>
          <a:solidFill>
            <a:srgbClr val="1E2761"/>
          </a:solidFill>
          <a:ln/>
        </p:spPr>
      </p:sp>
      <p:sp>
        <p:nvSpPr>
          <p:cNvPr id="20" name="Text 18"/>
          <p:cNvSpPr txBox="1"/>
          <p:nvPr/>
        </p:nvSpPr>
        <p:spPr>
          <a:xfrm>
            <a:off x="566928" y="47824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txBox="1"/>
          <p:nvPr/>
        </p:nvSpPr>
        <p:spPr>
          <a:xfrm>
            <a:off x="969264" y="4764151"/>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タイトル</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と、必要なら説明文を入れる</a:t>
            </a:r>
            <a:endParaRPr lang="en-US" sz="1150" dirty="0"/>
          </a:p>
        </p:txBody>
      </p:sp>
      <p:sp>
        <p:nvSpPr>
          <p:cNvPr id="22" name="Shape 20"/>
          <p:cNvSpPr/>
          <p:nvPr/>
        </p:nvSpPr>
        <p:spPr>
          <a:xfrm>
            <a:off x="566928" y="5239639"/>
            <a:ext cx="274320" cy="274320"/>
          </a:xfrm>
          <a:prstGeom prst="ellipse">
            <a:avLst/>
          </a:prstGeom>
          <a:solidFill>
            <a:srgbClr val="1E2761"/>
          </a:solidFill>
          <a:ln/>
        </p:spPr>
      </p:sp>
      <p:sp>
        <p:nvSpPr>
          <p:cNvPr id="23" name="Text 21"/>
          <p:cNvSpPr txBox="1"/>
          <p:nvPr/>
        </p:nvSpPr>
        <p:spPr>
          <a:xfrm>
            <a:off x="566928" y="52396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txBox="1"/>
          <p:nvPr/>
        </p:nvSpPr>
        <p:spPr>
          <a:xfrm>
            <a:off x="969264" y="5221351"/>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設問文と</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種類</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（単一選択・複数選択・自由記述・星評価・NPS・数値入力）を選ぶ</a:t>
            </a:r>
            <a:endParaRPr lang="en-US" sz="1150" dirty="0"/>
          </a:p>
        </p:txBody>
      </p:sp>
      <p:sp>
        <p:nvSpPr>
          <p:cNvPr id="25" name="Shape 23"/>
          <p:cNvSpPr/>
          <p:nvPr/>
        </p:nvSpPr>
        <p:spPr>
          <a:xfrm>
            <a:off x="566928" y="5696839"/>
            <a:ext cx="274320" cy="274320"/>
          </a:xfrm>
          <a:prstGeom prst="ellipse">
            <a:avLst/>
          </a:prstGeom>
          <a:solidFill>
            <a:srgbClr val="1E2761"/>
          </a:solidFill>
          <a:ln/>
        </p:spPr>
      </p:sp>
      <p:sp>
        <p:nvSpPr>
          <p:cNvPr id="26" name="Text 24"/>
          <p:cNvSpPr txBox="1"/>
          <p:nvPr/>
        </p:nvSpPr>
        <p:spPr>
          <a:xfrm>
            <a:off x="566928" y="56968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txBox="1"/>
          <p:nvPr/>
        </p:nvSpPr>
        <p:spPr>
          <a:xfrm>
            <a:off x="969264" y="5678551"/>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選択式の場合は、</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選択肢を1行に1つ</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入力する</a:t>
            </a:r>
            <a:endParaRPr lang="en-US" sz="1150" dirty="0"/>
          </a:p>
        </p:txBody>
      </p:sp>
      <p:sp>
        <p:nvSpPr>
          <p:cNvPr id="28" name="Shape 26"/>
          <p:cNvSpPr/>
          <p:nvPr/>
        </p:nvSpPr>
        <p:spPr>
          <a:xfrm>
            <a:off x="566928" y="6154039"/>
            <a:ext cx="274320" cy="274320"/>
          </a:xfrm>
          <a:prstGeom prst="ellipse">
            <a:avLst/>
          </a:prstGeom>
          <a:solidFill>
            <a:srgbClr val="1E2761"/>
          </a:solidFill>
          <a:ln/>
        </p:spPr>
      </p:sp>
      <p:sp>
        <p:nvSpPr>
          <p:cNvPr id="29" name="Text 27"/>
          <p:cNvSpPr txBox="1"/>
          <p:nvPr/>
        </p:nvSpPr>
        <p:spPr>
          <a:xfrm>
            <a:off x="566928" y="61540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8"/>
          <p:cNvSpPr txBox="1"/>
          <p:nvPr/>
        </p:nvSpPr>
        <p:spPr>
          <a:xfrm>
            <a:off x="969264" y="6135751"/>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必須にする場合はチェックを入れる</a:t>
            </a:r>
            <a:endParaRPr lang="en-US" sz="1150" dirty="0"/>
          </a:p>
        </p:txBody>
      </p:sp>
      <p:sp>
        <p:nvSpPr>
          <p:cNvPr id="31" name="Shape 29"/>
          <p:cNvSpPr/>
          <p:nvPr/>
        </p:nvSpPr>
        <p:spPr>
          <a:xfrm>
            <a:off x="566928" y="6611239"/>
            <a:ext cx="274320" cy="274320"/>
          </a:xfrm>
          <a:prstGeom prst="ellipse">
            <a:avLst/>
          </a:prstGeom>
          <a:solidFill>
            <a:srgbClr val="1E2761"/>
          </a:solidFill>
          <a:ln/>
        </p:spPr>
      </p:sp>
      <p:sp>
        <p:nvSpPr>
          <p:cNvPr id="32" name="Text 30"/>
          <p:cNvSpPr txBox="1"/>
          <p:nvPr/>
        </p:nvSpPr>
        <p:spPr>
          <a:xfrm>
            <a:off x="566928" y="66112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txBox="1"/>
          <p:nvPr/>
        </p:nvSpPr>
        <p:spPr>
          <a:xfrm>
            <a:off x="969264" y="6592951"/>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「保存して設問を追加」</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を押すと、続けて次の設問を入力できます</a:t>
            </a:r>
            <a:endParaRPr lang="en-US" sz="1150" dirty="0"/>
          </a:p>
        </p:txBody>
      </p:sp>
      <p:sp>
        <p:nvSpPr>
          <p:cNvPr id="34" name="Shape 32"/>
          <p:cNvSpPr/>
          <p:nvPr/>
        </p:nvSpPr>
        <p:spPr>
          <a:xfrm>
            <a:off x="566928" y="7068439"/>
            <a:ext cx="274320" cy="274320"/>
          </a:xfrm>
          <a:prstGeom prst="ellipse">
            <a:avLst/>
          </a:prstGeom>
          <a:solidFill>
            <a:srgbClr val="1E2761"/>
          </a:solidFill>
          <a:ln/>
        </p:spPr>
      </p:sp>
      <p:sp>
        <p:nvSpPr>
          <p:cNvPr id="35" name="Text 33"/>
          <p:cNvSpPr txBox="1"/>
          <p:nvPr/>
        </p:nvSpPr>
        <p:spPr>
          <a:xfrm>
            <a:off x="566928" y="70684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6" name="Text 34"/>
          <p:cNvSpPr txBox="1"/>
          <p:nvPr/>
        </p:nvSpPr>
        <p:spPr>
          <a:xfrm>
            <a:off x="969264" y="7050151"/>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すべて入れ終わったら</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「公開する」にチェックを入れて保存</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する</a:t>
            </a:r>
            <a:endParaRPr lang="en-US" sz="1150" dirty="0"/>
          </a:p>
        </p:txBody>
      </p:sp>
      <p:sp>
        <p:nvSpPr>
          <p:cNvPr id="37" name="Shape 35"/>
          <p:cNvSpPr/>
          <p:nvPr/>
        </p:nvSpPr>
        <p:spPr>
          <a:xfrm>
            <a:off x="566928" y="7507351"/>
            <a:ext cx="6428232" cy="624459"/>
          </a:xfrm>
          <a:prstGeom prst="roundRect">
            <a:avLst>
              <a:gd name="adj" fmla="val 8786"/>
            </a:avLst>
          </a:prstGeom>
          <a:solidFill>
            <a:srgbClr val="E8ECF8"/>
          </a:solidFill>
          <a:ln w="9525">
            <a:solidFill>
              <a:srgbClr val="1E2761"/>
            </a:solidFill>
            <a:prstDash val="solid"/>
          </a:ln>
        </p:spPr>
      </p:sp>
      <p:sp>
        <p:nvSpPr>
          <p:cNvPr id="38" name="Text 36"/>
          <p:cNvSpPr txBox="1"/>
          <p:nvPr/>
        </p:nvSpPr>
        <p:spPr>
          <a:xfrm>
            <a:off x="658368" y="7598791"/>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39" name="Text 37"/>
          <p:cNvSpPr txBox="1"/>
          <p:nvPr/>
        </p:nvSpPr>
        <p:spPr>
          <a:xfrm>
            <a:off x="950976" y="7617079"/>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「保存して設問を追加」を押すと、画面が追加した設問の位置に移動します。そのまま次の設問文を入力できます。</a:t>
            </a:r>
            <a:endParaRPr lang="en-US" sz="1050" dirty="0"/>
          </a:p>
        </p:txBody>
      </p:sp>
      <p:sp>
        <p:nvSpPr>
          <p:cNvPr id="40" name="Shape 38"/>
          <p:cNvSpPr/>
          <p:nvPr/>
        </p:nvSpPr>
        <p:spPr>
          <a:xfrm>
            <a:off x="566928" y="8204962"/>
            <a:ext cx="6428232" cy="624459"/>
          </a:xfrm>
          <a:prstGeom prst="roundRect">
            <a:avLst>
              <a:gd name="adj" fmla="val 8786"/>
            </a:avLst>
          </a:prstGeom>
          <a:solidFill>
            <a:srgbClr val="FDF0E6"/>
          </a:solidFill>
          <a:ln w="9525">
            <a:solidFill>
              <a:srgbClr val="E08A3C"/>
            </a:solidFill>
            <a:prstDash val="solid"/>
          </a:ln>
        </p:spPr>
      </p:sp>
      <p:sp>
        <p:nvSpPr>
          <p:cNvPr id="41" name="Text 39"/>
          <p:cNvSpPr txBox="1"/>
          <p:nvPr/>
        </p:nvSpPr>
        <p:spPr>
          <a:xfrm>
            <a:off x="658368" y="8296402"/>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42" name="Text 40"/>
          <p:cNvSpPr txBox="1"/>
          <p:nvPr/>
        </p:nvSpPr>
        <p:spPr>
          <a:xfrm>
            <a:off x="950976" y="8314690"/>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公開にチェックを入れないと、QRコードを読んでも回答できません。設問を削除すると、その設問への回答も一緒に消えます。</a:t>
            </a:r>
            <a:endParaRPr lang="en-US" sz="1050" dirty="0"/>
          </a:p>
        </p:txBody>
      </p:sp>
      <p:sp>
        <p:nvSpPr>
          <p:cNvPr id="43" name="Shape 41"/>
          <p:cNvSpPr/>
          <p:nvPr/>
        </p:nvSpPr>
        <p:spPr>
          <a:xfrm>
            <a:off x="566928" y="8902573"/>
            <a:ext cx="6428232" cy="817817"/>
          </a:xfrm>
          <a:prstGeom prst="roundRect">
            <a:avLst>
              <a:gd name="adj" fmla="val 6709"/>
            </a:avLst>
          </a:prstGeom>
          <a:solidFill>
            <a:srgbClr val="FDF0E6"/>
          </a:solidFill>
          <a:ln w="9525">
            <a:solidFill>
              <a:srgbClr val="E08A3C"/>
            </a:solidFill>
            <a:prstDash val="solid"/>
          </a:ln>
        </p:spPr>
      </p:sp>
      <p:sp>
        <p:nvSpPr>
          <p:cNvPr id="44" name="Text 42"/>
          <p:cNvSpPr txBox="1"/>
          <p:nvPr/>
        </p:nvSpPr>
        <p:spPr>
          <a:xfrm>
            <a:off x="658368" y="8994013"/>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45" name="Text 43"/>
          <p:cNvSpPr txBox="1"/>
          <p:nvPr/>
        </p:nvSpPr>
        <p:spPr>
          <a:xfrm>
            <a:off x="950976" y="9012301"/>
            <a:ext cx="5925312" cy="634937"/>
          </a:xfrm>
          <a:prstGeom prst="rect">
            <a:avLst/>
          </a:prstGeom>
          <a:noFill/>
          <a:ln/>
        </p:spPr>
        <p:txBody>
          <a:bodyPr wrap="square" lIns="0" tIns="0" rIns="0" bIns="0" rtlCol="0" anchor="t"/>
          <a:lstStyle/>
          <a:p>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説明文に「メールで総合アンケートをお送りします」といった案内を書いていないか確認してください。</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 総合アンケートは会期中にこの画面で答えてもらう形になったため、古い案内が残っていると来場者が混乱します（説明文は画面の文言ではなく、事務局が入力した内容です）。</a:t>
            </a:r>
            <a:endParaRPr lang="en-US" sz="1050" dirty="0"/>
          </a:p>
        </p:txBody>
      </p:sp>
      <p:sp>
        <p:nvSpPr>
          <p:cNvPr id="46" name="Text 44"/>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準備3：アンケートの設問を作る（つづき）</a:t>
            </a:r>
            <a:endParaRPr lang="en-US" sz="2200" dirty="0"/>
          </a:p>
        </p:txBody>
      </p:sp>
      <p:pic>
        <p:nvPicPr>
          <p:cNvPr id="4" name="Image 0" descr="C:\Users\sato\Desktop\enque\docs\images\o-survey-edit.png">    </p:cNvPr>
          <p:cNvPicPr>
            <a:picLocks noChangeAspect="1"/>
          </p:cNvPicPr>
          <p:nvPr/>
        </p:nvPicPr>
        <p:blipFill>
          <a:blip r:embed="rId1"/>
          <a:stretch>
            <a:fillRect/>
          </a:stretch>
        </p:blipFill>
        <p:spPr>
          <a:xfrm>
            <a:off x="2140821" y="1481328"/>
            <a:ext cx="3280447"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アンケート編集画面。設問の入力欄と「公開する」のチェックボックスが見えるもの。</a:t>
            </a:r>
            <a:endParaRPr lang="en-US" sz="950" dirty="0"/>
          </a:p>
        </p:txBody>
      </p:sp>
      <p:sp>
        <p:nvSpPr>
          <p:cNvPr id="6" name="Text 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準備4：QRコードを印刷する</a:t>
            </a:r>
            <a:endParaRPr lang="en-US" sz="2200" dirty="0"/>
          </a:p>
        </p:txBody>
      </p:sp>
      <p:sp>
        <p:nvSpPr>
          <p:cNvPr id="4" name="Shape 2"/>
          <p:cNvSpPr/>
          <p:nvPr/>
        </p:nvSpPr>
        <p:spPr>
          <a:xfrm>
            <a:off x="566928" y="1499616"/>
            <a:ext cx="274320" cy="274320"/>
          </a:xfrm>
          <a:prstGeom prst="ellipse">
            <a:avLst/>
          </a:prstGeom>
          <a:solidFill>
            <a:srgbClr val="1E2761"/>
          </a:solidFill>
          <a:ln/>
        </p:spPr>
      </p:sp>
      <p:sp>
        <p:nvSpPr>
          <p:cNvPr id="5" name="Text 3"/>
          <p:cNvSpPr txBox="1"/>
          <p:nvPr/>
        </p:nvSpPr>
        <p:spPr>
          <a:xfrm>
            <a:off x="566928" y="14996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69264" y="14813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「企業・QR」の画面で</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「QRコードを印刷する（全社）」</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a:t>
            </a:r>
            <a:endParaRPr lang="en-US" sz="1150" dirty="0"/>
          </a:p>
        </p:txBody>
      </p:sp>
      <p:sp>
        <p:nvSpPr>
          <p:cNvPr id="7" name="Shape 5"/>
          <p:cNvSpPr/>
          <p:nvPr/>
        </p:nvSpPr>
        <p:spPr>
          <a:xfrm>
            <a:off x="566928" y="1956816"/>
            <a:ext cx="274320" cy="274320"/>
          </a:xfrm>
          <a:prstGeom prst="ellipse">
            <a:avLst/>
          </a:prstGeom>
          <a:solidFill>
            <a:srgbClr val="1E2761"/>
          </a:solidFill>
          <a:ln/>
        </p:spPr>
      </p:sp>
      <p:sp>
        <p:nvSpPr>
          <p:cNvPr id="8" name="Text 6"/>
          <p:cNvSpPr txBox="1"/>
          <p:nvPr/>
        </p:nvSpPr>
        <p:spPr>
          <a:xfrm>
            <a:off x="566928"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69264" y="19385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内容を確認して</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「印刷する」</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a:t>
            </a:r>
            <a:endParaRPr lang="en-US" sz="1150" dirty="0"/>
          </a:p>
        </p:txBody>
      </p:sp>
      <p:sp>
        <p:nvSpPr>
          <p:cNvPr id="10" name="Shape 8"/>
          <p:cNvSpPr/>
          <p:nvPr/>
        </p:nvSpPr>
        <p:spPr>
          <a:xfrm>
            <a:off x="566928" y="2414016"/>
            <a:ext cx="274320" cy="274320"/>
          </a:xfrm>
          <a:prstGeom prst="ellipse">
            <a:avLst/>
          </a:prstGeom>
          <a:solidFill>
            <a:srgbClr val="1E2761"/>
          </a:solidFill>
          <a:ln/>
        </p:spPr>
      </p:sp>
      <p:sp>
        <p:nvSpPr>
          <p:cNvPr id="11" name="Text 9"/>
          <p:cNvSpPr txBox="1"/>
          <p:nvPr/>
        </p:nvSpPr>
        <p:spPr>
          <a:xfrm>
            <a:off x="566928" y="24140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69264" y="23957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印刷ダイアログで</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「PDFとして保存」</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を選べばPDFになります</a:t>
            </a:r>
            <a:endParaRPr lang="en-US" sz="1150" dirty="0"/>
          </a:p>
        </p:txBody>
      </p:sp>
      <p:sp>
        <p:nvSpPr>
          <p:cNvPr id="13" name="Text 11"/>
          <p:cNvSpPr txBox="1"/>
          <p:nvPr/>
        </p:nvSpPr>
        <p:spPr>
          <a:xfrm>
            <a:off x="566928" y="28529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A4縦・1ページに4社ぶん並びます。企業名・ブース番号・QRコード・URLが入っています。</a:t>
            </a:r>
            <a:endParaRPr lang="en-US" sz="1100" dirty="0"/>
          </a:p>
        </p:txBody>
      </p:sp>
      <p:sp>
        <p:nvSpPr>
          <p:cNvPr id="14" name="Shape 12"/>
          <p:cNvSpPr/>
          <p:nvPr/>
        </p:nvSpPr>
        <p:spPr>
          <a:xfrm>
            <a:off x="566928" y="3146933"/>
            <a:ext cx="6428232" cy="624459"/>
          </a:xfrm>
          <a:prstGeom prst="roundRect">
            <a:avLst>
              <a:gd name="adj" fmla="val 8786"/>
            </a:avLst>
          </a:prstGeom>
          <a:solidFill>
            <a:srgbClr val="FDF0E6"/>
          </a:solidFill>
          <a:ln w="9525">
            <a:solidFill>
              <a:srgbClr val="E08A3C"/>
            </a:solidFill>
            <a:prstDash val="solid"/>
          </a:ln>
        </p:spPr>
      </p:sp>
      <p:sp>
        <p:nvSpPr>
          <p:cNvPr id="15" name="Text 13"/>
          <p:cNvSpPr txBox="1"/>
          <p:nvPr/>
        </p:nvSpPr>
        <p:spPr>
          <a:xfrm>
            <a:off x="658368" y="3238373"/>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950976" y="3256661"/>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印刷の前に、</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URLが本番のもの（https://…）になっているか</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を必ず確認してください。設定が違うと、読み取っても開けないQRコードを配ることになります。</a:t>
            </a:r>
            <a:endParaRPr lang="en-US" sz="1050" dirty="0"/>
          </a:p>
        </p:txBody>
      </p:sp>
      <p:sp>
        <p:nvSpPr>
          <p:cNvPr id="17" name="Shape 15"/>
          <p:cNvSpPr/>
          <p:nvPr/>
        </p:nvSpPr>
        <p:spPr>
          <a:xfrm>
            <a:off x="566928" y="3844544"/>
            <a:ext cx="6428232" cy="431102"/>
          </a:xfrm>
          <a:prstGeom prst="roundRect">
            <a:avLst>
              <a:gd name="adj" fmla="val 12726"/>
            </a:avLst>
          </a:prstGeom>
          <a:solidFill>
            <a:srgbClr val="E8ECF8"/>
          </a:solidFill>
          <a:ln w="9525">
            <a:solidFill>
              <a:srgbClr val="1E2761"/>
            </a:solidFill>
            <a:prstDash val="solid"/>
          </a:ln>
        </p:spPr>
      </p:sp>
      <p:sp>
        <p:nvSpPr>
          <p:cNvPr id="18" name="Text 16"/>
          <p:cNvSpPr txBox="1"/>
          <p:nvPr/>
        </p:nvSpPr>
        <p:spPr>
          <a:xfrm>
            <a:off x="658368" y="3935984"/>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9" name="Text 17"/>
          <p:cNvSpPr txBox="1"/>
          <p:nvPr/>
        </p:nvSpPr>
        <p:spPr>
          <a:xfrm>
            <a:off x="950976" y="3954272"/>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1社だけ刷り直したいときは、その企業の「QR」ボタンから同じ画面を開けます。</a:t>
            </a:r>
            <a:endParaRPr lang="en-US" sz="1050" dirty="0"/>
          </a:p>
        </p:txBody>
      </p:sp>
      <p:pic>
        <p:nvPicPr>
          <p:cNvPr id="20" name="Image 0" descr="C:\Users\sato\Desktop\enque\docs\images\o-qr-print.png">    </p:cNvPr>
          <p:cNvPicPr>
            <a:picLocks noChangeAspect="1"/>
          </p:cNvPicPr>
          <p:nvPr/>
        </p:nvPicPr>
        <p:blipFill>
          <a:blip r:embed="rId1"/>
          <a:stretch>
            <a:fillRect/>
          </a:stretch>
        </p:blipFill>
        <p:spPr>
          <a:xfrm>
            <a:off x="566928" y="4348798"/>
            <a:ext cx="6428232" cy="3181485"/>
          </a:xfrm>
          <a:prstGeom prst="rect">
            <a:avLst/>
          </a:prstGeom>
        </p:spPr>
      </p:pic>
      <p:sp>
        <p:nvSpPr>
          <p:cNvPr id="21" name="Text 18"/>
          <p:cNvSpPr txBox="1"/>
          <p:nvPr/>
        </p:nvSpPr>
        <p:spPr>
          <a:xfrm>
            <a:off x="566928" y="7585147"/>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QRコード印刷ページ。企業名とQRコードが並んでいるところ。</a:t>
            </a:r>
            <a:endParaRPr lang="en-US" sz="950" dirty="0"/>
          </a:p>
        </p:txBody>
      </p:sp>
      <p:sp>
        <p:nvSpPr>
          <p:cNvPr id="22" name="Text 19"/>
          <p:cNvSpPr txBox="1"/>
          <p:nvPr/>
        </p:nvSpPr>
        <p:spPr>
          <a:xfrm>
            <a:off x="566928" y="8024059"/>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総合受付の掲示も印刷する</a:t>
            </a:r>
            <a:endParaRPr lang="en-US" sz="1400" dirty="0"/>
          </a:p>
        </p:txBody>
      </p:sp>
      <p:sp>
        <p:nvSpPr>
          <p:cNvPr id="23" name="Text 20"/>
          <p:cNvSpPr txBox="1"/>
          <p:nvPr/>
        </p:nvSpPr>
        <p:spPr>
          <a:xfrm>
            <a:off x="566928" y="8355021"/>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同じ画面の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「総合受付の掲示を印刷する」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から、もう1枚印刷して受付に貼ってください。</a:t>
            </a:r>
            <a:endParaRPr lang="en-US" sz="1100" dirty="0"/>
          </a:p>
        </p:txBody>
      </p:sp>
      <p:sp>
        <p:nvSpPr>
          <p:cNvPr id="24" name="Text 21"/>
          <p:cNvSpPr txBox="1"/>
          <p:nvPr/>
        </p:nvSpPr>
        <p:spPr>
          <a:xfrm>
            <a:off x="566928" y="8649026"/>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来場者がこのQRコードを</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自分のスマートフォンで読み取ると、その方の交換コードの画面が開きます</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a:t>
            </a:r>
            <a:endParaRPr lang="en-US" sz="1100" dirty="0"/>
          </a:p>
        </p:txBody>
      </p:sp>
      <p:sp>
        <p:nvSpPr>
          <p:cNvPr id="25" name="Text 22"/>
          <p:cNvSpPr txBox="1"/>
          <p:nvPr/>
        </p:nvSpPr>
        <p:spPr>
          <a:xfrm>
            <a:off x="566928" y="9145596"/>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ブラウザのタブを閉じてしまった方も、ブースを回り直さずに交換コードを出せます。</a:t>
            </a:r>
            <a:endParaRPr lang="en-US" sz="1100" dirty="0"/>
          </a:p>
        </p:txBody>
      </p:sp>
      <p:sp>
        <p:nvSpPr>
          <p:cNvPr id="26" name="Shape 23"/>
          <p:cNvSpPr/>
          <p:nvPr/>
        </p:nvSpPr>
        <p:spPr>
          <a:xfrm>
            <a:off x="566928" y="9439601"/>
            <a:ext cx="6428232" cy="431102"/>
          </a:xfrm>
          <a:prstGeom prst="roundRect">
            <a:avLst>
              <a:gd name="adj" fmla="val 12726"/>
            </a:avLst>
          </a:prstGeom>
          <a:solidFill>
            <a:srgbClr val="E8ECF8"/>
          </a:solidFill>
          <a:ln w="9525">
            <a:solidFill>
              <a:srgbClr val="1E2761"/>
            </a:solidFill>
            <a:prstDash val="solid"/>
          </a:ln>
        </p:spPr>
      </p:sp>
      <p:sp>
        <p:nvSpPr>
          <p:cNvPr id="27" name="Text 24"/>
          <p:cNvSpPr txBox="1"/>
          <p:nvPr/>
        </p:nvSpPr>
        <p:spPr>
          <a:xfrm>
            <a:off x="658368" y="9531041"/>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8" name="Text 25"/>
          <p:cNvSpPr txBox="1"/>
          <p:nvPr/>
        </p:nvSpPr>
        <p:spPr>
          <a:xfrm>
            <a:off x="950976" y="9549329"/>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来場者ごとのQRコードではありません。</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1枚を掲示すれば全員に使えます。</a:t>
            </a:r>
            <a:endParaRPr lang="en-US" sz="1050" dirty="0"/>
          </a:p>
        </p:txBody>
      </p:sp>
      <p:sp>
        <p:nvSpPr>
          <p:cNvPr id="29" name="Text 26"/>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準備4：QRコードを印刷する（つづき）</a:t>
            </a:r>
            <a:endParaRPr lang="en-US" sz="2200" dirty="0"/>
          </a:p>
        </p:txBody>
      </p:sp>
      <p:sp>
        <p:nvSpPr>
          <p:cNvPr id="4" name="Shape 2"/>
          <p:cNvSpPr/>
          <p:nvPr/>
        </p:nvSpPr>
        <p:spPr>
          <a:xfrm>
            <a:off x="566928" y="1481328"/>
            <a:ext cx="6428232" cy="624459"/>
          </a:xfrm>
          <a:prstGeom prst="roundRect">
            <a:avLst>
              <a:gd name="adj" fmla="val 8786"/>
            </a:avLst>
          </a:prstGeom>
          <a:solidFill>
            <a:srgbClr val="FDF0E6"/>
          </a:solidFill>
          <a:ln w="9525">
            <a:solidFill>
              <a:srgbClr val="E08A3C"/>
            </a:solidFill>
            <a:prstDash val="solid"/>
          </a:ln>
        </p:spPr>
      </p:sp>
      <p:sp>
        <p:nvSpPr>
          <p:cNvPr id="5" name="Text 3"/>
          <p:cNvSpPr txBox="1"/>
          <p:nvPr/>
        </p:nvSpPr>
        <p:spPr>
          <a:xfrm>
            <a:off x="658368" y="1572768"/>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6" name="Text 4"/>
          <p:cNvSpPr txBox="1"/>
          <p:nvPr/>
        </p:nvSpPr>
        <p:spPr>
          <a:xfrm>
            <a:off x="950976" y="1591056"/>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回答したときと</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同じスマートフォン・同じブラウザ</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で読み取る必要があります。表示されない方は、受付で回答ブース数を確認する従来の対応になります。</a:t>
            </a:r>
            <a:endParaRPr lang="en-US" sz="1050" dirty="0"/>
          </a:p>
        </p:txBody>
      </p:sp>
      <p:pic>
        <p:nvPicPr>
          <p:cNvPr id="7" name="Image 0" descr="C:\Users\sato\Desktop\enque\docs\images\o-desk-qr.png">    </p:cNvPr>
          <p:cNvPicPr>
            <a:picLocks noChangeAspect="1"/>
          </p:cNvPicPr>
          <p:nvPr/>
        </p:nvPicPr>
        <p:blipFill>
          <a:blip r:embed="rId1"/>
          <a:stretch>
            <a:fillRect/>
          </a:stretch>
        </p:blipFill>
        <p:spPr>
          <a:xfrm>
            <a:off x="1895245" y="2178939"/>
            <a:ext cx="3771597" cy="3474720"/>
          </a:xfrm>
          <a:prstGeom prst="rect">
            <a:avLst/>
          </a:prstGeom>
        </p:spPr>
      </p:pic>
      <p:sp>
        <p:nvSpPr>
          <p:cNvPr id="8" name="Text 5"/>
          <p:cNvSpPr txBox="1"/>
          <p:nvPr/>
        </p:nvSpPr>
        <p:spPr>
          <a:xfrm>
            <a:off x="566928" y="5708523"/>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「総合受付の掲示」の印刷ページ（大きなQRコードと「交換コードを表示する」の見出し）。</a:t>
            </a:r>
            <a:endParaRPr lang="en-US" sz="950" dirty="0"/>
          </a:p>
        </p:txBody>
      </p:sp>
      <p:sp>
        <p:nvSpPr>
          <p:cNvPr id="9" name="Text 6"/>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準備5：景品を登録する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受付が交換時に選べるよう、渡す景品を登録します。</a:t>
            </a:r>
            <a:endParaRPr lang="en-US" sz="1100" dirty="0"/>
          </a:p>
        </p:txBody>
      </p:sp>
      <p:sp>
        <p:nvSpPr>
          <p:cNvPr id="5" name="Shape 3"/>
          <p:cNvSpPr/>
          <p:nvPr/>
        </p:nvSpPr>
        <p:spPr>
          <a:xfrm>
            <a:off x="566928" y="1793621"/>
            <a:ext cx="274320" cy="274320"/>
          </a:xfrm>
          <a:prstGeom prst="ellipse">
            <a:avLst/>
          </a:prstGeom>
          <a:solidFill>
            <a:srgbClr val="1E2761"/>
          </a:solidFill>
          <a:ln/>
        </p:spPr>
      </p:sp>
      <p:sp>
        <p:nvSpPr>
          <p:cNvPr id="6" name="Text 4"/>
          <p:cNvSpPr txBox="1"/>
          <p:nvPr/>
        </p:nvSpPr>
        <p:spPr>
          <a:xfrm>
            <a:off x="566928" y="1793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69264" y="17753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「景品」の画面を開く</a:t>
            </a:r>
            <a:endParaRPr lang="en-US" sz="1150" dirty="0"/>
          </a:p>
        </p:txBody>
      </p:sp>
      <p:sp>
        <p:nvSpPr>
          <p:cNvPr id="8" name="Shape 6"/>
          <p:cNvSpPr/>
          <p:nvPr/>
        </p:nvSpPr>
        <p:spPr>
          <a:xfrm>
            <a:off x="566928" y="2250821"/>
            <a:ext cx="274320" cy="274320"/>
          </a:xfrm>
          <a:prstGeom prst="ellipse">
            <a:avLst/>
          </a:prstGeom>
          <a:solidFill>
            <a:srgbClr val="1E2761"/>
          </a:solidFill>
          <a:ln/>
        </p:spPr>
      </p:sp>
      <p:sp>
        <p:nvSpPr>
          <p:cNvPr id="9" name="Text 7"/>
          <p:cNvSpPr txBox="1"/>
          <p:nvPr/>
        </p:nvSpPr>
        <p:spPr>
          <a:xfrm>
            <a:off x="566928" y="22508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969264" y="223253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景品名</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と、</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用意した数量</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を入力する</a:t>
            </a:r>
            <a:endParaRPr lang="en-US" sz="1150" dirty="0"/>
          </a:p>
        </p:txBody>
      </p:sp>
      <p:sp>
        <p:nvSpPr>
          <p:cNvPr id="11" name="Shape 9"/>
          <p:cNvSpPr/>
          <p:nvPr/>
        </p:nvSpPr>
        <p:spPr>
          <a:xfrm>
            <a:off x="566928" y="2708021"/>
            <a:ext cx="274320" cy="274320"/>
          </a:xfrm>
          <a:prstGeom prst="ellipse">
            <a:avLst/>
          </a:prstGeom>
          <a:solidFill>
            <a:srgbClr val="1E2761"/>
          </a:solidFill>
          <a:ln/>
        </p:spPr>
      </p:sp>
      <p:sp>
        <p:nvSpPr>
          <p:cNvPr id="12" name="Text 10"/>
          <p:cNvSpPr txBox="1"/>
          <p:nvPr/>
        </p:nvSpPr>
        <p:spPr>
          <a:xfrm>
            <a:off x="566928" y="2708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969264" y="26897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必要ならメモ（例：先着100名）を入れる</a:t>
            </a:r>
            <a:endParaRPr lang="en-US" sz="1150" dirty="0"/>
          </a:p>
        </p:txBody>
      </p:sp>
      <p:sp>
        <p:nvSpPr>
          <p:cNvPr id="14" name="Shape 12"/>
          <p:cNvSpPr/>
          <p:nvPr/>
        </p:nvSpPr>
        <p:spPr>
          <a:xfrm>
            <a:off x="566928" y="3165221"/>
            <a:ext cx="274320" cy="274320"/>
          </a:xfrm>
          <a:prstGeom prst="ellipse">
            <a:avLst/>
          </a:prstGeom>
          <a:solidFill>
            <a:srgbClr val="1E2761"/>
          </a:solidFill>
          <a:ln/>
        </p:spPr>
      </p:sp>
      <p:sp>
        <p:nvSpPr>
          <p:cNvPr id="15" name="Text 13"/>
          <p:cNvSpPr txBox="1"/>
          <p:nvPr/>
        </p:nvSpPr>
        <p:spPr>
          <a:xfrm>
            <a:off x="566928" y="3165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969264" y="31469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「登録する」を押す</a:t>
            </a:r>
            <a:endParaRPr lang="en-US" sz="1150" dirty="0"/>
          </a:p>
        </p:txBody>
      </p:sp>
      <p:sp>
        <p:nvSpPr>
          <p:cNvPr id="17" name="Shape 15"/>
          <p:cNvSpPr/>
          <p:nvPr/>
        </p:nvSpPr>
        <p:spPr>
          <a:xfrm>
            <a:off x="566928" y="3604133"/>
            <a:ext cx="6428232" cy="624459"/>
          </a:xfrm>
          <a:prstGeom prst="roundRect">
            <a:avLst>
              <a:gd name="adj" fmla="val 8786"/>
            </a:avLst>
          </a:prstGeom>
          <a:solidFill>
            <a:srgbClr val="E8ECF8"/>
          </a:solidFill>
          <a:ln w="9525">
            <a:solidFill>
              <a:srgbClr val="1E2761"/>
            </a:solidFill>
            <a:prstDash val="solid"/>
          </a:ln>
        </p:spPr>
      </p:sp>
      <p:sp>
        <p:nvSpPr>
          <p:cNvPr id="18" name="Text 16"/>
          <p:cNvSpPr txBox="1"/>
          <p:nvPr/>
        </p:nvSpPr>
        <p:spPr>
          <a:xfrm>
            <a:off x="658368" y="3695573"/>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9" name="Text 17"/>
          <p:cNvSpPr txBox="1"/>
          <p:nvPr/>
        </p:nvSpPr>
        <p:spPr>
          <a:xfrm>
            <a:off x="950976" y="3713861"/>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数量を</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空欄</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にすると「数量を管理しない景品」になります（数えないノベルティなど）。残数は「—」と表示されます。</a:t>
            </a:r>
            <a:endParaRPr lang="en-US" sz="1050" dirty="0"/>
          </a:p>
        </p:txBody>
      </p:sp>
      <p:sp>
        <p:nvSpPr>
          <p:cNvPr id="20" name="Shape 18"/>
          <p:cNvSpPr/>
          <p:nvPr/>
        </p:nvSpPr>
        <p:spPr>
          <a:xfrm>
            <a:off x="566928" y="4301744"/>
            <a:ext cx="6428232" cy="624459"/>
          </a:xfrm>
          <a:prstGeom prst="roundRect">
            <a:avLst>
              <a:gd name="adj" fmla="val 8786"/>
            </a:avLst>
          </a:prstGeom>
          <a:solidFill>
            <a:srgbClr val="E8ECF8"/>
          </a:solidFill>
          <a:ln w="9525">
            <a:solidFill>
              <a:srgbClr val="1E2761"/>
            </a:solidFill>
            <a:prstDash val="solid"/>
          </a:ln>
        </p:spPr>
      </p:sp>
      <p:sp>
        <p:nvSpPr>
          <p:cNvPr id="21" name="Text 19"/>
          <p:cNvSpPr txBox="1"/>
          <p:nvPr/>
        </p:nvSpPr>
        <p:spPr>
          <a:xfrm>
            <a:off x="658368" y="4393184"/>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2" name="Text 20"/>
          <p:cNvSpPr txBox="1"/>
          <p:nvPr/>
        </p:nvSpPr>
        <p:spPr>
          <a:xfrm>
            <a:off x="950976" y="4411472"/>
            <a:ext cx="5925312" cy="441579"/>
          </a:xfrm>
          <a:prstGeom prst="rect">
            <a:avLst/>
          </a:prstGeom>
          <a:noFill/>
          <a:ln/>
        </p:spPr>
        <p:txBody>
          <a:bodyPr wrap="square" lIns="0" tIns="0" rIns="0" bIns="0" rtlCol="0" anchor="t"/>
          <a:lstStyle/>
          <a:p>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景品が1種類だけのときは、受付の画面で最初から選ばれた状態</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になります。受付は読み取るだけで済みます。</a:t>
            </a:r>
            <a:endParaRPr lang="en-US" sz="1050" dirty="0"/>
          </a:p>
        </p:txBody>
      </p:sp>
      <p:sp>
        <p:nvSpPr>
          <p:cNvPr id="23" name="Shape 21"/>
          <p:cNvSpPr/>
          <p:nvPr/>
        </p:nvSpPr>
        <p:spPr>
          <a:xfrm>
            <a:off x="566928" y="4999355"/>
            <a:ext cx="6428232" cy="624459"/>
          </a:xfrm>
          <a:prstGeom prst="roundRect">
            <a:avLst>
              <a:gd name="adj" fmla="val 8786"/>
            </a:avLst>
          </a:prstGeom>
          <a:solidFill>
            <a:srgbClr val="FDF0E6"/>
          </a:solidFill>
          <a:ln w="9525">
            <a:solidFill>
              <a:srgbClr val="E08A3C"/>
            </a:solidFill>
            <a:prstDash val="solid"/>
          </a:ln>
        </p:spPr>
      </p:sp>
      <p:sp>
        <p:nvSpPr>
          <p:cNvPr id="24" name="Text 22"/>
          <p:cNvSpPr txBox="1"/>
          <p:nvPr/>
        </p:nvSpPr>
        <p:spPr>
          <a:xfrm>
            <a:off x="658368" y="5090795"/>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950976" y="5109083"/>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景品を1件でも登録すると、受付が交換を記録するときに</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景品の選択が必須</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になります（何を渡したか残すため）。</a:t>
            </a:r>
            <a:endParaRPr lang="en-US" sz="1050" dirty="0"/>
          </a:p>
        </p:txBody>
      </p:sp>
      <p:pic>
        <p:nvPicPr>
          <p:cNvPr id="26" name="Image 0" descr="C:\Users\sato\Desktop\enque\docs\images\o-prizes.png">    </p:cNvPr>
          <p:cNvPicPr>
            <a:picLocks noChangeAspect="1"/>
          </p:cNvPicPr>
          <p:nvPr/>
        </p:nvPicPr>
        <p:blipFill>
          <a:blip r:embed="rId1"/>
          <a:stretch>
            <a:fillRect/>
          </a:stretch>
        </p:blipFill>
        <p:spPr>
          <a:xfrm>
            <a:off x="1181602" y="5696966"/>
            <a:ext cx="5198885" cy="3474720"/>
          </a:xfrm>
          <a:prstGeom prst="rect">
            <a:avLst/>
          </a:prstGeom>
        </p:spPr>
      </p:pic>
      <p:sp>
        <p:nvSpPr>
          <p:cNvPr id="27" name="Text 24"/>
          <p:cNvSpPr txBox="1"/>
          <p:nvPr/>
        </p:nvSpPr>
        <p:spPr>
          <a:xfrm>
            <a:off x="566928" y="9226550"/>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「景品の登録」画面。登録済みの景品と残数が見えるもの。</a:t>
            </a:r>
            <a:endParaRPr lang="en-US" sz="950" dirty="0"/>
          </a:p>
        </p:txBody>
      </p:sp>
      <p:sp>
        <p:nvSpPr>
          <p:cNvPr id="28" name="Text 25"/>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準備6：アカウントを発行する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「ユーザー」の画面で、企業担当者と総合受付のアカウントを作ります。</a:t>
            </a:r>
            <a:endParaRPr lang="en-US" sz="1100" dirty="0"/>
          </a:p>
        </p:txBody>
      </p:sp>
      <p:sp>
        <p:nvSpPr>
          <p:cNvPr id="5" name="Shape 3"/>
          <p:cNvSpPr/>
          <p:nvPr/>
        </p:nvSpPr>
        <p:spPr>
          <a:xfrm>
            <a:off x="566928" y="1793621"/>
            <a:ext cx="274320" cy="274320"/>
          </a:xfrm>
          <a:prstGeom prst="ellipse">
            <a:avLst/>
          </a:prstGeom>
          <a:solidFill>
            <a:srgbClr val="1E2761"/>
          </a:solidFill>
          <a:ln/>
        </p:spPr>
      </p:sp>
      <p:sp>
        <p:nvSpPr>
          <p:cNvPr id="6" name="Text 4"/>
          <p:cNvSpPr txBox="1"/>
          <p:nvPr/>
        </p:nvSpPr>
        <p:spPr>
          <a:xfrm>
            <a:off x="566928" y="1793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69264" y="177533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ユーザー名</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（半角英数字）・</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表示名</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初期パスワード</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を入力する</a:t>
            </a:r>
            <a:endParaRPr lang="en-US" sz="1150" dirty="0"/>
          </a:p>
        </p:txBody>
      </p:sp>
      <p:sp>
        <p:nvSpPr>
          <p:cNvPr id="8" name="Shape 6"/>
          <p:cNvSpPr/>
          <p:nvPr/>
        </p:nvSpPr>
        <p:spPr>
          <a:xfrm>
            <a:off x="566928" y="2250821"/>
            <a:ext cx="274320" cy="274320"/>
          </a:xfrm>
          <a:prstGeom prst="ellipse">
            <a:avLst/>
          </a:prstGeom>
          <a:solidFill>
            <a:srgbClr val="1E2761"/>
          </a:solidFill>
          <a:ln/>
        </p:spPr>
      </p:sp>
      <p:sp>
        <p:nvSpPr>
          <p:cNvPr id="9" name="Text 7"/>
          <p:cNvSpPr txBox="1"/>
          <p:nvPr/>
        </p:nvSpPr>
        <p:spPr>
          <a:xfrm>
            <a:off x="566928" y="22508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969264" y="223253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役割</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を選ぶ</a:t>
            </a:r>
            <a:endParaRPr lang="en-US" sz="1150" dirty="0"/>
          </a:p>
        </p:txBody>
      </p:sp>
      <p:sp>
        <p:nvSpPr>
          <p:cNvPr id="11" name="Shape 9"/>
          <p:cNvSpPr/>
          <p:nvPr/>
        </p:nvSpPr>
        <p:spPr>
          <a:xfrm>
            <a:off x="566928" y="2708021"/>
            <a:ext cx="274320" cy="274320"/>
          </a:xfrm>
          <a:prstGeom prst="ellipse">
            <a:avLst/>
          </a:prstGeom>
          <a:solidFill>
            <a:srgbClr val="1E2761"/>
          </a:solidFill>
          <a:ln/>
        </p:spPr>
      </p:sp>
      <p:sp>
        <p:nvSpPr>
          <p:cNvPr id="12" name="Text 10"/>
          <p:cNvSpPr txBox="1"/>
          <p:nvPr/>
        </p:nvSpPr>
        <p:spPr>
          <a:xfrm>
            <a:off x="566928" y="2708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969264" y="26897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企業担当者の場合は、</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担当する企業</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を選ぶ</a:t>
            </a:r>
            <a:endParaRPr lang="en-US" sz="1150" dirty="0"/>
          </a:p>
        </p:txBody>
      </p:sp>
      <p:sp>
        <p:nvSpPr>
          <p:cNvPr id="14" name="Shape 12"/>
          <p:cNvSpPr/>
          <p:nvPr/>
        </p:nvSpPr>
        <p:spPr>
          <a:xfrm>
            <a:off x="566928" y="3165221"/>
            <a:ext cx="274320" cy="274320"/>
          </a:xfrm>
          <a:prstGeom prst="ellipse">
            <a:avLst/>
          </a:prstGeom>
          <a:solidFill>
            <a:srgbClr val="1E2761"/>
          </a:solidFill>
          <a:ln/>
        </p:spPr>
      </p:sp>
      <p:sp>
        <p:nvSpPr>
          <p:cNvPr id="15" name="Text 13"/>
          <p:cNvSpPr txBox="1"/>
          <p:nvPr/>
        </p:nvSpPr>
        <p:spPr>
          <a:xfrm>
            <a:off x="566928" y="3165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969264" y="31469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「作成する」を押し、ユーザー名とパスワードを本人に伝える</a:t>
            </a:r>
            <a:endParaRPr lang="en-US" sz="1150" dirty="0"/>
          </a:p>
        </p:txBody>
      </p:sp>
      <p:sp>
        <p:nvSpPr>
          <p:cNvPr id="17" name="Text 15"/>
          <p:cNvSpPr txBox="1"/>
          <p:nvPr/>
        </p:nvSpPr>
        <p:spPr>
          <a:xfrm>
            <a:off x="566928" y="3713861"/>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役割の違い</a:t>
            </a:r>
            <a:endParaRPr lang="en-US" sz="1400" dirty="0"/>
          </a:p>
        </p:txBody>
      </p:sp>
      <p:sp>
        <p:nvSpPr>
          <p:cNvPr id="18" name="Text 16"/>
          <p:cNvSpPr txBox="1"/>
          <p:nvPr/>
        </p:nvSpPr>
        <p:spPr>
          <a:xfrm>
            <a:off x="713232" y="4044823"/>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主催者</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：すべての操作ができます</a:t>
            </a:r>
            <a:endParaRPr lang="en-US" sz="1100" dirty="0"/>
          </a:p>
        </p:txBody>
      </p:sp>
      <p:sp>
        <p:nvSpPr>
          <p:cNvPr id="19" name="Text 17"/>
          <p:cNvSpPr txBox="1"/>
          <p:nvPr/>
        </p:nvSpPr>
        <p:spPr>
          <a:xfrm>
            <a:off x="713232" y="432054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企業担当者</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：自社のアンケート編集・集計・CSVのみ。</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他社のデータは見えません</a:t>
            </a:r>
            <a:endParaRPr lang="en-US" sz="1100" dirty="0"/>
          </a:p>
        </p:txBody>
      </p:sp>
      <p:sp>
        <p:nvSpPr>
          <p:cNvPr id="20" name="Text 18"/>
          <p:cNvSpPr txBox="1"/>
          <p:nvPr/>
        </p:nvSpPr>
        <p:spPr>
          <a:xfrm>
            <a:off x="713232" y="4596257"/>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総合受付</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：景品交換の照会と記録のみ</a:t>
            </a:r>
            <a:endParaRPr lang="en-US" sz="1100" dirty="0"/>
          </a:p>
        </p:txBody>
      </p:sp>
      <p:sp>
        <p:nvSpPr>
          <p:cNvPr id="21" name="Text 19"/>
          <p:cNvSpPr txBox="1"/>
          <p:nvPr/>
        </p:nvSpPr>
        <p:spPr>
          <a:xfrm>
            <a:off x="566928" y="4871974"/>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一覧には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最終ログイン</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の列があります。「未ログイン」のままの方がいないか、当日までに確認してください（受付スタッフは事前ログインが必要です）。</a:t>
            </a:r>
            <a:endParaRPr lang="en-US" sz="1100" dirty="0"/>
          </a:p>
        </p:txBody>
      </p:sp>
      <p:sp>
        <p:nvSpPr>
          <p:cNvPr id="22" name="Shape 20"/>
          <p:cNvSpPr/>
          <p:nvPr/>
        </p:nvSpPr>
        <p:spPr>
          <a:xfrm>
            <a:off x="566928" y="5368544"/>
            <a:ext cx="6428232" cy="624459"/>
          </a:xfrm>
          <a:prstGeom prst="roundRect">
            <a:avLst>
              <a:gd name="adj" fmla="val 8786"/>
            </a:avLst>
          </a:prstGeom>
          <a:solidFill>
            <a:srgbClr val="FDF0E6"/>
          </a:solidFill>
          <a:ln w="9525">
            <a:solidFill>
              <a:srgbClr val="E08A3C"/>
            </a:solidFill>
            <a:prstDash val="solid"/>
          </a:ln>
        </p:spPr>
      </p:sp>
      <p:sp>
        <p:nvSpPr>
          <p:cNvPr id="23" name="Text 21"/>
          <p:cNvSpPr txBox="1"/>
          <p:nvPr/>
        </p:nvSpPr>
        <p:spPr>
          <a:xfrm>
            <a:off x="658368" y="5459984"/>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950976" y="5478272"/>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受付で使う端末では、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当日までにログインを済ませておいてください</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。ログイン済みの端末で来場者のQRを読み取ると、すぐに交換画面が開きます。</a:t>
            </a:r>
            <a:endParaRPr lang="en-US" sz="1050" dirty="0"/>
          </a:p>
        </p:txBody>
      </p:sp>
      <p:sp>
        <p:nvSpPr>
          <p:cNvPr id="25" name="Shape 23"/>
          <p:cNvSpPr/>
          <p:nvPr/>
        </p:nvSpPr>
        <p:spPr>
          <a:xfrm>
            <a:off x="566928" y="6066155"/>
            <a:ext cx="6428232" cy="817817"/>
          </a:xfrm>
          <a:prstGeom prst="roundRect">
            <a:avLst>
              <a:gd name="adj" fmla="val 6709"/>
            </a:avLst>
          </a:prstGeom>
          <a:solidFill>
            <a:srgbClr val="E8ECF8"/>
          </a:solidFill>
          <a:ln w="9525">
            <a:solidFill>
              <a:srgbClr val="1E2761"/>
            </a:solidFill>
            <a:prstDash val="solid"/>
          </a:ln>
        </p:spPr>
      </p:sp>
      <p:sp>
        <p:nvSpPr>
          <p:cNvPr id="26" name="Text 24"/>
          <p:cNvSpPr txBox="1"/>
          <p:nvPr/>
        </p:nvSpPr>
        <p:spPr>
          <a:xfrm>
            <a:off x="658368" y="6157595"/>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7" name="Text 25"/>
          <p:cNvSpPr txBox="1"/>
          <p:nvPr/>
        </p:nvSpPr>
        <p:spPr>
          <a:xfrm>
            <a:off x="950976" y="6175883"/>
            <a:ext cx="5925312" cy="634937"/>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受付は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パソコン＋USBバーコードリーダー</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でも対応できます。照会画面を開いたまま読み取るだけで交換済みまで記録されるので、人数が多いイベントではこちらが速いです（くわしくは総合受付マニュアル）。</a:t>
            </a:r>
            <a:endParaRPr lang="en-US" sz="1050" dirty="0"/>
          </a:p>
        </p:txBody>
      </p:sp>
      <p:sp>
        <p:nvSpPr>
          <p:cNvPr id="28" name="Text 26"/>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準備6：アカウントを発行する（つづき）</a:t>
            </a:r>
            <a:endParaRPr lang="en-US" sz="2200" dirty="0"/>
          </a:p>
        </p:txBody>
      </p:sp>
      <p:pic>
        <p:nvPicPr>
          <p:cNvPr id="4" name="Image 0" descr="C:\Users\sato\Desktop\enque\docs\images\o-users.png">    </p:cNvPr>
          <p:cNvPicPr>
            <a:picLocks noChangeAspect="1"/>
          </p:cNvPicPr>
          <p:nvPr/>
        </p:nvPicPr>
        <p:blipFill>
          <a:blip r:embed="rId1"/>
          <a:stretch>
            <a:fillRect/>
          </a:stretch>
        </p:blipFill>
        <p:spPr>
          <a:xfrm>
            <a:off x="2018332" y="1481328"/>
            <a:ext cx="3525424"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「管理ユーザー」の画面。登録済みのアカウント一覧。</a:t>
            </a:r>
            <a:endParaRPr lang="en-US" sz="950" dirty="0"/>
          </a:p>
        </p:txBody>
      </p:sp>
      <p:sp>
        <p:nvSpPr>
          <p:cNvPr id="6" name="Text 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準備7：スマホ壁紙を登録する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総合アンケートに回答した方に、イベント終了後のメールでお渡しするプレゼントです。</a:t>
            </a:r>
            <a:endParaRPr lang="en-US" sz="1100" dirty="0"/>
          </a:p>
        </p:txBody>
      </p:sp>
      <p:sp>
        <p:nvSpPr>
          <p:cNvPr id="5" name="Shape 3"/>
          <p:cNvSpPr/>
          <p:nvPr/>
        </p:nvSpPr>
        <p:spPr>
          <a:xfrm>
            <a:off x="566928" y="1793621"/>
            <a:ext cx="274320" cy="274320"/>
          </a:xfrm>
          <a:prstGeom prst="ellipse">
            <a:avLst/>
          </a:prstGeom>
          <a:solidFill>
            <a:srgbClr val="1E2761"/>
          </a:solidFill>
          <a:ln/>
        </p:spPr>
      </p:sp>
      <p:sp>
        <p:nvSpPr>
          <p:cNvPr id="6" name="Text 4"/>
          <p:cNvSpPr txBox="1"/>
          <p:nvPr/>
        </p:nvSpPr>
        <p:spPr>
          <a:xfrm>
            <a:off x="566928" y="1793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69264" y="17753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「壁紙」の画面を開く</a:t>
            </a:r>
            <a:endParaRPr lang="en-US" sz="1150" dirty="0"/>
          </a:p>
        </p:txBody>
      </p:sp>
      <p:sp>
        <p:nvSpPr>
          <p:cNvPr id="8" name="Shape 6"/>
          <p:cNvSpPr/>
          <p:nvPr/>
        </p:nvSpPr>
        <p:spPr>
          <a:xfrm>
            <a:off x="566928" y="2250821"/>
            <a:ext cx="274320" cy="274320"/>
          </a:xfrm>
          <a:prstGeom prst="ellipse">
            <a:avLst/>
          </a:prstGeom>
          <a:solidFill>
            <a:srgbClr val="1E2761"/>
          </a:solidFill>
          <a:ln/>
        </p:spPr>
      </p:sp>
      <p:sp>
        <p:nvSpPr>
          <p:cNvPr id="9" name="Text 7"/>
          <p:cNvSpPr txBox="1"/>
          <p:nvPr/>
        </p:nvSpPr>
        <p:spPr>
          <a:xfrm>
            <a:off x="566928" y="22508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969264" y="223253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タイトル</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を入れ、</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画像ファイル</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（PNG または JPEG、12MBまで）を選ぶ</a:t>
            </a:r>
            <a:endParaRPr lang="en-US" sz="1150" dirty="0"/>
          </a:p>
        </p:txBody>
      </p:sp>
      <p:sp>
        <p:nvSpPr>
          <p:cNvPr id="11" name="Shape 9"/>
          <p:cNvSpPr/>
          <p:nvPr/>
        </p:nvSpPr>
        <p:spPr>
          <a:xfrm>
            <a:off x="566928" y="2708021"/>
            <a:ext cx="274320" cy="274320"/>
          </a:xfrm>
          <a:prstGeom prst="ellipse">
            <a:avLst/>
          </a:prstGeom>
          <a:solidFill>
            <a:srgbClr val="1E2761"/>
          </a:solidFill>
          <a:ln/>
        </p:spPr>
      </p:sp>
      <p:sp>
        <p:nvSpPr>
          <p:cNvPr id="12" name="Text 10"/>
          <p:cNvSpPr txBox="1"/>
          <p:nvPr/>
        </p:nvSpPr>
        <p:spPr>
          <a:xfrm>
            <a:off x="566928" y="2708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969264" y="26897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「登録する」を押す</a:t>
            </a:r>
            <a:endParaRPr lang="en-US" sz="1150" dirty="0"/>
          </a:p>
        </p:txBody>
      </p:sp>
      <p:sp>
        <p:nvSpPr>
          <p:cNvPr id="14" name="Shape 12"/>
          <p:cNvSpPr/>
          <p:nvPr/>
        </p:nvSpPr>
        <p:spPr>
          <a:xfrm>
            <a:off x="566928" y="3146933"/>
            <a:ext cx="6428232" cy="624459"/>
          </a:xfrm>
          <a:prstGeom prst="roundRect">
            <a:avLst>
              <a:gd name="adj" fmla="val 8786"/>
            </a:avLst>
          </a:prstGeom>
          <a:solidFill>
            <a:srgbClr val="E8ECF8"/>
          </a:solidFill>
          <a:ln w="9525">
            <a:solidFill>
              <a:srgbClr val="1E2761"/>
            </a:solidFill>
            <a:prstDash val="solid"/>
          </a:ln>
        </p:spPr>
      </p:sp>
      <p:sp>
        <p:nvSpPr>
          <p:cNvPr id="15" name="Text 13"/>
          <p:cNvSpPr txBox="1"/>
          <p:nvPr/>
        </p:nvSpPr>
        <p:spPr>
          <a:xfrm>
            <a:off x="658368" y="3238373"/>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6" name="Text 14"/>
          <p:cNvSpPr txBox="1"/>
          <p:nvPr/>
        </p:nvSpPr>
        <p:spPr>
          <a:xfrm>
            <a:off x="950976" y="3256661"/>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スマートフォンの画面比に合わせた</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縦長の画像</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（例：1080×2340）を1〜2種類登録しておくと親切です。</a:t>
            </a:r>
            <a:endParaRPr lang="en-US" sz="1050" dirty="0"/>
          </a:p>
        </p:txBody>
      </p:sp>
      <p:pic>
        <p:nvPicPr>
          <p:cNvPr id="17" name="Image 0" descr="C:\Users\sato\Desktop\enque\docs\images\o-wallpapers.png">    </p:cNvPr>
          <p:cNvPicPr>
            <a:picLocks noChangeAspect="1"/>
          </p:cNvPicPr>
          <p:nvPr/>
        </p:nvPicPr>
        <p:blipFill>
          <a:blip r:embed="rId1"/>
          <a:stretch>
            <a:fillRect/>
          </a:stretch>
        </p:blipFill>
        <p:spPr>
          <a:xfrm>
            <a:off x="1151646" y="3844544"/>
            <a:ext cx="5258795" cy="3474720"/>
          </a:xfrm>
          <a:prstGeom prst="rect">
            <a:avLst/>
          </a:prstGeom>
        </p:spPr>
      </p:pic>
      <p:sp>
        <p:nvSpPr>
          <p:cNvPr id="18" name="Text 15"/>
          <p:cNvSpPr txBox="1"/>
          <p:nvPr/>
        </p:nvSpPr>
        <p:spPr>
          <a:xfrm>
            <a:off x="566928" y="7374128"/>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「スマホ壁紙の登録」画面。登録済みの壁紙が並んでいるところ。</a:t>
            </a:r>
            <a:endParaRPr lang="en-US" sz="950" dirty="0"/>
          </a:p>
        </p:txBody>
      </p:sp>
      <p:sp>
        <p:nvSpPr>
          <p:cNvPr id="19" name="Text 16"/>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準備8：総合アンケートを用意する（重要）</a:t>
            </a:r>
            <a:endParaRPr lang="en-US" sz="2200" dirty="0"/>
          </a:p>
        </p:txBody>
      </p:sp>
      <p:sp>
        <p:nvSpPr>
          <p:cNvPr id="4" name="Text 2"/>
          <p:cNvSpPr txBox="1"/>
          <p:nvPr/>
        </p:nvSpPr>
        <p:spPr>
          <a:xfrm>
            <a:off x="566928" y="148132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イベント全体について聞くアンケートです。</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会期中、ブースのアンケートの下に出て、来場者は1回だけ答えます。</a:t>
            </a:r>
            <a:endParaRPr lang="en-US" sz="1100" dirty="0"/>
          </a:p>
        </p:txBody>
      </p:sp>
      <p:sp>
        <p:nvSpPr>
          <p:cNvPr id="5" name="Text 3"/>
          <p:cNvSpPr txBox="1"/>
          <p:nvPr/>
        </p:nvSpPr>
        <p:spPr>
          <a:xfrm>
            <a:off x="566928" y="197789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画面には「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最後にお帰りの際にご記入ください</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」と案内しており、</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空欄のまま送信できます</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a:t>
            </a:r>
            <a:endParaRPr lang="en-US" sz="1100" dirty="0"/>
          </a:p>
        </p:txBody>
      </p:sp>
      <p:sp>
        <p:nvSpPr>
          <p:cNvPr id="6" name="Text 4"/>
          <p:cNvSpPr txBox="1"/>
          <p:nvPr/>
        </p:nvSpPr>
        <p:spPr>
          <a:xfrm>
            <a:off x="566928" y="2271903"/>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書かずに送った方には次のブースの画面にも出るので、帰り際のブースで書いていただけます。</a:t>
            </a:r>
            <a:endParaRPr lang="en-US" sz="1100" dirty="0"/>
          </a:p>
        </p:txBody>
      </p:sp>
      <p:sp>
        <p:nvSpPr>
          <p:cNvPr id="7" name="Text 5"/>
          <p:cNvSpPr txBox="1"/>
          <p:nvPr/>
        </p:nvSpPr>
        <p:spPr>
          <a:xfrm>
            <a:off x="566928" y="256590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一度答えた方には、以降のブースでは表示されません。</a:t>
            </a:r>
            <a:endParaRPr lang="en-US" sz="1100" dirty="0"/>
          </a:p>
        </p:txBody>
      </p:sp>
      <p:sp>
        <p:nvSpPr>
          <p:cNvPr id="8" name="Shape 6"/>
          <p:cNvSpPr/>
          <p:nvPr/>
        </p:nvSpPr>
        <p:spPr>
          <a:xfrm>
            <a:off x="566928" y="2878201"/>
            <a:ext cx="274320" cy="274320"/>
          </a:xfrm>
          <a:prstGeom prst="ellipse">
            <a:avLst/>
          </a:prstGeom>
          <a:solidFill>
            <a:srgbClr val="1E2761"/>
          </a:solidFill>
          <a:ln/>
        </p:spPr>
      </p:sp>
      <p:sp>
        <p:nvSpPr>
          <p:cNvPr id="9" name="Text 7"/>
          <p:cNvSpPr txBox="1"/>
          <p:nvPr/>
        </p:nvSpPr>
        <p:spPr>
          <a:xfrm>
            <a:off x="566928" y="28782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969264" y="285991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「総合アンケート」の画面で</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「総合アンケートを作成する」</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a:t>
            </a:r>
            <a:endParaRPr lang="en-US" sz="1150" dirty="0"/>
          </a:p>
        </p:txBody>
      </p:sp>
      <p:sp>
        <p:nvSpPr>
          <p:cNvPr id="11" name="Shape 9"/>
          <p:cNvSpPr/>
          <p:nvPr/>
        </p:nvSpPr>
        <p:spPr>
          <a:xfrm>
            <a:off x="566928" y="3335401"/>
            <a:ext cx="274320" cy="274320"/>
          </a:xfrm>
          <a:prstGeom prst="ellipse">
            <a:avLst/>
          </a:prstGeom>
          <a:solidFill>
            <a:srgbClr val="1E2761"/>
          </a:solidFill>
          <a:ln/>
        </p:spPr>
      </p:sp>
      <p:sp>
        <p:nvSpPr>
          <p:cNvPr id="12" name="Text 10"/>
          <p:cNvSpPr txBox="1"/>
          <p:nvPr/>
        </p:nvSpPr>
        <p:spPr>
          <a:xfrm>
            <a:off x="566928" y="33354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969264" y="331711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設問を登録する（</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3問程度</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、満足度・来場のきっかけ・ご意見がおすすめ）</a:t>
            </a:r>
            <a:endParaRPr lang="en-US" sz="1150" dirty="0"/>
          </a:p>
        </p:txBody>
      </p:sp>
      <p:sp>
        <p:nvSpPr>
          <p:cNvPr id="14" name="Shape 12"/>
          <p:cNvSpPr/>
          <p:nvPr/>
        </p:nvSpPr>
        <p:spPr>
          <a:xfrm>
            <a:off x="566928" y="3792601"/>
            <a:ext cx="274320" cy="274320"/>
          </a:xfrm>
          <a:prstGeom prst="ellipse">
            <a:avLst/>
          </a:prstGeom>
          <a:solidFill>
            <a:srgbClr val="1E2761"/>
          </a:solidFill>
          <a:ln/>
        </p:spPr>
      </p:sp>
      <p:sp>
        <p:nvSpPr>
          <p:cNvPr id="15" name="Text 13"/>
          <p:cNvSpPr txBox="1"/>
          <p:nvPr/>
        </p:nvSpPr>
        <p:spPr>
          <a:xfrm>
            <a:off x="566928" y="37926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969264" y="377431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「公開する」にチェックを入れて保存</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する</a:t>
            </a:r>
            <a:endParaRPr lang="en-US" sz="1150" dirty="0"/>
          </a:p>
        </p:txBody>
      </p:sp>
      <p:sp>
        <p:nvSpPr>
          <p:cNvPr id="17" name="Shape 15"/>
          <p:cNvSpPr/>
          <p:nvPr/>
        </p:nvSpPr>
        <p:spPr>
          <a:xfrm>
            <a:off x="566928" y="4231513"/>
            <a:ext cx="6428232" cy="624459"/>
          </a:xfrm>
          <a:prstGeom prst="roundRect">
            <a:avLst>
              <a:gd name="adj" fmla="val 8786"/>
            </a:avLst>
          </a:prstGeom>
          <a:solidFill>
            <a:srgbClr val="FDF0E6"/>
          </a:solidFill>
          <a:ln w="9525">
            <a:solidFill>
              <a:srgbClr val="E08A3C"/>
            </a:solidFill>
            <a:prstDash val="solid"/>
          </a:ln>
        </p:spPr>
      </p:sp>
      <p:sp>
        <p:nvSpPr>
          <p:cNvPr id="18" name="Text 16"/>
          <p:cNvSpPr txBox="1"/>
          <p:nvPr/>
        </p:nvSpPr>
        <p:spPr>
          <a:xfrm>
            <a:off x="658368" y="4322953"/>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950976" y="4341241"/>
            <a:ext cx="5925312" cy="441579"/>
          </a:xfrm>
          <a:prstGeom prst="rect">
            <a:avLst/>
          </a:prstGeom>
          <a:noFill/>
          <a:ln/>
        </p:spPr>
        <p:txBody>
          <a:bodyPr wrap="square" lIns="0" tIns="0" rIns="0" bIns="0" rtlCol="0" anchor="t"/>
          <a:lstStyle/>
          <a:p>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開催中に公開されていないと、1件も集まりません。</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 必ず開催前に公開してください。公開されていないと、ダッシュボードに警告が出ます。</a:t>
            </a:r>
            <a:endParaRPr lang="en-US" sz="1050" dirty="0"/>
          </a:p>
        </p:txBody>
      </p:sp>
      <p:sp>
        <p:nvSpPr>
          <p:cNvPr id="20" name="Shape 18"/>
          <p:cNvSpPr/>
          <p:nvPr/>
        </p:nvSpPr>
        <p:spPr>
          <a:xfrm>
            <a:off x="566928" y="4929124"/>
            <a:ext cx="6428232" cy="624459"/>
          </a:xfrm>
          <a:prstGeom prst="roundRect">
            <a:avLst>
              <a:gd name="adj" fmla="val 8786"/>
            </a:avLst>
          </a:prstGeom>
          <a:solidFill>
            <a:srgbClr val="E8ECF8"/>
          </a:solidFill>
          <a:ln w="9525">
            <a:solidFill>
              <a:srgbClr val="1E2761"/>
            </a:solidFill>
            <a:prstDash val="solid"/>
          </a:ln>
        </p:spPr>
      </p:sp>
      <p:sp>
        <p:nvSpPr>
          <p:cNvPr id="21" name="Text 19"/>
          <p:cNvSpPr txBox="1"/>
          <p:nvPr/>
        </p:nvSpPr>
        <p:spPr>
          <a:xfrm>
            <a:off x="658368" y="5020564"/>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2" name="Text 20"/>
          <p:cNvSpPr txBox="1"/>
          <p:nvPr/>
        </p:nvSpPr>
        <p:spPr>
          <a:xfrm>
            <a:off x="950976" y="5038852"/>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設問は少なめに。ブースのアンケートに続けて表示されるため、長いと最初のブースで嫌がられます。3問程度をおすすめします。</a:t>
            </a:r>
            <a:endParaRPr lang="en-US" sz="1050" dirty="0"/>
          </a:p>
        </p:txBody>
      </p:sp>
      <p:sp>
        <p:nvSpPr>
          <p:cNvPr id="23" name="Shape 21"/>
          <p:cNvSpPr/>
          <p:nvPr/>
        </p:nvSpPr>
        <p:spPr>
          <a:xfrm>
            <a:off x="566928" y="5626735"/>
            <a:ext cx="6428232" cy="1011174"/>
          </a:xfrm>
          <a:prstGeom prst="roundRect">
            <a:avLst>
              <a:gd name="adj" fmla="val 5426"/>
            </a:avLst>
          </a:prstGeom>
          <a:solidFill>
            <a:srgbClr val="E8ECF8"/>
          </a:solidFill>
          <a:ln w="9525">
            <a:solidFill>
              <a:srgbClr val="1E2761"/>
            </a:solidFill>
            <a:prstDash val="solid"/>
          </a:ln>
        </p:spPr>
      </p:sp>
      <p:sp>
        <p:nvSpPr>
          <p:cNvPr id="24" name="Text 22"/>
          <p:cNvSpPr txBox="1"/>
          <p:nvPr/>
        </p:nvSpPr>
        <p:spPr>
          <a:xfrm>
            <a:off x="658368" y="5718175"/>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5" name="Text 23"/>
          <p:cNvSpPr txBox="1"/>
          <p:nvPr/>
        </p:nvSpPr>
        <p:spPr>
          <a:xfrm>
            <a:off x="950976" y="5736463"/>
            <a:ext cx="5925312" cy="828294"/>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必ず答えてほしい設問は、設問編集画面で</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「要回答にする」</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にチェックを入れてください。画面にオレンジの</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「要回答」</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の印が出ます。</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送信は止めません</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（お帰りの前に書いてもらう案内をしているため）が、未回答のまま残っている方には回答済み画面で「要回答の設問が◯問残っています」と伝え、「回答を仕上げる」ボタンを出します。</a:t>
            </a:r>
            <a:endParaRPr lang="en-US" sz="1050" dirty="0"/>
          </a:p>
        </p:txBody>
      </p:sp>
      <p:sp>
        <p:nvSpPr>
          <p:cNvPr id="26" name="Shape 24"/>
          <p:cNvSpPr/>
          <p:nvPr/>
        </p:nvSpPr>
        <p:spPr>
          <a:xfrm>
            <a:off x="566928" y="6711061"/>
            <a:ext cx="6428232" cy="624459"/>
          </a:xfrm>
          <a:prstGeom prst="roundRect">
            <a:avLst>
              <a:gd name="adj" fmla="val 8786"/>
            </a:avLst>
          </a:prstGeom>
          <a:solidFill>
            <a:srgbClr val="FDF0E6"/>
          </a:solidFill>
          <a:ln w="9525">
            <a:solidFill>
              <a:srgbClr val="E08A3C"/>
            </a:solidFill>
            <a:prstDash val="solid"/>
          </a:ln>
        </p:spPr>
      </p:sp>
      <p:sp>
        <p:nvSpPr>
          <p:cNvPr id="27" name="Text 25"/>
          <p:cNvSpPr txBox="1"/>
          <p:nvPr/>
        </p:nvSpPr>
        <p:spPr>
          <a:xfrm>
            <a:off x="658368" y="6802501"/>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950976" y="6820789"/>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「要回答」の印は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どの画面でも同じ</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です（ブースの画面でも、回答済み画面からの編集でも、メールからの回答でも）。画面によって必須・任意が入れ替わらないように揃えています。</a:t>
            </a:r>
            <a:endParaRPr lang="en-US" sz="1050" dirty="0"/>
          </a:p>
        </p:txBody>
      </p:sp>
      <p:sp>
        <p:nvSpPr>
          <p:cNvPr id="29" name="Text 27"/>
          <p:cNvSpPr txBox="1"/>
          <p:nvPr/>
        </p:nvSpPr>
        <p:spPr>
          <a:xfrm>
            <a:off x="566928" y="7518400"/>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書いたあとで直せます</a:t>
            </a:r>
            <a:endParaRPr lang="en-US" sz="1400" dirty="0"/>
          </a:p>
        </p:txBody>
      </p:sp>
      <p:sp>
        <p:nvSpPr>
          <p:cNvPr id="30" name="Text 28"/>
          <p:cNvSpPr txBox="1"/>
          <p:nvPr/>
        </p:nvSpPr>
        <p:spPr>
          <a:xfrm>
            <a:off x="566928" y="7849362"/>
            <a:ext cx="6428232" cy="66255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回答済み画面（交換コードの画面）に</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「総合アンケート」のカード</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が出ます。未回答なら「回答する」、回答済みなら「回答を変更する」から、</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開催中は何度でも</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書き直せます。内容は上書きされ、回答が二重に数えられることはありません。</a:t>
            </a:r>
            <a:endParaRPr lang="en-US" sz="1100" dirty="0"/>
          </a:p>
        </p:txBody>
      </p:sp>
      <p:sp>
        <p:nvSpPr>
          <p:cNvPr id="31" name="Text 29"/>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準備8：総合アンケートを用意する（重要）（つづき）</a:t>
            </a:r>
            <a:endParaRPr lang="en-US" sz="2200" dirty="0"/>
          </a:p>
        </p:txBody>
      </p:sp>
      <p:pic>
        <p:nvPicPr>
          <p:cNvPr id="4" name="Image 0" descr="C:\Users\sato\Desktop\enque\docs\images\p-done-overall.png">    </p:cNvPr>
          <p:cNvPicPr>
            <a:picLocks noChangeAspect="1"/>
          </p:cNvPicPr>
          <p:nvPr/>
        </p:nvPicPr>
        <p:blipFill>
          <a:blip r:embed="rId1"/>
          <a:stretch>
            <a:fillRect/>
          </a:stretch>
        </p:blipFill>
        <p:spPr>
          <a:xfrm>
            <a:off x="671502" y="1481328"/>
            <a:ext cx="6219085"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来場者の回答済み画面にある「総合アンケート」のカード（「回答する」ボタンが見えるもの）。</a:t>
            </a:r>
            <a:endParaRPr lang="en-US" sz="950" dirty="0"/>
          </a:p>
        </p:txBody>
      </p:sp>
      <p:sp>
        <p:nvSpPr>
          <p:cNvPr id="6" name="Text 3"/>
          <p:cNvSpPr txBox="1"/>
          <p:nvPr/>
        </p:nvSpPr>
        <p:spPr>
          <a:xfrm>
            <a:off x="566928" y="5449824"/>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メールアドレスを集めない運用にする</a:t>
            </a:r>
            <a:endParaRPr lang="en-US" sz="1400" dirty="0"/>
          </a:p>
        </p:txBody>
      </p:sp>
      <p:sp>
        <p:nvSpPr>
          <p:cNvPr id="7" name="Text 4"/>
          <p:cNvSpPr txBox="1"/>
          <p:nvPr/>
        </p:nvSpPr>
        <p:spPr>
          <a:xfrm>
            <a:off x="566928" y="5780786"/>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サーバーの </a:t>
            </a:r>
            <a:pPr indent="0" marL="0">
              <a:lnSpc>
                <a:spcPct val="125000"/>
              </a:lnSpc>
              <a:buNone/>
            </a:pPr>
            <a:r>
              <a:rPr lang="en-US" sz="1045" dirty="0">
                <a:solidFill>
                  <a:srgbClr val="222222"/>
                </a:solidFill>
                <a:latin typeface="Courier New" pitchFamily="34" charset="0"/>
                <a:ea typeface="Courier New" pitchFamily="34" charset="-122"/>
                <a:cs typeface="Courier New" pitchFamily="34" charset="-120"/>
              </a:rPr>
              <a:t>.env</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 で </a:t>
            </a:r>
            <a:pPr indent="0" marL="0">
              <a:lnSpc>
                <a:spcPct val="125000"/>
              </a:lnSpc>
              <a:buNone/>
            </a:pPr>
            <a:r>
              <a:rPr lang="en-US" sz="1045" dirty="0">
                <a:solidFill>
                  <a:srgbClr val="222222"/>
                </a:solidFill>
                <a:latin typeface="Courier New" pitchFamily="34" charset="0"/>
                <a:ea typeface="Courier New" pitchFamily="34" charset="-122"/>
                <a:cs typeface="Courier New" pitchFamily="34" charset="-120"/>
              </a:rPr>
              <a:t>COLLECT_EMAIL=0</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 にすると、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来場者の画面からメールアドレスの入力欄と案内が消えます</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a:t>
            </a:r>
            <a:endParaRPr lang="en-US" sz="1100" dirty="0"/>
          </a:p>
        </p:txBody>
      </p:sp>
      <p:sp>
        <p:nvSpPr>
          <p:cNvPr id="8" name="Text 5"/>
          <p:cNvSpPr txBox="1"/>
          <p:nvPr/>
        </p:nvSpPr>
        <p:spPr>
          <a:xfrm>
            <a:off x="566928" y="6277356"/>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このとき</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案内メールも送信されません</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（以前に預かったアドレスが残っていても、状態を「終了」にして自動送信されることはありません）。</a:t>
            </a:r>
            <a:endParaRPr lang="en-US" sz="1100" dirty="0"/>
          </a:p>
        </p:txBody>
      </p:sp>
      <p:sp>
        <p:nvSpPr>
          <p:cNvPr id="9" name="Text 6"/>
          <p:cNvSpPr txBox="1"/>
          <p:nvPr/>
        </p:nvSpPr>
        <p:spPr>
          <a:xfrm>
            <a:off x="566928" y="6773926"/>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状態の表記も「終了（回答締切）」に変わります。壁紙は案内メールのリンクから配るため、この設定では配布できません（管理画面にも警告が出ます）。</a:t>
            </a:r>
            <a:endParaRPr lang="en-US" sz="1100" dirty="0"/>
          </a:p>
        </p:txBody>
      </p:sp>
      <p:sp>
        <p:nvSpPr>
          <p:cNvPr id="10" name="Text 7"/>
          <p:cNvSpPr txBox="1"/>
          <p:nvPr/>
        </p:nvSpPr>
        <p:spPr>
          <a:xfrm>
            <a:off x="566928" y="7380224"/>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何社目のブースから出すか</a:t>
            </a:r>
            <a:endParaRPr lang="en-US" sz="1400" dirty="0"/>
          </a:p>
        </p:txBody>
      </p:sp>
      <p:sp>
        <p:nvSpPr>
          <p:cNvPr id="11" name="Text 8"/>
          <p:cNvSpPr txBox="1"/>
          <p:nvPr/>
        </p:nvSpPr>
        <p:spPr>
          <a:xfrm>
            <a:off x="566928" y="7711186"/>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ダッシュボードの「イベント設定」で選べます。</a:t>
            </a:r>
            <a:endParaRPr lang="en-US" sz="1100" dirty="0"/>
          </a:p>
        </p:txBody>
      </p:sp>
      <p:sp>
        <p:nvSpPr>
          <p:cNvPr id="12" name="Text 9"/>
          <p:cNvSpPr txBox="1"/>
          <p:nvPr/>
        </p:nvSpPr>
        <p:spPr>
          <a:xfrm>
            <a:off x="713232" y="8005191"/>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1社目から（既定）</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：取りこぼしが最も少ない。1社だけ回って帰る方からも集まります</a:t>
            </a:r>
            <a:endParaRPr lang="en-US" sz="1100" dirty="0"/>
          </a:p>
        </p:txBody>
      </p:sp>
      <p:sp>
        <p:nvSpPr>
          <p:cNvPr id="13" name="Text 10"/>
          <p:cNvSpPr txBox="1"/>
          <p:nvPr/>
        </p:nvSpPr>
        <p:spPr>
          <a:xfrm>
            <a:off x="713232" y="8280908"/>
            <a:ext cx="6281928" cy="459994"/>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2社目から</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：会場をひと通り見てから答えてもらえるので、満足度を聞くのに向きます。ただし1社だけの方からは集まりません</a:t>
            </a:r>
            <a:endParaRPr lang="en-US" sz="1100" dirty="0"/>
          </a:p>
        </p:txBody>
      </p:sp>
      <p:sp>
        <p:nvSpPr>
          <p:cNvPr id="14" name="Text 11"/>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準備8：総合アンケートを用意する（重要）（つづき）</a:t>
            </a:r>
            <a:endParaRPr lang="en-US" sz="2200" dirty="0"/>
          </a:p>
        </p:txBody>
      </p:sp>
      <p:pic>
        <p:nvPicPr>
          <p:cNvPr id="4" name="Image 0" descr="C:\Users\sato\Desktop\enque\docs\images\p-common-survey.png">    </p:cNvPr>
          <p:cNvPicPr>
            <a:picLocks noChangeAspect="1"/>
          </p:cNvPicPr>
          <p:nvPr/>
        </p:nvPicPr>
        <p:blipFill>
          <a:blip r:embed="rId1"/>
          <a:stretch>
            <a:fillRect/>
          </a:stretch>
        </p:blipFill>
        <p:spPr>
          <a:xfrm>
            <a:off x="2895022" y="1481328"/>
            <a:ext cx="1772044"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来場者のアンケート画面の下部。ブースの設問に続いて総合アンケートが出ているところ。</a:t>
            </a:r>
            <a:endParaRPr lang="en-US" sz="950" dirty="0"/>
          </a:p>
        </p:txBody>
      </p:sp>
      <p:sp>
        <p:nvSpPr>
          <p:cNvPr id="6" name="Text 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当日：受付を開始する</a:t>
            </a:r>
            <a:endParaRPr lang="en-US" sz="2200" dirty="0"/>
          </a:p>
        </p:txBody>
      </p:sp>
      <p:sp>
        <p:nvSpPr>
          <p:cNvPr id="4" name="Shape 2"/>
          <p:cNvSpPr/>
          <p:nvPr/>
        </p:nvSpPr>
        <p:spPr>
          <a:xfrm>
            <a:off x="566928" y="1499616"/>
            <a:ext cx="274320" cy="274320"/>
          </a:xfrm>
          <a:prstGeom prst="ellipse">
            <a:avLst/>
          </a:prstGeom>
          <a:solidFill>
            <a:srgbClr val="1E2761"/>
          </a:solidFill>
          <a:ln/>
        </p:spPr>
      </p:sp>
      <p:sp>
        <p:nvSpPr>
          <p:cNvPr id="5" name="Text 3"/>
          <p:cNvSpPr txBox="1"/>
          <p:nvPr/>
        </p:nvSpPr>
        <p:spPr>
          <a:xfrm>
            <a:off x="566928" y="14996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69264" y="14813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ダッシュボードの「イベント設定」で、状態を</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「開催中（回答受付）」</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に変える</a:t>
            </a:r>
            <a:endParaRPr lang="en-US" sz="1150" dirty="0"/>
          </a:p>
        </p:txBody>
      </p:sp>
      <p:sp>
        <p:nvSpPr>
          <p:cNvPr id="7" name="Shape 5"/>
          <p:cNvSpPr/>
          <p:nvPr/>
        </p:nvSpPr>
        <p:spPr>
          <a:xfrm>
            <a:off x="566928" y="1956816"/>
            <a:ext cx="274320" cy="274320"/>
          </a:xfrm>
          <a:prstGeom prst="ellipse">
            <a:avLst/>
          </a:prstGeom>
          <a:solidFill>
            <a:srgbClr val="1E2761"/>
          </a:solidFill>
          <a:ln/>
        </p:spPr>
      </p:sp>
      <p:sp>
        <p:nvSpPr>
          <p:cNvPr id="8" name="Text 6"/>
          <p:cNvSpPr txBox="1"/>
          <p:nvPr/>
        </p:nvSpPr>
        <p:spPr>
          <a:xfrm>
            <a:off x="566928"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69264" y="19385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「保存する」を押す</a:t>
            </a:r>
            <a:endParaRPr lang="en-US" sz="1150" dirty="0"/>
          </a:p>
        </p:txBody>
      </p:sp>
      <p:sp>
        <p:nvSpPr>
          <p:cNvPr id="10" name="Text 8"/>
          <p:cNvSpPr txBox="1"/>
          <p:nvPr/>
        </p:nvSpPr>
        <p:spPr>
          <a:xfrm>
            <a:off x="566928" y="23957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これで、ブースのQRコードからアンケートに回答できるようになります。</a:t>
            </a:r>
            <a:endParaRPr lang="en-US" sz="1100" dirty="0"/>
          </a:p>
        </p:txBody>
      </p:sp>
      <p:sp>
        <p:nvSpPr>
          <p:cNvPr id="11" name="Shape 9"/>
          <p:cNvSpPr/>
          <p:nvPr/>
        </p:nvSpPr>
        <p:spPr>
          <a:xfrm>
            <a:off x="566928" y="2689733"/>
            <a:ext cx="6428232" cy="624459"/>
          </a:xfrm>
          <a:prstGeom prst="roundRect">
            <a:avLst>
              <a:gd name="adj" fmla="val 8786"/>
            </a:avLst>
          </a:prstGeom>
          <a:solidFill>
            <a:srgbClr val="FDF0E6"/>
          </a:solidFill>
          <a:ln w="9525">
            <a:solidFill>
              <a:srgbClr val="E08A3C"/>
            </a:solidFill>
            <a:prstDash val="solid"/>
          </a:ln>
        </p:spPr>
      </p:sp>
      <p:sp>
        <p:nvSpPr>
          <p:cNvPr id="12" name="Text 10"/>
          <p:cNvSpPr txBox="1"/>
          <p:nvPr/>
        </p:nvSpPr>
        <p:spPr>
          <a:xfrm>
            <a:off x="658368" y="2781173"/>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3" name="Text 11"/>
          <p:cNvSpPr txBox="1"/>
          <p:nvPr/>
        </p:nvSpPr>
        <p:spPr>
          <a:xfrm>
            <a:off x="950976" y="2799461"/>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「準備中」「終了」のままだと、QRコードを読んでも「受付を終了しました」と表示されます。</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当日の朝、必ず「開催中」に切り替えてください。</a:t>
            </a:r>
            <a:endParaRPr lang="en-US" sz="1050" dirty="0"/>
          </a:p>
        </p:txBody>
      </p:sp>
      <p:sp>
        <p:nvSpPr>
          <p:cNvPr id="14" name="Text 12"/>
          <p:cNvSpPr txBox="1"/>
          <p:nvPr/>
        </p:nvSpPr>
        <p:spPr>
          <a:xfrm>
            <a:off x="566928" y="3497072"/>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同じ企業に2回答えたとき</a:t>
            </a:r>
            <a:endParaRPr lang="en-US" sz="1400" dirty="0"/>
          </a:p>
        </p:txBody>
      </p:sp>
      <p:sp>
        <p:nvSpPr>
          <p:cNvPr id="15" name="Text 13"/>
          <p:cNvSpPr txBox="1"/>
          <p:nvPr/>
        </p:nvSpPr>
        <p:spPr>
          <a:xfrm>
            <a:off x="566928" y="3828034"/>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来場者が同じ企業のQRをもう一度読み取ると、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「この企業にはご回答済みです」</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と表示され、</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前回の回答が入った状態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で開きます。書き換えて送信すると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前の回答が置き換わり</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、回答数は増えません。</a:t>
            </a:r>
            <a:endParaRPr lang="en-US" sz="1100" dirty="0"/>
          </a:p>
        </p:txBody>
      </p:sp>
      <p:sp>
        <p:nvSpPr>
          <p:cNvPr id="16" name="Shape 14"/>
          <p:cNvSpPr/>
          <p:nvPr/>
        </p:nvSpPr>
        <p:spPr>
          <a:xfrm>
            <a:off x="566928" y="4324604"/>
            <a:ext cx="6428232" cy="624459"/>
          </a:xfrm>
          <a:prstGeom prst="roundRect">
            <a:avLst>
              <a:gd name="adj" fmla="val 8786"/>
            </a:avLst>
          </a:prstGeom>
          <a:solidFill>
            <a:srgbClr val="E8ECF8"/>
          </a:solidFill>
          <a:ln w="9525">
            <a:solidFill>
              <a:srgbClr val="1E2761"/>
            </a:solidFill>
            <a:prstDash val="solid"/>
          </a:ln>
        </p:spPr>
      </p:sp>
      <p:sp>
        <p:nvSpPr>
          <p:cNvPr id="17" name="Text 15"/>
          <p:cNvSpPr txBox="1"/>
          <p:nvPr/>
        </p:nvSpPr>
        <p:spPr>
          <a:xfrm>
            <a:off x="658368" y="4416044"/>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8" name="Text 16"/>
          <p:cNvSpPr txBox="1"/>
          <p:nvPr/>
        </p:nvSpPr>
        <p:spPr>
          <a:xfrm>
            <a:off x="950976" y="4434332"/>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集計は書き換え後の内容になります。企業の集計をリアルタイムで見ている場合、数字があとから変わることがあります（ダッシュボードの「修正された回答」で件数を確認できます）。</a:t>
            </a:r>
            <a:endParaRPr lang="en-US" sz="1050" dirty="0"/>
          </a:p>
        </p:txBody>
      </p:sp>
      <p:sp>
        <p:nvSpPr>
          <p:cNvPr id="19" name="Shape 17"/>
          <p:cNvSpPr/>
          <p:nvPr/>
        </p:nvSpPr>
        <p:spPr>
          <a:xfrm>
            <a:off x="566928" y="5022215"/>
            <a:ext cx="6428232" cy="624459"/>
          </a:xfrm>
          <a:prstGeom prst="roundRect">
            <a:avLst>
              <a:gd name="adj" fmla="val 8786"/>
            </a:avLst>
          </a:prstGeom>
          <a:solidFill>
            <a:srgbClr val="FDF0E6"/>
          </a:solidFill>
          <a:ln w="9525">
            <a:solidFill>
              <a:srgbClr val="E08A3C"/>
            </a:solidFill>
            <a:prstDash val="solid"/>
          </a:ln>
        </p:spPr>
      </p:sp>
      <p:sp>
        <p:nvSpPr>
          <p:cNvPr id="20" name="Text 18"/>
          <p:cNvSpPr txBox="1"/>
          <p:nvPr/>
        </p:nvSpPr>
        <p:spPr>
          <a:xfrm>
            <a:off x="658368" y="5113655"/>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950976" y="5131943"/>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1台のスマートフォンを複数の方で使うと、2人目には1人目の回答が表示され、</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上書きになります</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。人数は「何人で来られましたか」の設問で把握してください。</a:t>
            </a:r>
            <a:endParaRPr lang="en-US" sz="1050" dirty="0"/>
          </a:p>
        </p:txBody>
      </p:sp>
      <p:pic>
        <p:nvPicPr>
          <p:cNvPr id="22" name="Image 0" descr="C:\Users\sato\Desktop\enque\docs\images\p-answered-again.png">    </p:cNvPr>
          <p:cNvPicPr>
            <a:picLocks noChangeAspect="1"/>
          </p:cNvPicPr>
          <p:nvPr/>
        </p:nvPicPr>
        <p:blipFill>
          <a:blip r:embed="rId1"/>
          <a:stretch>
            <a:fillRect/>
          </a:stretch>
        </p:blipFill>
        <p:spPr>
          <a:xfrm>
            <a:off x="776748" y="5719826"/>
            <a:ext cx="6008593" cy="3474720"/>
          </a:xfrm>
          <a:prstGeom prst="rect">
            <a:avLst/>
          </a:prstGeom>
        </p:spPr>
      </p:pic>
      <p:sp>
        <p:nvSpPr>
          <p:cNvPr id="23" name="Text 20"/>
          <p:cNvSpPr txBox="1"/>
          <p:nvPr/>
        </p:nvSpPr>
        <p:spPr>
          <a:xfrm>
            <a:off x="566928" y="9249410"/>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回答済みの来場者が同じQRを読み直したときの画面（「ご回答済みです」の案内が見えるもの）。</a:t>
            </a:r>
            <a:endParaRPr lang="en-US" sz="950" dirty="0"/>
          </a:p>
        </p:txBody>
      </p:sp>
      <p:sp>
        <p:nvSpPr>
          <p:cNvPr id="24" name="Text 21"/>
          <p:cNvSpPr txBox="1"/>
          <p:nvPr/>
        </p:nvSpPr>
        <p:spPr>
          <a:xfrm>
            <a:off x="566928" y="9688322"/>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来場者の流れ</a:t>
            </a:r>
            <a:endParaRPr lang="en-US" sz="1400" dirty="0"/>
          </a:p>
        </p:txBody>
      </p:sp>
      <p:sp>
        <p:nvSpPr>
          <p:cNvPr id="25" name="Text 22"/>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当日：受付を開始する（つづき）</a:t>
            </a:r>
            <a:endParaRPr lang="en-US" sz="2200" dirty="0"/>
          </a:p>
        </p:txBody>
      </p:sp>
      <p:sp>
        <p:nvSpPr>
          <p:cNvPr id="4" name="Shape 2"/>
          <p:cNvSpPr/>
          <p:nvPr/>
        </p:nvSpPr>
        <p:spPr>
          <a:xfrm>
            <a:off x="566928" y="1499616"/>
            <a:ext cx="274320" cy="274320"/>
          </a:xfrm>
          <a:prstGeom prst="ellipse">
            <a:avLst/>
          </a:prstGeom>
          <a:solidFill>
            <a:srgbClr val="1E2761"/>
          </a:solidFill>
          <a:ln/>
        </p:spPr>
      </p:sp>
      <p:sp>
        <p:nvSpPr>
          <p:cNvPr id="5" name="Text 3"/>
          <p:cNvSpPr txBox="1"/>
          <p:nvPr/>
        </p:nvSpPr>
        <p:spPr>
          <a:xfrm>
            <a:off x="566928" y="14996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69264" y="14813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ブースのQRコードを読み取る</a:t>
            </a:r>
            <a:endParaRPr lang="en-US" sz="1150" dirty="0"/>
          </a:p>
        </p:txBody>
      </p:sp>
      <p:sp>
        <p:nvSpPr>
          <p:cNvPr id="7" name="Shape 5"/>
          <p:cNvSpPr/>
          <p:nvPr/>
        </p:nvSpPr>
        <p:spPr>
          <a:xfrm>
            <a:off x="566928" y="1956816"/>
            <a:ext cx="274320" cy="274320"/>
          </a:xfrm>
          <a:prstGeom prst="ellipse">
            <a:avLst/>
          </a:prstGeom>
          <a:solidFill>
            <a:srgbClr val="1E2761"/>
          </a:solidFill>
          <a:ln/>
        </p:spPr>
      </p:sp>
      <p:sp>
        <p:nvSpPr>
          <p:cNvPr id="8" name="Text 6"/>
          <p:cNvSpPr txBox="1"/>
          <p:nvPr/>
        </p:nvSpPr>
        <p:spPr>
          <a:xfrm>
            <a:off x="566928"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69264" y="19385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アンケートに回答して送信する</a:t>
            </a:r>
            <a:endParaRPr lang="en-US" sz="1150" dirty="0"/>
          </a:p>
        </p:txBody>
      </p:sp>
      <p:sp>
        <p:nvSpPr>
          <p:cNvPr id="10" name="Shape 8"/>
          <p:cNvSpPr/>
          <p:nvPr/>
        </p:nvSpPr>
        <p:spPr>
          <a:xfrm>
            <a:off x="566928" y="2414016"/>
            <a:ext cx="274320" cy="274320"/>
          </a:xfrm>
          <a:prstGeom prst="ellipse">
            <a:avLst/>
          </a:prstGeom>
          <a:solidFill>
            <a:srgbClr val="1E2761"/>
          </a:solidFill>
          <a:ln/>
        </p:spPr>
      </p:sp>
      <p:sp>
        <p:nvSpPr>
          <p:cNvPr id="11" name="Text 9"/>
          <p:cNvSpPr txBox="1"/>
          <p:nvPr/>
        </p:nvSpPr>
        <p:spPr>
          <a:xfrm>
            <a:off x="566928" y="24140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69264" y="2395728"/>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交換コード</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が表示される（総合受付で提示すると景品と交換できます）</a:t>
            </a:r>
            <a:endParaRPr lang="en-US" sz="1150" dirty="0"/>
          </a:p>
        </p:txBody>
      </p:sp>
      <p:sp>
        <p:nvSpPr>
          <p:cNvPr id="13" name="Shape 11"/>
          <p:cNvSpPr/>
          <p:nvPr/>
        </p:nvSpPr>
        <p:spPr>
          <a:xfrm>
            <a:off x="566928" y="2871216"/>
            <a:ext cx="274320" cy="274320"/>
          </a:xfrm>
          <a:prstGeom prst="ellipse">
            <a:avLst/>
          </a:prstGeom>
          <a:solidFill>
            <a:srgbClr val="1E2761"/>
          </a:solidFill>
          <a:ln/>
        </p:spPr>
      </p:sp>
      <p:sp>
        <p:nvSpPr>
          <p:cNvPr id="14" name="Text 12"/>
          <p:cNvSpPr txBox="1"/>
          <p:nvPr/>
        </p:nvSpPr>
        <p:spPr>
          <a:xfrm>
            <a:off x="566928" y="28712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969264" y="2852928"/>
            <a:ext cx="6025896" cy="478409"/>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回答済み画面の</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「次のブースのQRコードを読み取る」</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から、ブラウザを閉じずに次のブースへ進む</a:t>
            </a:r>
            <a:endParaRPr lang="en-US" sz="1150" dirty="0"/>
          </a:p>
        </p:txBody>
      </p:sp>
      <p:sp>
        <p:nvSpPr>
          <p:cNvPr id="16" name="Shape 14"/>
          <p:cNvSpPr/>
          <p:nvPr/>
        </p:nvSpPr>
        <p:spPr>
          <a:xfrm>
            <a:off x="566928" y="3404489"/>
            <a:ext cx="274320" cy="274320"/>
          </a:xfrm>
          <a:prstGeom prst="ellipse">
            <a:avLst/>
          </a:prstGeom>
          <a:solidFill>
            <a:srgbClr val="1E2761"/>
          </a:solidFill>
          <a:ln/>
        </p:spPr>
      </p:sp>
      <p:sp>
        <p:nvSpPr>
          <p:cNvPr id="17" name="Text 15"/>
          <p:cNvSpPr txBox="1"/>
          <p:nvPr/>
        </p:nvSpPr>
        <p:spPr>
          <a:xfrm>
            <a:off x="566928" y="34044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969264" y="3386201"/>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総合アンケート</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（まだ答えていない場合）にも、同じ画面で続けて答える</a:t>
            </a:r>
            <a:endParaRPr lang="en-US" sz="1150" dirty="0"/>
          </a:p>
        </p:txBody>
      </p:sp>
      <p:sp>
        <p:nvSpPr>
          <p:cNvPr id="19" name="Shape 17"/>
          <p:cNvSpPr/>
          <p:nvPr/>
        </p:nvSpPr>
        <p:spPr>
          <a:xfrm>
            <a:off x="566928" y="3861689"/>
            <a:ext cx="274320" cy="274320"/>
          </a:xfrm>
          <a:prstGeom prst="ellipse">
            <a:avLst/>
          </a:prstGeom>
          <a:solidFill>
            <a:srgbClr val="1E2761"/>
          </a:solidFill>
          <a:ln/>
        </p:spPr>
      </p:sp>
      <p:sp>
        <p:nvSpPr>
          <p:cNvPr id="20" name="Text 18"/>
          <p:cNvSpPr txBox="1"/>
          <p:nvPr/>
        </p:nvSpPr>
        <p:spPr>
          <a:xfrm>
            <a:off x="566928" y="38616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txBox="1"/>
          <p:nvPr/>
        </p:nvSpPr>
        <p:spPr>
          <a:xfrm>
            <a:off x="969264" y="3843401"/>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任意でメールアドレスを登録すると、後日スマホ壁紙のご案内が届きます</a:t>
            </a:r>
            <a:endParaRPr lang="en-US" sz="1150" dirty="0"/>
          </a:p>
        </p:txBody>
      </p:sp>
      <p:sp>
        <p:nvSpPr>
          <p:cNvPr id="22" name="Shape 20"/>
          <p:cNvSpPr/>
          <p:nvPr/>
        </p:nvSpPr>
        <p:spPr>
          <a:xfrm>
            <a:off x="566928" y="4300601"/>
            <a:ext cx="6428232" cy="817817"/>
          </a:xfrm>
          <a:prstGeom prst="roundRect">
            <a:avLst>
              <a:gd name="adj" fmla="val 6709"/>
            </a:avLst>
          </a:prstGeom>
          <a:solidFill>
            <a:srgbClr val="E8ECF8"/>
          </a:solidFill>
          <a:ln w="9525">
            <a:solidFill>
              <a:srgbClr val="1E2761"/>
            </a:solidFill>
            <a:prstDash val="solid"/>
          </a:ln>
        </p:spPr>
      </p:sp>
      <p:sp>
        <p:nvSpPr>
          <p:cNvPr id="23" name="Text 21"/>
          <p:cNvSpPr txBox="1"/>
          <p:nvPr/>
        </p:nvSpPr>
        <p:spPr>
          <a:xfrm>
            <a:off x="658368" y="4392041"/>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4" name="Text 22"/>
          <p:cNvSpPr txBox="1"/>
          <p:nvPr/>
        </p:nvSpPr>
        <p:spPr>
          <a:xfrm>
            <a:off x="950976" y="4410329"/>
            <a:ext cx="5925312" cy="634937"/>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回答済み画面からそのままカメラでQRコードを読み取れるので、</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カメラアプリに切り替える必要がなく、ブラウザのタブも増えません</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（カメラが使えない端末では、これまでどおりカメラアプリで読み取る案内が出ます）。</a:t>
            </a:r>
            <a:endParaRPr lang="en-US" sz="1050" dirty="0"/>
          </a:p>
        </p:txBody>
      </p:sp>
      <p:sp>
        <p:nvSpPr>
          <p:cNvPr id="25" name="Shape 23"/>
          <p:cNvSpPr/>
          <p:nvPr/>
        </p:nvSpPr>
        <p:spPr>
          <a:xfrm>
            <a:off x="566928" y="5191570"/>
            <a:ext cx="6428232" cy="624459"/>
          </a:xfrm>
          <a:prstGeom prst="roundRect">
            <a:avLst>
              <a:gd name="adj" fmla="val 8786"/>
            </a:avLst>
          </a:prstGeom>
          <a:solidFill>
            <a:srgbClr val="E8ECF8"/>
          </a:solidFill>
          <a:ln w="9525">
            <a:solidFill>
              <a:srgbClr val="1E2761"/>
            </a:solidFill>
            <a:prstDash val="solid"/>
          </a:ln>
        </p:spPr>
      </p:sp>
      <p:sp>
        <p:nvSpPr>
          <p:cNvPr id="26" name="Text 24"/>
          <p:cNvSpPr txBox="1"/>
          <p:nvPr/>
        </p:nvSpPr>
        <p:spPr>
          <a:xfrm>
            <a:off x="658368" y="5283010"/>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7" name="Text 25"/>
          <p:cNvSpPr txBox="1"/>
          <p:nvPr/>
        </p:nvSpPr>
        <p:spPr>
          <a:xfrm>
            <a:off x="950976" y="5301298"/>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来場者の画面での呼び方（「ブース」か「企業」か）は、サーバーの </a:t>
            </a:r>
            <a:pPr indent="0" marL="0">
              <a:lnSpc>
                <a:spcPct val="120000"/>
              </a:lnSpc>
              <a:buNone/>
            </a:pPr>
            <a:r>
              <a:rPr lang="en-US" sz="998" dirty="0">
                <a:solidFill>
                  <a:srgbClr val="222222"/>
                </a:solidFill>
                <a:latin typeface="Courier New" pitchFamily="34" charset="0"/>
                <a:ea typeface="Courier New" pitchFamily="34" charset="-122"/>
                <a:cs typeface="Courier New" pitchFamily="34" charset="-120"/>
              </a:rPr>
              <a:t>.env</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 の </a:t>
            </a:r>
            <a:pPr indent="0" marL="0">
              <a:lnSpc>
                <a:spcPct val="120000"/>
              </a:lnSpc>
              <a:buNone/>
            </a:pPr>
            <a:r>
              <a:rPr lang="en-US" sz="998" dirty="0">
                <a:solidFill>
                  <a:srgbClr val="222222"/>
                </a:solidFill>
                <a:latin typeface="Courier New" pitchFamily="34" charset="0"/>
                <a:ea typeface="Courier New" pitchFamily="34" charset="-122"/>
                <a:cs typeface="Courier New" pitchFamily="34" charset="-120"/>
              </a:rPr>
              <a:t>BOOTH_LABEL</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 で変えられます。合同説明会のように「企業」と呼ぶイベントでは </a:t>
            </a:r>
            <a:pPr indent="0" marL="0">
              <a:lnSpc>
                <a:spcPct val="120000"/>
              </a:lnSpc>
              <a:buNone/>
            </a:pPr>
            <a:r>
              <a:rPr lang="en-US" sz="998" dirty="0">
                <a:solidFill>
                  <a:srgbClr val="222222"/>
                </a:solidFill>
                <a:latin typeface="Courier New" pitchFamily="34" charset="0"/>
                <a:ea typeface="Courier New" pitchFamily="34" charset="-122"/>
                <a:cs typeface="Courier New" pitchFamily="34" charset="-120"/>
              </a:rPr>
              <a:t>BOOTH_LABEL=企業</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 にします。</a:t>
            </a:r>
            <a:endParaRPr lang="en-US" sz="1050" dirty="0"/>
          </a:p>
        </p:txBody>
      </p:sp>
      <p:pic>
        <p:nvPicPr>
          <p:cNvPr id="28" name="Image 0" descr="C:\Users\sato\Desktop\enque\docs\images\p-next-booth.png">    </p:cNvPr>
          <p:cNvPicPr>
            <a:picLocks noChangeAspect="1"/>
          </p:cNvPicPr>
          <p:nvPr/>
        </p:nvPicPr>
        <p:blipFill>
          <a:blip r:embed="rId1"/>
          <a:stretch>
            <a:fillRect/>
          </a:stretch>
        </p:blipFill>
        <p:spPr>
          <a:xfrm>
            <a:off x="1639824" y="5889181"/>
            <a:ext cx="4282440" cy="3474720"/>
          </a:xfrm>
          <a:prstGeom prst="rect">
            <a:avLst/>
          </a:prstGeom>
        </p:spPr>
      </p:pic>
      <p:sp>
        <p:nvSpPr>
          <p:cNvPr id="29" name="Text 26"/>
          <p:cNvSpPr txBox="1"/>
          <p:nvPr/>
        </p:nvSpPr>
        <p:spPr>
          <a:xfrm>
            <a:off x="566928" y="9418765"/>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来場者の回答済み画面の「ほかのブースもまわる」（「次のブースのQRコードを読み取る」ボタンが見えるもの）。</a:t>
            </a:r>
            <a:endParaRPr lang="en-US" sz="950" dirty="0"/>
          </a:p>
        </p:txBody>
      </p:sp>
      <p:sp>
        <p:nvSpPr>
          <p:cNvPr id="30" name="Text 27"/>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当日：受付を開始する（つづき）</a:t>
            </a:r>
            <a:endParaRPr lang="en-US" sz="2200" dirty="0"/>
          </a:p>
        </p:txBody>
      </p:sp>
      <p:sp>
        <p:nvSpPr>
          <p:cNvPr id="4" name="Shape 2"/>
          <p:cNvSpPr/>
          <p:nvPr/>
        </p:nvSpPr>
        <p:spPr>
          <a:xfrm>
            <a:off x="566928" y="1481328"/>
            <a:ext cx="6428232" cy="624459"/>
          </a:xfrm>
          <a:prstGeom prst="roundRect">
            <a:avLst>
              <a:gd name="adj" fmla="val 8786"/>
            </a:avLst>
          </a:prstGeom>
          <a:solidFill>
            <a:srgbClr val="E8ECF8"/>
          </a:solidFill>
          <a:ln w="9525">
            <a:solidFill>
              <a:srgbClr val="1E2761"/>
            </a:solidFill>
            <a:prstDash val="solid"/>
          </a:ln>
        </p:spPr>
      </p:sp>
      <p:sp>
        <p:nvSpPr>
          <p:cNvPr id="5" name="Text 3"/>
          <p:cNvSpPr txBox="1"/>
          <p:nvPr/>
        </p:nvSpPr>
        <p:spPr>
          <a:xfrm>
            <a:off x="658368" y="1572768"/>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6" name="Text 4"/>
          <p:cNvSpPr txBox="1"/>
          <p:nvPr/>
        </p:nvSpPr>
        <p:spPr>
          <a:xfrm>
            <a:off x="950976" y="1591056"/>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2社目以降のアンケートには、登録済みのアドレスが入った状態で欄が出ます（打ち間違いにその場で</a:t>
            </a:r>
            <a:endParaRPr lang="en-US" sz="1050" dirty="0"/>
          </a:p>
        </p:txBody>
      </p:sp>
      <p:sp>
        <p:nvSpPr>
          <p:cNvPr id="7" name="Shape 5"/>
          <p:cNvSpPr/>
          <p:nvPr/>
        </p:nvSpPr>
        <p:spPr>
          <a:xfrm>
            <a:off x="566928" y="2178939"/>
            <a:ext cx="6428232" cy="431102"/>
          </a:xfrm>
          <a:prstGeom prst="roundRect">
            <a:avLst>
              <a:gd name="adj" fmla="val 12726"/>
            </a:avLst>
          </a:prstGeom>
          <a:solidFill>
            <a:srgbClr val="E8ECF8"/>
          </a:solidFill>
          <a:ln w="9525">
            <a:solidFill>
              <a:srgbClr val="1E2761"/>
            </a:solidFill>
            <a:prstDash val="solid"/>
          </a:ln>
        </p:spPr>
      </p:sp>
      <p:sp>
        <p:nvSpPr>
          <p:cNvPr id="8" name="Text 6"/>
          <p:cNvSpPr txBox="1"/>
          <p:nvPr/>
        </p:nvSpPr>
        <p:spPr>
          <a:xfrm>
            <a:off x="658368" y="2270379"/>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9" name="Text 7"/>
          <p:cNvSpPr txBox="1"/>
          <p:nvPr/>
        </p:nvSpPr>
        <p:spPr>
          <a:xfrm>
            <a:off x="950976" y="2288667"/>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気づけるようにするためです）。回答済み画面では伏せ字で表示し、そこから変更もできます。</a:t>
            </a:r>
            <a:endParaRPr lang="en-US" sz="1050" dirty="0"/>
          </a:p>
        </p:txBody>
      </p:sp>
      <p:pic>
        <p:nvPicPr>
          <p:cNvPr id="10" name="Image 0" descr="C:\Users\sato\Desktop\enque\docs\images\o-event-setting.png">    </p:cNvPr>
          <p:cNvPicPr>
            <a:picLocks noChangeAspect="1"/>
          </p:cNvPicPr>
          <p:nvPr/>
        </p:nvPicPr>
        <p:blipFill>
          <a:blip r:embed="rId1"/>
          <a:stretch>
            <a:fillRect/>
          </a:stretch>
        </p:blipFill>
        <p:spPr>
          <a:xfrm>
            <a:off x="1312823" y="2683193"/>
            <a:ext cx="4936441" cy="3474720"/>
          </a:xfrm>
          <a:prstGeom prst="rect">
            <a:avLst/>
          </a:prstGeom>
        </p:spPr>
      </p:pic>
      <p:sp>
        <p:nvSpPr>
          <p:cNvPr id="11" name="Text 8"/>
          <p:cNvSpPr txBox="1"/>
          <p:nvPr/>
        </p:nvSpPr>
        <p:spPr>
          <a:xfrm>
            <a:off x="566928" y="6212777"/>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ダッシュボードの「イベント設定」。状態が「開催中（回答受付）」になっているところ。</a:t>
            </a:r>
            <a:endParaRPr lang="en-US" sz="950" dirty="0"/>
          </a:p>
        </p:txBody>
      </p:sp>
      <p:sp>
        <p:nvSpPr>
          <p:cNvPr id="12" name="Text 9"/>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当日：回答状況を見る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ダッシュボードでは、次の数字がリアルタイムで確認できます。</a:t>
            </a:r>
            <a:endParaRPr lang="en-US" sz="1100" dirty="0"/>
          </a:p>
        </p:txBody>
      </p:sp>
      <p:sp>
        <p:nvSpPr>
          <p:cNvPr id="5" name="Text 3"/>
          <p:cNvSpPr txBox="1"/>
          <p:nvPr/>
        </p:nvSpPr>
        <p:spPr>
          <a:xfrm>
            <a:off x="713232" y="1775333"/>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ユニーク来場者</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：アンケート画面を開いた端末の数</a:t>
            </a:r>
            <a:endParaRPr lang="en-US" sz="1100" dirty="0"/>
          </a:p>
        </p:txBody>
      </p:sp>
      <p:sp>
        <p:nvSpPr>
          <p:cNvPr id="6" name="Text 4"/>
          <p:cNvSpPr txBox="1"/>
          <p:nvPr/>
        </p:nvSpPr>
        <p:spPr>
          <a:xfrm>
            <a:off x="713232" y="205105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回答した来場者</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：実際に送信した人数（同じ方は何社回っても1人）</a:t>
            </a:r>
            <a:endParaRPr lang="en-US" sz="1100" dirty="0"/>
          </a:p>
        </p:txBody>
      </p:sp>
      <p:sp>
        <p:nvSpPr>
          <p:cNvPr id="7" name="Text 5"/>
          <p:cNvSpPr txBox="1"/>
          <p:nvPr/>
        </p:nvSpPr>
        <p:spPr>
          <a:xfrm>
            <a:off x="713232" y="2326767"/>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のべ来場者</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：アンケートで聞いた来場人数の合計（1組3人が3社回れば9人）</a:t>
            </a:r>
            <a:endParaRPr lang="en-US" sz="1100" dirty="0"/>
          </a:p>
        </p:txBody>
      </p:sp>
      <p:sp>
        <p:nvSpPr>
          <p:cNvPr id="8" name="Text 6"/>
          <p:cNvSpPr txBox="1"/>
          <p:nvPr/>
        </p:nvSpPr>
        <p:spPr>
          <a:xfrm>
            <a:off x="713232" y="2602484"/>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実来場者（推計）</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：同じ来場者を1回だけ数えた人数</a:t>
            </a:r>
            <a:endParaRPr lang="en-US" sz="1100" dirty="0"/>
          </a:p>
        </p:txBody>
      </p:sp>
      <p:sp>
        <p:nvSpPr>
          <p:cNvPr id="9" name="Text 7"/>
          <p:cNvSpPr txBox="1"/>
          <p:nvPr/>
        </p:nvSpPr>
        <p:spPr>
          <a:xfrm>
            <a:off x="713232" y="2878201"/>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総回答数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（同じ企業への書き直しは1件のまま）</a:t>
            </a:r>
            <a:endParaRPr lang="en-US" sz="1100" dirty="0"/>
          </a:p>
        </p:txBody>
      </p:sp>
      <p:sp>
        <p:nvSpPr>
          <p:cNvPr id="10" name="Text 8"/>
          <p:cNvSpPr txBox="1"/>
          <p:nvPr/>
        </p:nvSpPr>
        <p:spPr>
          <a:xfrm>
            <a:off x="713232" y="3153918"/>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平均訪問企業数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：1人あたり何社まわったか</a:t>
            </a:r>
            <a:endParaRPr lang="en-US" sz="1100" dirty="0"/>
          </a:p>
        </p:txBody>
      </p:sp>
      <p:sp>
        <p:nvSpPr>
          <p:cNvPr id="11" name="Text 9"/>
          <p:cNvSpPr txBox="1"/>
          <p:nvPr/>
        </p:nvSpPr>
        <p:spPr>
          <a:xfrm>
            <a:off x="713232" y="3429635"/>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修正された回答</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：来場者があとから書き直したぶん（同じQRを読み直して直せます）</a:t>
            </a:r>
            <a:endParaRPr lang="en-US" sz="1100" dirty="0"/>
          </a:p>
        </p:txBody>
      </p:sp>
      <p:sp>
        <p:nvSpPr>
          <p:cNvPr id="12" name="Text 10"/>
          <p:cNvSpPr txBox="1"/>
          <p:nvPr/>
        </p:nvSpPr>
        <p:spPr>
          <a:xfrm>
            <a:off x="713232" y="3705352"/>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メール登録</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：壁紙のご案内先の数</a:t>
            </a:r>
            <a:endParaRPr lang="en-US" sz="1100" dirty="0"/>
          </a:p>
        </p:txBody>
      </p:sp>
      <p:sp>
        <p:nvSpPr>
          <p:cNvPr id="13" name="Text 11"/>
          <p:cNvSpPr txBox="1"/>
          <p:nvPr/>
        </p:nvSpPr>
        <p:spPr>
          <a:xfrm>
            <a:off x="713232" y="3981069"/>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交換コード</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：発行数と交換済みの数</a:t>
            </a:r>
            <a:endParaRPr lang="en-US" sz="1100" dirty="0"/>
          </a:p>
        </p:txBody>
      </p:sp>
      <p:sp>
        <p:nvSpPr>
          <p:cNvPr id="14" name="Text 12"/>
          <p:cNvSpPr txBox="1"/>
          <p:nvPr/>
        </p:nvSpPr>
        <p:spPr>
          <a:xfrm>
            <a:off x="566928" y="4256786"/>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下には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時間帯別の回答数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のグラフと、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企業別の回答数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の一覧が出ます。一覧の最下段の合計行にある</a:t>
            </a:r>
            <a:endParaRPr lang="en-US" sz="1100" dirty="0"/>
          </a:p>
        </p:txBody>
      </p:sp>
      <p:sp>
        <p:nvSpPr>
          <p:cNvPr id="15" name="Text 13"/>
          <p:cNvSpPr txBox="1"/>
          <p:nvPr/>
        </p:nvSpPr>
        <p:spPr>
          <a:xfrm>
            <a:off x="566928" y="4550791"/>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「回答者数」の合計は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のべ訪問数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（何社ぶんの回答が集まったか）です。</a:t>
            </a:r>
            <a:endParaRPr lang="en-US" sz="1100" dirty="0"/>
          </a:p>
        </p:txBody>
      </p:sp>
      <p:sp>
        <p:nvSpPr>
          <p:cNvPr id="16" name="Shape 14"/>
          <p:cNvSpPr/>
          <p:nvPr/>
        </p:nvSpPr>
        <p:spPr>
          <a:xfrm>
            <a:off x="566928" y="4844796"/>
            <a:ext cx="6428232" cy="431102"/>
          </a:xfrm>
          <a:prstGeom prst="roundRect">
            <a:avLst>
              <a:gd name="adj" fmla="val 12726"/>
            </a:avLst>
          </a:prstGeom>
          <a:solidFill>
            <a:srgbClr val="E8ECF8"/>
          </a:solidFill>
          <a:ln w="9525">
            <a:solidFill>
              <a:srgbClr val="1E2761"/>
            </a:solidFill>
            <a:prstDash val="solid"/>
          </a:ln>
        </p:spPr>
      </p:sp>
      <p:sp>
        <p:nvSpPr>
          <p:cNvPr id="17" name="Text 15"/>
          <p:cNvSpPr txBox="1"/>
          <p:nvPr/>
        </p:nvSpPr>
        <p:spPr>
          <a:xfrm>
            <a:off x="658368" y="4936236"/>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8" name="Text 16"/>
          <p:cNvSpPr txBox="1"/>
          <p:nvPr/>
        </p:nvSpPr>
        <p:spPr>
          <a:xfrm>
            <a:off x="950976" y="4954524"/>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企業別の一覧から、その企業の「集計」や「回答一覧」を開けます。</a:t>
            </a:r>
            <a:endParaRPr lang="en-US" sz="1050" dirty="0"/>
          </a:p>
        </p:txBody>
      </p:sp>
      <p:sp>
        <p:nvSpPr>
          <p:cNvPr id="19" name="Shape 17"/>
          <p:cNvSpPr/>
          <p:nvPr/>
        </p:nvSpPr>
        <p:spPr>
          <a:xfrm>
            <a:off x="566928" y="5349050"/>
            <a:ext cx="6428232" cy="431102"/>
          </a:xfrm>
          <a:prstGeom prst="roundRect">
            <a:avLst>
              <a:gd name="adj" fmla="val 12726"/>
            </a:avLst>
          </a:prstGeom>
          <a:solidFill>
            <a:srgbClr val="E8ECF8"/>
          </a:solidFill>
          <a:ln w="9525">
            <a:solidFill>
              <a:srgbClr val="1E2761"/>
            </a:solidFill>
            <a:prstDash val="solid"/>
          </a:ln>
        </p:spPr>
      </p:sp>
      <p:sp>
        <p:nvSpPr>
          <p:cNvPr id="20" name="Text 18"/>
          <p:cNvSpPr txBox="1"/>
          <p:nvPr/>
        </p:nvSpPr>
        <p:spPr>
          <a:xfrm>
            <a:off x="658368" y="5440489"/>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1" name="Text 19"/>
          <p:cNvSpPr txBox="1"/>
          <p:nvPr/>
        </p:nvSpPr>
        <p:spPr>
          <a:xfrm>
            <a:off x="950976" y="5458778"/>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来場人数は任意回答です。未回答のぶんは、同じ来場者が別の企業で答えた人数などから補って</a:t>
            </a:r>
            <a:endParaRPr lang="en-US" sz="1050" dirty="0"/>
          </a:p>
        </p:txBody>
      </p:sp>
      <p:sp>
        <p:nvSpPr>
          <p:cNvPr id="22" name="Shape 20"/>
          <p:cNvSpPr/>
          <p:nvPr/>
        </p:nvSpPr>
        <p:spPr>
          <a:xfrm>
            <a:off x="566928" y="5853303"/>
            <a:ext cx="6428232" cy="431102"/>
          </a:xfrm>
          <a:prstGeom prst="roundRect">
            <a:avLst>
              <a:gd name="adj" fmla="val 12726"/>
            </a:avLst>
          </a:prstGeom>
          <a:solidFill>
            <a:srgbClr val="E8ECF8"/>
          </a:solidFill>
          <a:ln w="9525">
            <a:solidFill>
              <a:srgbClr val="1E2761"/>
            </a:solidFill>
            <a:prstDash val="solid"/>
          </a:ln>
        </p:spPr>
      </p:sp>
      <p:sp>
        <p:nvSpPr>
          <p:cNvPr id="23" name="Text 21"/>
          <p:cNvSpPr txBox="1"/>
          <p:nvPr/>
        </p:nvSpPr>
        <p:spPr>
          <a:xfrm>
            <a:off x="658368" y="5944743"/>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4" name="Text 22"/>
          <p:cNvSpPr txBox="1"/>
          <p:nvPr/>
        </p:nvSpPr>
        <p:spPr>
          <a:xfrm>
            <a:off x="950976" y="5963031"/>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計算しています（回答率も画面に出ます）。</a:t>
            </a:r>
            <a:endParaRPr lang="en-US" sz="1050" dirty="0"/>
          </a:p>
        </p:txBody>
      </p:sp>
      <p:pic>
        <p:nvPicPr>
          <p:cNvPr id="25" name="Image 0" descr="C:\Users\sato\Desktop\enque\docs\images\o-dashboard-top.png">    </p:cNvPr>
          <p:cNvPicPr>
            <a:picLocks noChangeAspect="1"/>
          </p:cNvPicPr>
          <p:nvPr/>
        </p:nvPicPr>
        <p:blipFill>
          <a:blip r:embed="rId1"/>
          <a:stretch>
            <a:fillRect/>
          </a:stretch>
        </p:blipFill>
        <p:spPr>
          <a:xfrm>
            <a:off x="566928" y="6357557"/>
            <a:ext cx="6428232" cy="2316774"/>
          </a:xfrm>
          <a:prstGeom prst="rect">
            <a:avLst/>
          </a:prstGeom>
        </p:spPr>
      </p:pic>
      <p:sp>
        <p:nvSpPr>
          <p:cNvPr id="26" name="Text 23"/>
          <p:cNvSpPr txBox="1"/>
          <p:nvPr/>
        </p:nvSpPr>
        <p:spPr>
          <a:xfrm>
            <a:off x="566928" y="8729194"/>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主催者ダッシュボードの上部。数字のタイルが並んでいるところ。</a:t>
            </a:r>
            <a:endParaRPr lang="en-US" sz="950" dirty="0"/>
          </a:p>
        </p:txBody>
      </p:sp>
      <p:sp>
        <p:nvSpPr>
          <p:cNvPr id="27" name="Text 24"/>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当日：回答者の傾向を見る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「回答者傾向」の画面では、来場者の動きが分かります。</a:t>
            </a:r>
            <a:endParaRPr lang="en-US" sz="1100" dirty="0"/>
          </a:p>
        </p:txBody>
      </p:sp>
      <p:sp>
        <p:nvSpPr>
          <p:cNvPr id="5" name="Text 3"/>
          <p:cNvSpPr txBox="1"/>
          <p:nvPr/>
        </p:nvSpPr>
        <p:spPr>
          <a:xfrm>
            <a:off x="713232" y="1775333"/>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周回時間</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：最初の回答から最後の回答までの平均・中央値・最長・最短</a:t>
            </a:r>
            <a:endParaRPr lang="en-US" sz="1100" dirty="0"/>
          </a:p>
        </p:txBody>
      </p:sp>
      <p:sp>
        <p:nvSpPr>
          <p:cNvPr id="6" name="Text 4"/>
          <p:cNvSpPr txBox="1"/>
          <p:nvPr/>
        </p:nvSpPr>
        <p:spPr>
          <a:xfrm>
            <a:off x="713232" y="205105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周回企業数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：平均と、何社まわった人が何人いたかの分布</a:t>
            </a:r>
            <a:endParaRPr lang="en-US" sz="1100" dirty="0"/>
          </a:p>
        </p:txBody>
      </p:sp>
      <p:sp>
        <p:nvSpPr>
          <p:cNvPr id="7" name="Text 5"/>
          <p:cNvSpPr txBox="1"/>
          <p:nvPr/>
        </p:nvSpPr>
        <p:spPr>
          <a:xfrm>
            <a:off x="713232" y="2326767"/>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企業をまわる順番</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：企業ごとの「平均何番目に回られたか」「最初に回られた人数」</a:t>
            </a:r>
            <a:endParaRPr lang="en-US" sz="1100" dirty="0"/>
          </a:p>
        </p:txBody>
      </p:sp>
      <p:sp>
        <p:nvSpPr>
          <p:cNvPr id="8" name="Text 6"/>
          <p:cNvSpPr txBox="1"/>
          <p:nvPr/>
        </p:nvSpPr>
        <p:spPr>
          <a:xfrm>
            <a:off x="713232" y="2602484"/>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よくある動線</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：「A社の次にB社」の多い組み合わせ</a:t>
            </a:r>
            <a:endParaRPr lang="en-US" sz="1100" dirty="0"/>
          </a:p>
        </p:txBody>
      </p:sp>
      <p:sp>
        <p:nvSpPr>
          <p:cNvPr id="9" name="Text 7"/>
          <p:cNvSpPr txBox="1"/>
          <p:nvPr/>
        </p:nvSpPr>
        <p:spPr>
          <a:xfrm>
            <a:off x="713232" y="2878201"/>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時間帯別のユニーク来場者数</a:t>
            </a:r>
            <a:endParaRPr lang="en-US" sz="1100" dirty="0"/>
          </a:p>
        </p:txBody>
      </p:sp>
      <p:sp>
        <p:nvSpPr>
          <p:cNvPr id="10" name="Text 8"/>
          <p:cNvSpPr txBox="1"/>
          <p:nvPr/>
        </p:nvSpPr>
        <p:spPr>
          <a:xfrm>
            <a:off x="713232" y="3153918"/>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回答率・メール登録率・景品交換率</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など</a:t>
            </a:r>
            <a:endParaRPr lang="en-US" sz="1100" dirty="0"/>
          </a:p>
        </p:txBody>
      </p:sp>
      <p:sp>
        <p:nvSpPr>
          <p:cNvPr id="11" name="Shape 9"/>
          <p:cNvSpPr/>
          <p:nvPr/>
        </p:nvSpPr>
        <p:spPr>
          <a:xfrm>
            <a:off x="566928" y="3429635"/>
            <a:ext cx="6428232" cy="624459"/>
          </a:xfrm>
          <a:prstGeom prst="roundRect">
            <a:avLst>
              <a:gd name="adj" fmla="val 8786"/>
            </a:avLst>
          </a:prstGeom>
          <a:solidFill>
            <a:srgbClr val="E8ECF8"/>
          </a:solidFill>
          <a:ln w="9525">
            <a:solidFill>
              <a:srgbClr val="1E2761"/>
            </a:solidFill>
            <a:prstDash val="solid"/>
          </a:ln>
        </p:spPr>
      </p:sp>
      <p:sp>
        <p:nvSpPr>
          <p:cNvPr id="12" name="Text 10"/>
          <p:cNvSpPr txBox="1"/>
          <p:nvPr/>
        </p:nvSpPr>
        <p:spPr>
          <a:xfrm>
            <a:off x="658368" y="3521075"/>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3" name="Text 11"/>
          <p:cNvSpPr txBox="1"/>
          <p:nvPr/>
        </p:nvSpPr>
        <p:spPr>
          <a:xfrm>
            <a:off x="950976" y="3539363"/>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「周回時間」は最初と最後の回答の間隔で、</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滞在時間ではありません</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。また、来場者は端末ごとに数えるため、端末を変えた方は別の方として数えられます。</a:t>
            </a:r>
            <a:endParaRPr lang="en-US" sz="1050" dirty="0"/>
          </a:p>
        </p:txBody>
      </p:sp>
      <p:pic>
        <p:nvPicPr>
          <p:cNvPr id="14" name="Image 0" descr="C:\Users\sato\Desktop\enque\docs\images\o-insights.png">    </p:cNvPr>
          <p:cNvPicPr>
            <a:picLocks noChangeAspect="1"/>
          </p:cNvPicPr>
          <p:nvPr/>
        </p:nvPicPr>
        <p:blipFill>
          <a:blip r:embed="rId1"/>
          <a:stretch>
            <a:fillRect/>
          </a:stretch>
        </p:blipFill>
        <p:spPr>
          <a:xfrm>
            <a:off x="884627" y="4127246"/>
            <a:ext cx="5792834" cy="3474720"/>
          </a:xfrm>
          <a:prstGeom prst="rect">
            <a:avLst/>
          </a:prstGeom>
        </p:spPr>
      </p:pic>
      <p:sp>
        <p:nvSpPr>
          <p:cNvPr id="15" name="Text 12"/>
          <p:cNvSpPr txBox="1"/>
          <p:nvPr/>
        </p:nvSpPr>
        <p:spPr>
          <a:xfrm>
            <a:off x="566928" y="7656830"/>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「回答者の傾向」画面。周回時間・周回企業数のグラフが見えるところ。</a:t>
            </a:r>
            <a:endParaRPr lang="en-US" sz="950" dirty="0"/>
          </a:p>
        </p:txBody>
      </p:sp>
      <p:sp>
        <p:nvSpPr>
          <p:cNvPr id="16" name="Text 1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当日：来場人数を集計する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アンケートに「</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何人で来られましたか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」の設問（種類は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数値入力</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）を入れて、設問編集画面で</a:t>
            </a:r>
            <a:endParaRPr lang="en-US" sz="1100" dirty="0"/>
          </a:p>
        </p:txBody>
      </p:sp>
      <p:sp>
        <p:nvSpPr>
          <p:cNvPr id="5" name="Text 3"/>
          <p:cNvSpPr txBox="1"/>
          <p:nvPr/>
        </p:nvSpPr>
        <p:spPr>
          <a:xfrm>
            <a:off x="566928" y="1775333"/>
            <a:ext cx="6428232" cy="257429"/>
          </a:xfrm>
          <a:prstGeom prst="rect">
            <a:avLst/>
          </a:prstGeom>
          <a:noFill/>
          <a:ln/>
        </p:spPr>
        <p:txBody>
          <a:bodyPr wrap="square" lIns="0" tIns="0" rIns="0" bIns="0" rtlCol="0" anchor="t"/>
          <a:lstStyle/>
          <a:p>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「この回答を来場人数として集計する」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にチェックを入れると、人数が集計されます。</a:t>
            </a:r>
            <a:endParaRPr lang="en-US" sz="1100" dirty="0"/>
          </a:p>
        </p:txBody>
      </p:sp>
      <p:sp>
        <p:nvSpPr>
          <p:cNvPr id="6" name="Text 4"/>
          <p:cNvSpPr txBox="1"/>
          <p:nvPr/>
        </p:nvSpPr>
        <p:spPr>
          <a:xfrm>
            <a:off x="713232" y="2069338"/>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のべ来場者</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：回答ごとの人数を足した数（1組3人が3社回れば9人）。出展社への報告に使います</a:t>
            </a:r>
            <a:endParaRPr lang="en-US" sz="1100" dirty="0"/>
          </a:p>
        </p:txBody>
      </p:sp>
      <p:sp>
        <p:nvSpPr>
          <p:cNvPr id="7" name="Text 5"/>
          <p:cNvSpPr txBox="1"/>
          <p:nvPr/>
        </p:nvSpPr>
        <p:spPr>
          <a:xfrm>
            <a:off x="713232" y="2345055"/>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実来場者（推計）</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：同じ来場者を1回だけ数えた人数。会場に来た実人数の目安です</a:t>
            </a:r>
            <a:endParaRPr lang="en-US" sz="1100" dirty="0"/>
          </a:p>
        </p:txBody>
      </p:sp>
      <p:sp>
        <p:nvSpPr>
          <p:cNvPr id="8" name="Text 6"/>
          <p:cNvSpPr txBox="1"/>
          <p:nvPr/>
        </p:nvSpPr>
        <p:spPr>
          <a:xfrm>
            <a:off x="713232" y="2620772"/>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平均人数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回答率</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もあわせて表示されます</a:t>
            </a:r>
            <a:endParaRPr lang="en-US" sz="1100" dirty="0"/>
          </a:p>
        </p:txBody>
      </p:sp>
      <p:sp>
        <p:nvSpPr>
          <p:cNvPr id="9" name="Text 7"/>
          <p:cNvSpPr txBox="1"/>
          <p:nvPr/>
        </p:nvSpPr>
        <p:spPr>
          <a:xfrm>
            <a:off x="566928" y="2896489"/>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来場者の画面では、人数は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キーボードではなくプルダウンから選ぶ</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形になります。</a:t>
            </a:r>
            <a:endParaRPr lang="en-US" sz="1100" dirty="0"/>
          </a:p>
        </p:txBody>
      </p:sp>
      <p:sp>
        <p:nvSpPr>
          <p:cNvPr id="10" name="Text 8"/>
          <p:cNvSpPr txBox="1"/>
          <p:nvPr/>
        </p:nvSpPr>
        <p:spPr>
          <a:xfrm>
            <a:off x="566928" y="3190494"/>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「1人」〜「9人」と「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10人以上</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」が並び、「10人以上」は10人として集計します（多めには見積もりません）。</a:t>
            </a:r>
            <a:endParaRPr lang="en-US" sz="1100" dirty="0"/>
          </a:p>
        </p:txBody>
      </p:sp>
      <p:sp>
        <p:nvSpPr>
          <p:cNvPr id="11" name="Text 9"/>
          <p:cNvSpPr txBox="1"/>
          <p:nvPr/>
        </p:nvSpPr>
        <p:spPr>
          <a:xfrm>
            <a:off x="566928" y="3687064"/>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上限の10は、サーバーの </a:t>
            </a:r>
            <a:pPr indent="0" marL="0">
              <a:lnSpc>
                <a:spcPct val="125000"/>
              </a:lnSpc>
              <a:buNone/>
            </a:pPr>
            <a:r>
              <a:rPr lang="en-US" sz="1045" dirty="0">
                <a:solidFill>
                  <a:srgbClr val="222222"/>
                </a:solidFill>
                <a:latin typeface="Courier New" pitchFamily="34" charset="0"/>
                <a:ea typeface="Courier New" pitchFamily="34" charset="-122"/>
                <a:cs typeface="Courier New" pitchFamily="34" charset="-120"/>
              </a:rPr>
              <a:t>.env</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 の </a:t>
            </a:r>
            <a:pPr indent="0" marL="0">
              <a:lnSpc>
                <a:spcPct val="125000"/>
              </a:lnSpc>
              <a:buNone/>
            </a:pPr>
            <a:r>
              <a:rPr lang="en-US" sz="1045" dirty="0">
                <a:solidFill>
                  <a:srgbClr val="222222"/>
                </a:solidFill>
                <a:latin typeface="Courier New" pitchFamily="34" charset="0"/>
                <a:ea typeface="Courier New" pitchFamily="34" charset="-122"/>
                <a:cs typeface="Courier New" pitchFamily="34" charset="-120"/>
              </a:rPr>
              <a:t>PARTY_SIZE_MAX</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 で変えられます。</a:t>
            </a:r>
            <a:endParaRPr lang="en-US" sz="1100" dirty="0"/>
          </a:p>
        </p:txBody>
      </p:sp>
      <p:pic>
        <p:nvPicPr>
          <p:cNvPr id="12" name="Image 0" descr="C:\Users\sato\Desktop\enque\docs\images\p-survey-number.png">    </p:cNvPr>
          <p:cNvPicPr>
            <a:picLocks noChangeAspect="1"/>
          </p:cNvPicPr>
          <p:nvPr/>
        </p:nvPicPr>
        <p:blipFill>
          <a:blip r:embed="rId1"/>
          <a:stretch>
            <a:fillRect/>
          </a:stretch>
        </p:blipFill>
        <p:spPr>
          <a:xfrm>
            <a:off x="2654866" y="3981069"/>
            <a:ext cx="2252356" cy="3474720"/>
          </a:xfrm>
          <a:prstGeom prst="rect">
            <a:avLst/>
          </a:prstGeom>
        </p:spPr>
      </p:pic>
      <p:sp>
        <p:nvSpPr>
          <p:cNvPr id="13" name="Text 10"/>
          <p:cNvSpPr txBox="1"/>
          <p:nvPr/>
        </p:nvSpPr>
        <p:spPr>
          <a:xfrm>
            <a:off x="566928" y="7510653"/>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来場者のアンケート画面の「何人で来られましたか」。人数のプルダウンを開いた状態。</a:t>
            </a:r>
            <a:endParaRPr lang="en-US" sz="950" dirty="0"/>
          </a:p>
        </p:txBody>
      </p:sp>
      <p:sp>
        <p:nvSpPr>
          <p:cNvPr id="14" name="Shape 11"/>
          <p:cNvSpPr/>
          <p:nvPr/>
        </p:nvSpPr>
        <p:spPr>
          <a:xfrm>
            <a:off x="566928" y="7839837"/>
            <a:ext cx="6428232" cy="431102"/>
          </a:xfrm>
          <a:prstGeom prst="roundRect">
            <a:avLst>
              <a:gd name="adj" fmla="val 12726"/>
            </a:avLst>
          </a:prstGeom>
          <a:solidFill>
            <a:srgbClr val="E8ECF8"/>
          </a:solidFill>
          <a:ln w="9525">
            <a:solidFill>
              <a:srgbClr val="1E2761"/>
            </a:solidFill>
            <a:prstDash val="solid"/>
          </a:ln>
        </p:spPr>
      </p:sp>
      <p:sp>
        <p:nvSpPr>
          <p:cNvPr id="15" name="Text 12"/>
          <p:cNvSpPr txBox="1"/>
          <p:nvPr/>
        </p:nvSpPr>
        <p:spPr>
          <a:xfrm>
            <a:off x="658368" y="7931277"/>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6" name="Text 13"/>
          <p:cNvSpPr txBox="1"/>
          <p:nvPr/>
        </p:nvSpPr>
        <p:spPr>
          <a:xfrm>
            <a:off x="950976" y="7949565"/>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人数は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任意回答</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です。2社目以降は、前の企業で答えた人数が初期値として入るので、来場者は</a:t>
            </a:r>
            <a:endParaRPr lang="en-US" sz="1050" dirty="0"/>
          </a:p>
        </p:txBody>
      </p:sp>
      <p:sp>
        <p:nvSpPr>
          <p:cNvPr id="17" name="Shape 14"/>
          <p:cNvSpPr/>
          <p:nvPr/>
        </p:nvSpPr>
        <p:spPr>
          <a:xfrm>
            <a:off x="566928" y="8344091"/>
            <a:ext cx="6428232" cy="431102"/>
          </a:xfrm>
          <a:prstGeom prst="roundRect">
            <a:avLst>
              <a:gd name="adj" fmla="val 12726"/>
            </a:avLst>
          </a:prstGeom>
          <a:solidFill>
            <a:srgbClr val="E8ECF8"/>
          </a:solidFill>
          <a:ln w="9525">
            <a:solidFill>
              <a:srgbClr val="1E2761"/>
            </a:solidFill>
            <a:prstDash val="solid"/>
          </a:ln>
        </p:spPr>
      </p:sp>
      <p:sp>
        <p:nvSpPr>
          <p:cNvPr id="18" name="Text 15"/>
          <p:cNvSpPr txBox="1"/>
          <p:nvPr/>
        </p:nvSpPr>
        <p:spPr>
          <a:xfrm>
            <a:off x="658368" y="8435531"/>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9" name="Text 16"/>
          <p:cNvSpPr txBox="1"/>
          <p:nvPr/>
        </p:nvSpPr>
        <p:spPr>
          <a:xfrm>
            <a:off x="950976" y="8453819"/>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そのまま送信できます。未回答のぶんは、同じ来場者の別の回答などから補って計算します。</a:t>
            </a:r>
            <a:endParaRPr lang="en-US" sz="1050" dirty="0"/>
          </a:p>
        </p:txBody>
      </p:sp>
      <p:sp>
        <p:nvSpPr>
          <p:cNvPr id="20" name="Shape 17"/>
          <p:cNvSpPr/>
          <p:nvPr/>
        </p:nvSpPr>
        <p:spPr>
          <a:xfrm>
            <a:off x="566928" y="8848344"/>
            <a:ext cx="6428232" cy="431102"/>
          </a:xfrm>
          <a:prstGeom prst="roundRect">
            <a:avLst>
              <a:gd name="adj" fmla="val 12726"/>
            </a:avLst>
          </a:prstGeom>
          <a:solidFill>
            <a:srgbClr val="FDF0E6"/>
          </a:solidFill>
          <a:ln w="9525">
            <a:solidFill>
              <a:srgbClr val="E08A3C"/>
            </a:solidFill>
            <a:prstDash val="solid"/>
          </a:ln>
        </p:spPr>
      </p:sp>
      <p:sp>
        <p:nvSpPr>
          <p:cNvPr id="21" name="Text 18"/>
          <p:cNvSpPr txBox="1"/>
          <p:nvPr/>
        </p:nvSpPr>
        <p:spPr>
          <a:xfrm>
            <a:off x="658368" y="8939784"/>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950976" y="8958072"/>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人数の設問は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共通設問テンプレート</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に入れて全社に取り込むと、聞き方と集計が揃います。</a:t>
            </a:r>
            <a:endParaRPr lang="en-US" sz="1050" dirty="0"/>
          </a:p>
        </p:txBody>
      </p:sp>
      <p:sp>
        <p:nvSpPr>
          <p:cNvPr id="23" name="Text 20"/>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当日：来場人数を集計する（つづき）</a:t>
            </a:r>
            <a:endParaRPr lang="en-US" sz="2200" dirty="0"/>
          </a:p>
        </p:txBody>
      </p:sp>
      <p:pic>
        <p:nvPicPr>
          <p:cNvPr id="4" name="Image 0" descr="C:\Users\sato\Desktop\enque\docs\images\o-party.png">    </p:cNvPr>
          <p:cNvPicPr>
            <a:picLocks noChangeAspect="1"/>
          </p:cNvPicPr>
          <p:nvPr/>
        </p:nvPicPr>
        <p:blipFill>
          <a:blip r:embed="rId1"/>
          <a:stretch>
            <a:fillRect/>
          </a:stretch>
        </p:blipFill>
        <p:spPr>
          <a:xfrm>
            <a:off x="1082543" y="1481328"/>
            <a:ext cx="5397003"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「回答者の傾向」画面の来場人数のところ（のべ来場者・実来場者・回答率と人数の分布）。</a:t>
            </a:r>
            <a:endParaRPr lang="en-US" sz="950" dirty="0"/>
          </a:p>
        </p:txBody>
      </p:sp>
      <p:sp>
        <p:nvSpPr>
          <p:cNvPr id="6" name="Text 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終了後1：受付を締める</a:t>
            </a:r>
            <a:endParaRPr lang="en-US" sz="2200" dirty="0"/>
          </a:p>
        </p:txBody>
      </p:sp>
      <p:sp>
        <p:nvSpPr>
          <p:cNvPr id="4" name="Shape 2"/>
          <p:cNvSpPr/>
          <p:nvPr/>
        </p:nvSpPr>
        <p:spPr>
          <a:xfrm>
            <a:off x="566928" y="1499616"/>
            <a:ext cx="274320" cy="274320"/>
          </a:xfrm>
          <a:prstGeom prst="ellipse">
            <a:avLst/>
          </a:prstGeom>
          <a:solidFill>
            <a:srgbClr val="1E2761"/>
          </a:solidFill>
          <a:ln/>
        </p:spPr>
      </p:sp>
      <p:sp>
        <p:nvSpPr>
          <p:cNvPr id="5" name="Text 3"/>
          <p:cNvSpPr txBox="1"/>
          <p:nvPr/>
        </p:nvSpPr>
        <p:spPr>
          <a:xfrm>
            <a:off x="566928" y="14996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69264" y="1481328"/>
            <a:ext cx="6025896" cy="478409"/>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ダッシュボードの「イベント設定」で、状態を</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「終了」</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に変える（表示は「終了（案内メール送付）」です）</a:t>
            </a:r>
            <a:endParaRPr lang="en-US" sz="1150" dirty="0"/>
          </a:p>
        </p:txBody>
      </p:sp>
      <p:sp>
        <p:nvSpPr>
          <p:cNvPr id="7" name="Text 5"/>
          <p:cNvSpPr txBox="1"/>
          <p:nvPr/>
        </p:nvSpPr>
        <p:spPr>
          <a:xfrm>
            <a:off x="566928" y="2014601"/>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これで、ブースのアンケートと総合アンケートの受付が終わり、案内メールを送れるようになります。</a:t>
            </a:r>
            <a:endParaRPr lang="en-US" sz="1100" dirty="0"/>
          </a:p>
        </p:txBody>
      </p:sp>
      <p:sp>
        <p:nvSpPr>
          <p:cNvPr id="8" name="Shape 6"/>
          <p:cNvSpPr/>
          <p:nvPr/>
        </p:nvSpPr>
        <p:spPr>
          <a:xfrm>
            <a:off x="566928" y="2308606"/>
            <a:ext cx="6428232" cy="624459"/>
          </a:xfrm>
          <a:prstGeom prst="roundRect">
            <a:avLst>
              <a:gd name="adj" fmla="val 8786"/>
            </a:avLst>
          </a:prstGeom>
          <a:solidFill>
            <a:srgbClr val="FDF0E6"/>
          </a:solidFill>
          <a:ln w="9525">
            <a:solidFill>
              <a:srgbClr val="E08A3C"/>
            </a:solidFill>
            <a:prstDash val="solid"/>
          </a:ln>
        </p:spPr>
      </p:sp>
      <p:sp>
        <p:nvSpPr>
          <p:cNvPr id="9" name="Text 7"/>
          <p:cNvSpPr txBox="1"/>
          <p:nvPr/>
        </p:nvSpPr>
        <p:spPr>
          <a:xfrm>
            <a:off x="658368" y="2400046"/>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0" name="Text 8"/>
          <p:cNvSpPr txBox="1"/>
          <p:nvPr/>
        </p:nvSpPr>
        <p:spPr>
          <a:xfrm>
            <a:off x="950976" y="2418334"/>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状態を「終了」にすると、ブースのアンケートは回答できなくなります。当日の受付時間が終わってから切り替えてください。</a:t>
            </a:r>
            <a:endParaRPr lang="en-US" sz="1050" dirty="0"/>
          </a:p>
        </p:txBody>
      </p:sp>
      <p:pic>
        <p:nvPicPr>
          <p:cNvPr id="11" name="Image 0" descr="C:\Users\sato\Desktop\enque\docs\images\o-overall.png">    </p:cNvPr>
          <p:cNvPicPr>
            <a:picLocks noChangeAspect="1"/>
          </p:cNvPicPr>
          <p:nvPr/>
        </p:nvPicPr>
        <p:blipFill>
          <a:blip r:embed="rId1"/>
          <a:stretch>
            <a:fillRect/>
          </a:stretch>
        </p:blipFill>
        <p:spPr>
          <a:xfrm>
            <a:off x="1504370" y="3006217"/>
            <a:ext cx="4553347" cy="3474720"/>
          </a:xfrm>
          <a:prstGeom prst="rect">
            <a:avLst/>
          </a:prstGeom>
        </p:spPr>
      </p:pic>
      <p:sp>
        <p:nvSpPr>
          <p:cNvPr id="12" name="Text 9"/>
          <p:cNvSpPr txBox="1"/>
          <p:nvPr/>
        </p:nvSpPr>
        <p:spPr>
          <a:xfrm>
            <a:off x="566928" y="6535801"/>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「総合アンケートと案内メール」画面の1番上（総合アンケートの状態と回答数が見えるところ）。</a:t>
            </a:r>
            <a:endParaRPr lang="en-US" sz="950" dirty="0"/>
          </a:p>
        </p:txBody>
      </p:sp>
      <p:sp>
        <p:nvSpPr>
          <p:cNvPr id="13" name="Text 10"/>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終了後2：案内メールを送る</a:t>
            </a:r>
            <a:endParaRPr lang="en-US" sz="2200" dirty="0"/>
          </a:p>
        </p:txBody>
      </p:sp>
      <p:sp>
        <p:nvSpPr>
          <p:cNvPr id="4" name="Shape 2"/>
          <p:cNvSpPr/>
          <p:nvPr/>
        </p:nvSpPr>
        <p:spPr>
          <a:xfrm>
            <a:off x="566928" y="1499616"/>
            <a:ext cx="274320" cy="274320"/>
          </a:xfrm>
          <a:prstGeom prst="ellipse">
            <a:avLst/>
          </a:prstGeom>
          <a:solidFill>
            <a:srgbClr val="1E2761"/>
          </a:solidFill>
          <a:ln/>
        </p:spPr>
      </p:sp>
      <p:sp>
        <p:nvSpPr>
          <p:cNvPr id="5" name="Text 3"/>
          <p:cNvSpPr txBox="1"/>
          <p:nvPr/>
        </p:nvSpPr>
        <p:spPr>
          <a:xfrm>
            <a:off x="566928" y="14996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69264" y="1481328"/>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テスト送信</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：自分のアドレスを入れて送り、文面とリンクを確認する</a:t>
            </a:r>
            <a:endParaRPr lang="en-US" sz="1150" dirty="0"/>
          </a:p>
        </p:txBody>
      </p:sp>
      <p:sp>
        <p:nvSpPr>
          <p:cNvPr id="7" name="Shape 5"/>
          <p:cNvSpPr/>
          <p:nvPr/>
        </p:nvSpPr>
        <p:spPr>
          <a:xfrm>
            <a:off x="566928" y="1956816"/>
            <a:ext cx="274320" cy="274320"/>
          </a:xfrm>
          <a:prstGeom prst="ellipse">
            <a:avLst/>
          </a:prstGeom>
          <a:solidFill>
            <a:srgbClr val="1E2761"/>
          </a:solidFill>
          <a:ln/>
        </p:spPr>
      </p:sp>
      <p:sp>
        <p:nvSpPr>
          <p:cNvPr id="8" name="Text 6"/>
          <p:cNvSpPr txBox="1"/>
          <p:nvPr/>
        </p:nvSpPr>
        <p:spPr>
          <a:xfrm>
            <a:off x="566928"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69264" y="1938528"/>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送信対象を作成・更新する</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を押す（メールアドレスを登録した来場者が対象になります）</a:t>
            </a:r>
            <a:endParaRPr lang="en-US" sz="1150" dirty="0"/>
          </a:p>
        </p:txBody>
      </p:sp>
      <p:sp>
        <p:nvSpPr>
          <p:cNvPr id="10" name="Shape 8"/>
          <p:cNvSpPr/>
          <p:nvPr/>
        </p:nvSpPr>
        <p:spPr>
          <a:xfrm>
            <a:off x="566928" y="2414016"/>
            <a:ext cx="274320" cy="274320"/>
          </a:xfrm>
          <a:prstGeom prst="ellipse">
            <a:avLst/>
          </a:prstGeom>
          <a:solidFill>
            <a:srgbClr val="1E2761"/>
          </a:solidFill>
          <a:ln/>
        </p:spPr>
      </p:sp>
      <p:sp>
        <p:nvSpPr>
          <p:cNvPr id="11" name="Text 9"/>
          <p:cNvSpPr txBox="1"/>
          <p:nvPr/>
        </p:nvSpPr>
        <p:spPr>
          <a:xfrm>
            <a:off x="566928" y="24140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69264" y="23957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送信する</a:t>
            </a:r>
            <a:endParaRPr lang="en-US" sz="1150" dirty="0"/>
          </a:p>
        </p:txBody>
      </p:sp>
      <p:sp>
        <p:nvSpPr>
          <p:cNvPr id="13" name="Text 11"/>
          <p:cNvSpPr txBox="1"/>
          <p:nvPr/>
        </p:nvSpPr>
        <p:spPr>
          <a:xfrm>
            <a:off x="713232" y="2852928"/>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少数なら「この画面から50件だけ送信する」</a:t>
            </a:r>
            <a:endParaRPr lang="en-US" sz="1100" dirty="0"/>
          </a:p>
        </p:txBody>
      </p:sp>
      <p:sp>
        <p:nvSpPr>
          <p:cNvPr id="14" name="Text 12"/>
          <p:cNvSpPr txBox="1"/>
          <p:nvPr/>
        </p:nvSpPr>
        <p:spPr>
          <a:xfrm>
            <a:off x="713232" y="3128645"/>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大量ならサーバーの自動送信（5分ごとに200件ずつ）に任せる</a:t>
            </a:r>
            <a:endParaRPr lang="en-US" sz="1100" dirty="0"/>
          </a:p>
        </p:txBody>
      </p:sp>
      <p:sp>
        <p:nvSpPr>
          <p:cNvPr id="15" name="Shape 13"/>
          <p:cNvSpPr/>
          <p:nvPr/>
        </p:nvSpPr>
        <p:spPr>
          <a:xfrm>
            <a:off x="566928" y="3422650"/>
            <a:ext cx="274320" cy="274320"/>
          </a:xfrm>
          <a:prstGeom prst="ellipse">
            <a:avLst/>
          </a:prstGeom>
          <a:solidFill>
            <a:srgbClr val="1E2761"/>
          </a:solidFill>
          <a:ln/>
        </p:spPr>
      </p:sp>
      <p:sp>
        <p:nvSpPr>
          <p:cNvPr id="16" name="Text 14"/>
          <p:cNvSpPr txBox="1"/>
          <p:nvPr/>
        </p:nvSpPr>
        <p:spPr>
          <a:xfrm>
            <a:off x="566928" y="342265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txBox="1"/>
          <p:nvPr/>
        </p:nvSpPr>
        <p:spPr>
          <a:xfrm>
            <a:off x="969264" y="3404362"/>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送信状況（未送信・送信済み・失敗）を画面で確認する</a:t>
            </a:r>
            <a:endParaRPr lang="en-US" sz="1150" dirty="0"/>
          </a:p>
        </p:txBody>
      </p:sp>
      <p:sp>
        <p:nvSpPr>
          <p:cNvPr id="18" name="Shape 16"/>
          <p:cNvSpPr/>
          <p:nvPr/>
        </p:nvSpPr>
        <p:spPr>
          <a:xfrm>
            <a:off x="566928" y="3861562"/>
            <a:ext cx="6428232" cy="624459"/>
          </a:xfrm>
          <a:prstGeom prst="roundRect">
            <a:avLst>
              <a:gd name="adj" fmla="val 8786"/>
            </a:avLst>
          </a:prstGeom>
          <a:solidFill>
            <a:srgbClr val="E8ECF8"/>
          </a:solidFill>
          <a:ln w="9525">
            <a:solidFill>
              <a:srgbClr val="1E2761"/>
            </a:solidFill>
            <a:prstDash val="solid"/>
          </a:ln>
        </p:spPr>
      </p:sp>
      <p:sp>
        <p:nvSpPr>
          <p:cNvPr id="19" name="Text 17"/>
          <p:cNvSpPr txBox="1"/>
          <p:nvPr/>
        </p:nvSpPr>
        <p:spPr>
          <a:xfrm>
            <a:off x="658368" y="3953002"/>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0" name="Text 18"/>
          <p:cNvSpPr txBox="1"/>
          <p:nvPr/>
        </p:nvSpPr>
        <p:spPr>
          <a:xfrm>
            <a:off x="950976" y="3971290"/>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メールの文面は相手によって変わります。会期中に総合アンケートへ答えた方には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壁紙のご案内だけ</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a:t>
            </a:r>
            <a:endParaRPr lang="en-US" sz="1050" dirty="0"/>
          </a:p>
        </p:txBody>
      </p:sp>
      <p:sp>
        <p:nvSpPr>
          <p:cNvPr id="21" name="Shape 19"/>
          <p:cNvSpPr/>
          <p:nvPr/>
        </p:nvSpPr>
        <p:spPr>
          <a:xfrm>
            <a:off x="566928" y="4559173"/>
            <a:ext cx="6428232" cy="431102"/>
          </a:xfrm>
          <a:prstGeom prst="roundRect">
            <a:avLst>
              <a:gd name="adj" fmla="val 12726"/>
            </a:avLst>
          </a:prstGeom>
          <a:solidFill>
            <a:srgbClr val="E8ECF8"/>
          </a:solidFill>
          <a:ln w="9525">
            <a:solidFill>
              <a:srgbClr val="1E2761"/>
            </a:solidFill>
            <a:prstDash val="solid"/>
          </a:ln>
        </p:spPr>
      </p:sp>
      <p:sp>
        <p:nvSpPr>
          <p:cNvPr id="22" name="Text 20"/>
          <p:cNvSpPr txBox="1"/>
          <p:nvPr/>
        </p:nvSpPr>
        <p:spPr>
          <a:xfrm>
            <a:off x="658368" y="4650613"/>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3" name="Text 21"/>
          <p:cNvSpPr txBox="1"/>
          <p:nvPr/>
        </p:nvSpPr>
        <p:spPr>
          <a:xfrm>
            <a:off x="950976" y="4668901"/>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まだ答えていない方には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回答のお願い</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（回答後に壁紙）が届きます。</a:t>
            </a:r>
            <a:endParaRPr lang="en-US" sz="1050" dirty="0"/>
          </a:p>
        </p:txBody>
      </p:sp>
      <p:sp>
        <p:nvSpPr>
          <p:cNvPr id="24" name="Shape 22"/>
          <p:cNvSpPr/>
          <p:nvPr/>
        </p:nvSpPr>
        <p:spPr>
          <a:xfrm>
            <a:off x="566928" y="5063427"/>
            <a:ext cx="6428232" cy="624459"/>
          </a:xfrm>
          <a:prstGeom prst="roundRect">
            <a:avLst>
              <a:gd name="adj" fmla="val 8786"/>
            </a:avLst>
          </a:prstGeom>
          <a:solidFill>
            <a:srgbClr val="E8ECF8"/>
          </a:solidFill>
          <a:ln w="9525">
            <a:solidFill>
              <a:srgbClr val="1E2761"/>
            </a:solidFill>
            <a:prstDash val="solid"/>
          </a:ln>
        </p:spPr>
      </p:sp>
      <p:sp>
        <p:nvSpPr>
          <p:cNvPr id="25" name="Text 23"/>
          <p:cNvSpPr txBox="1"/>
          <p:nvPr/>
        </p:nvSpPr>
        <p:spPr>
          <a:xfrm>
            <a:off x="658368" y="5154867"/>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6" name="Text 24"/>
          <p:cNvSpPr txBox="1"/>
          <p:nvPr/>
        </p:nvSpPr>
        <p:spPr>
          <a:xfrm>
            <a:off x="950976" y="5173155"/>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テスト送信のリンクは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スタッフ確認用のプレビュー</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です。管理画面にログインした状態で開くと、来場者に見えるのと同じ画面を確認できます（プレビューからは回答できません）。</a:t>
            </a:r>
            <a:endParaRPr lang="en-US" sz="1050" dirty="0"/>
          </a:p>
        </p:txBody>
      </p:sp>
      <p:sp>
        <p:nvSpPr>
          <p:cNvPr id="27" name="Shape 25"/>
          <p:cNvSpPr/>
          <p:nvPr/>
        </p:nvSpPr>
        <p:spPr>
          <a:xfrm>
            <a:off x="566928" y="5761038"/>
            <a:ext cx="6428232" cy="431102"/>
          </a:xfrm>
          <a:prstGeom prst="roundRect">
            <a:avLst>
              <a:gd name="adj" fmla="val 12726"/>
            </a:avLst>
          </a:prstGeom>
          <a:solidFill>
            <a:srgbClr val="FDF0E6"/>
          </a:solidFill>
          <a:ln w="9525">
            <a:solidFill>
              <a:srgbClr val="E08A3C"/>
            </a:solidFill>
            <a:prstDash val="solid"/>
          </a:ln>
        </p:spPr>
      </p:sp>
      <p:sp>
        <p:nvSpPr>
          <p:cNvPr id="28" name="Text 26"/>
          <p:cNvSpPr txBox="1"/>
          <p:nvPr/>
        </p:nvSpPr>
        <p:spPr>
          <a:xfrm>
            <a:off x="658368" y="5852478"/>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950976" y="5870766"/>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送信済みの人には二重に送られません。失敗したものは自動で3回まで再送されます。</a:t>
            </a:r>
            <a:endParaRPr lang="en-US" sz="1050" dirty="0"/>
          </a:p>
        </p:txBody>
      </p:sp>
      <p:sp>
        <p:nvSpPr>
          <p:cNvPr id="30" name="Text 28"/>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終了後2：案内メールを送る（つづき）</a:t>
            </a:r>
            <a:endParaRPr lang="en-US" sz="2200" dirty="0"/>
          </a:p>
        </p:txBody>
      </p:sp>
      <p:pic>
        <p:nvPicPr>
          <p:cNvPr id="4" name="Image 0" descr="C:\Users\sato\Desktop\enque\docs\images\o-invite-status.png">    </p:cNvPr>
          <p:cNvPicPr>
            <a:picLocks noChangeAspect="1"/>
          </p:cNvPicPr>
          <p:nvPr/>
        </p:nvPicPr>
        <p:blipFill>
          <a:blip r:embed="rId1"/>
          <a:stretch>
            <a:fillRect/>
          </a:stretch>
        </p:blipFill>
        <p:spPr>
          <a:xfrm>
            <a:off x="1504370" y="1481328"/>
            <a:ext cx="4553347"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「総合アンケートと案内メール」画面の送信状況（未送信・送信済み・失敗・回答済みの数）。</a:t>
            </a:r>
            <a:endParaRPr lang="en-US" sz="950" dirty="0"/>
          </a:p>
        </p:txBody>
      </p:sp>
      <p:sp>
        <p:nvSpPr>
          <p:cNvPr id="6" name="Text 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終了後3：集計データを受け取る</a:t>
            </a:r>
            <a:endParaRPr lang="en-US" sz="2200" dirty="0"/>
          </a:p>
        </p:txBody>
      </p:sp>
      <p:sp>
        <p:nvSpPr>
          <p:cNvPr id="4" name="Text 2"/>
          <p:cNvSpPr txBox="1"/>
          <p:nvPr/>
        </p:nvSpPr>
        <p:spPr>
          <a:xfrm>
            <a:off x="566928" y="1591056"/>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CSVをダウンロードする</a:t>
            </a:r>
            <a:endParaRPr lang="en-US" sz="1400" dirty="0"/>
          </a:p>
        </p:txBody>
      </p:sp>
      <p:sp>
        <p:nvSpPr>
          <p:cNvPr id="5" name="Text 3"/>
          <p:cNvSpPr txBox="1"/>
          <p:nvPr/>
        </p:nvSpPr>
        <p:spPr>
          <a:xfrm>
            <a:off x="713232" y="1922018"/>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企業別</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：企業の「集計」画面、または「回答一覧」から</a:t>
            </a:r>
            <a:endParaRPr lang="en-US" sz="1100" dirty="0"/>
          </a:p>
        </p:txBody>
      </p:sp>
      <p:sp>
        <p:nvSpPr>
          <p:cNvPr id="6" name="Text 4"/>
          <p:cNvSpPr txBox="1"/>
          <p:nvPr/>
        </p:nvSpPr>
        <p:spPr>
          <a:xfrm>
            <a:off x="713232" y="2197735"/>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全社まとめて</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：ダッシュボードの「全企業分のCSV」から</a:t>
            </a:r>
            <a:endParaRPr lang="en-US" sz="1100" dirty="0"/>
          </a:p>
        </p:txBody>
      </p:sp>
      <p:sp>
        <p:nvSpPr>
          <p:cNvPr id="7" name="Text 5"/>
          <p:cNvSpPr txBox="1"/>
          <p:nvPr/>
        </p:nvSpPr>
        <p:spPr>
          <a:xfrm>
            <a:off x="566928" y="2473452"/>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CSVは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UTF-8（BOM付き）</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なので、Excelでそのまま開けます。</a:t>
            </a:r>
            <a:endParaRPr lang="en-US" sz="1100" dirty="0"/>
          </a:p>
        </p:txBody>
      </p:sp>
      <p:sp>
        <p:nvSpPr>
          <p:cNvPr id="8" name="Shape 6"/>
          <p:cNvSpPr/>
          <p:nvPr/>
        </p:nvSpPr>
        <p:spPr>
          <a:xfrm>
            <a:off x="566928" y="2767457"/>
            <a:ext cx="6428232" cy="624459"/>
          </a:xfrm>
          <a:prstGeom prst="roundRect">
            <a:avLst>
              <a:gd name="adj" fmla="val 8786"/>
            </a:avLst>
          </a:prstGeom>
          <a:solidFill>
            <a:srgbClr val="E8ECF8"/>
          </a:solidFill>
          <a:ln w="9525">
            <a:solidFill>
              <a:srgbClr val="1E2761"/>
            </a:solidFill>
            <a:prstDash val="solid"/>
          </a:ln>
        </p:spPr>
      </p:sp>
      <p:sp>
        <p:nvSpPr>
          <p:cNvPr id="9" name="Text 7"/>
          <p:cNvSpPr txBox="1"/>
          <p:nvPr/>
        </p:nvSpPr>
        <p:spPr>
          <a:xfrm>
            <a:off x="658368" y="2858897"/>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0" name="Text 8"/>
          <p:cNvSpPr txBox="1"/>
          <p:nvPr/>
        </p:nvSpPr>
        <p:spPr>
          <a:xfrm>
            <a:off x="950976" y="2877185"/>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メールアドレスは出力されません。来場者は匿名のID（来場者ID）だけが入るので、企業をまたいだ同じ方の回答を突き合わせられます。</a:t>
            </a:r>
            <a:endParaRPr lang="en-US" sz="1050" dirty="0"/>
          </a:p>
        </p:txBody>
      </p:sp>
      <p:sp>
        <p:nvSpPr>
          <p:cNvPr id="11" name="Text 9"/>
          <p:cNvSpPr txBox="1"/>
          <p:nvPr/>
        </p:nvSpPr>
        <p:spPr>
          <a:xfrm>
            <a:off x="566928" y="3574796"/>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集計画面で見る</a:t>
            </a:r>
            <a:endParaRPr lang="en-US" sz="1400" dirty="0"/>
          </a:p>
        </p:txBody>
      </p:sp>
      <p:sp>
        <p:nvSpPr>
          <p:cNvPr id="12" name="Text 10"/>
          <p:cNvSpPr txBox="1"/>
          <p:nvPr/>
        </p:nvSpPr>
        <p:spPr>
          <a:xfrm>
            <a:off x="566928" y="390575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企業ごとの「集計」画面では、設問ごとのグラフ・星評価の平均・NPS・自由記述の一覧が見られます。</a:t>
            </a:r>
            <a:endParaRPr lang="en-US" sz="1100" dirty="0"/>
          </a:p>
        </p:txBody>
      </p:sp>
      <p:sp>
        <p:nvSpPr>
          <p:cNvPr id="13" name="Text 11"/>
          <p:cNvSpPr txBox="1"/>
          <p:nvPr/>
        </p:nvSpPr>
        <p:spPr>
          <a:xfrm>
            <a:off x="566928" y="4402328"/>
            <a:ext cx="6428232" cy="459994"/>
          </a:xfrm>
          <a:prstGeom prst="rect">
            <a:avLst/>
          </a:prstGeom>
          <a:noFill/>
          <a:ln/>
        </p:spPr>
        <p:txBody>
          <a:bodyPr wrap="square" lIns="0" tIns="0" rIns="0" bIns="0" rtlCol="0" anchor="t"/>
          <a:lstStyle/>
          <a:p>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総合アンケートの集計</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は、ダッシュボードの「総合アンケートの集計」、または「総合アンケートと案内メール」画面の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「集計を見る」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から開きます。</a:t>
            </a:r>
            <a:endParaRPr lang="en-US" sz="1100" dirty="0"/>
          </a:p>
        </p:txBody>
      </p:sp>
      <p:sp>
        <p:nvSpPr>
          <p:cNvPr id="14" name="Text 12"/>
          <p:cNvSpPr txBox="1"/>
          <p:nvPr/>
        </p:nvSpPr>
        <p:spPr>
          <a:xfrm>
            <a:off x="713232" y="4898898"/>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回答数と回答率</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（回答した来場者のうち何%が答えたか）</a:t>
            </a:r>
            <a:endParaRPr lang="en-US" sz="1100" dirty="0"/>
          </a:p>
        </p:txBody>
      </p:sp>
      <p:sp>
        <p:nvSpPr>
          <p:cNvPr id="15" name="Text 13"/>
          <p:cNvSpPr txBox="1"/>
          <p:nvPr/>
        </p:nvSpPr>
        <p:spPr>
          <a:xfrm>
            <a:off x="713232" y="5174615"/>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設問ごとのグラフ</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（企業の集計と同じ見た目）と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自由記述の一覧</a:t>
            </a:r>
            <a:endParaRPr lang="en-US" sz="1100" dirty="0"/>
          </a:p>
        </p:txBody>
      </p:sp>
      <p:sp>
        <p:nvSpPr>
          <p:cNvPr id="16" name="Text 14"/>
          <p:cNvSpPr txBox="1"/>
          <p:nvPr/>
        </p:nvSpPr>
        <p:spPr>
          <a:xfrm>
            <a:off x="713232" y="5450332"/>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周回企業数との関係</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：たくさん回った方ほど評価が高いか</a:t>
            </a:r>
            <a:endParaRPr lang="en-US" sz="1100" dirty="0"/>
          </a:p>
        </p:txBody>
      </p:sp>
      <p:sp>
        <p:nvSpPr>
          <p:cNvPr id="17" name="Text 15"/>
          <p:cNvSpPr txBox="1"/>
          <p:nvPr/>
        </p:nvSpPr>
        <p:spPr>
          <a:xfrm>
            <a:off x="713232" y="5726049"/>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来場人数との関係</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：1人で来た方とグループで来た方の違い</a:t>
            </a:r>
            <a:endParaRPr lang="en-US" sz="1100" dirty="0"/>
          </a:p>
        </p:txBody>
      </p:sp>
      <p:sp>
        <p:nvSpPr>
          <p:cNvPr id="18" name="Shape 16"/>
          <p:cNvSpPr/>
          <p:nvPr/>
        </p:nvSpPr>
        <p:spPr>
          <a:xfrm>
            <a:off x="566928" y="6001766"/>
            <a:ext cx="6428232" cy="624459"/>
          </a:xfrm>
          <a:prstGeom prst="roundRect">
            <a:avLst>
              <a:gd name="adj" fmla="val 8786"/>
            </a:avLst>
          </a:prstGeom>
          <a:solidFill>
            <a:srgbClr val="E8ECF8"/>
          </a:solidFill>
          <a:ln w="9525">
            <a:solidFill>
              <a:srgbClr val="1E2761"/>
            </a:solidFill>
            <a:prstDash val="solid"/>
          </a:ln>
        </p:spPr>
      </p:sp>
      <p:sp>
        <p:nvSpPr>
          <p:cNvPr id="19" name="Text 17"/>
          <p:cNvSpPr txBox="1"/>
          <p:nvPr/>
        </p:nvSpPr>
        <p:spPr>
          <a:xfrm>
            <a:off x="658368" y="6093206"/>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0" name="Text 18"/>
          <p:cNvSpPr txBox="1"/>
          <p:nvPr/>
        </p:nvSpPr>
        <p:spPr>
          <a:xfrm>
            <a:off x="950976" y="6111494"/>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関係の表は</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相関であって因果ではありません</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（もともと関心の高い方がたくさん回っている、とも読めます）。回答が少ないうちは数字が揺れるので、件数も一緒に見てください。</a:t>
            </a:r>
            <a:endParaRPr lang="en-US" sz="1050" dirty="0"/>
          </a:p>
        </p:txBody>
      </p:sp>
      <p:sp>
        <p:nvSpPr>
          <p:cNvPr id="21" name="Text 19"/>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終了後3：集計データを受け取る（つづき）</a:t>
            </a:r>
            <a:endParaRPr lang="en-US" sz="2200" dirty="0"/>
          </a:p>
        </p:txBody>
      </p:sp>
      <p:pic>
        <p:nvPicPr>
          <p:cNvPr id="4" name="Image 0" descr="C:\Users\sato\Desktop\enque\docs\images\o-overall-stats.png">    </p:cNvPr>
          <p:cNvPicPr>
            <a:picLocks noChangeAspect="1"/>
          </p:cNvPicPr>
          <p:nvPr/>
        </p:nvPicPr>
        <p:blipFill>
          <a:blip r:embed="rId1"/>
          <a:stretch>
            <a:fillRect/>
          </a:stretch>
        </p:blipFill>
        <p:spPr>
          <a:xfrm>
            <a:off x="1248911" y="1481328"/>
            <a:ext cx="5064265"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「総合アンケートの集計」画面の上部（回答数・回答率のタイルが見えるもの）。</a:t>
            </a:r>
            <a:endParaRPr lang="en-US" sz="950" dirty="0"/>
          </a:p>
        </p:txBody>
      </p:sp>
      <p:pic>
        <p:nvPicPr>
          <p:cNvPr id="6" name="Image 1" descr="C:\Users\sato\Desktop\enque\docs\images\o-overall-cross.png">    </p:cNvPr>
          <p:cNvPicPr>
            <a:picLocks noChangeAspect="1"/>
          </p:cNvPicPr>
          <p:nvPr/>
        </p:nvPicPr>
        <p:blipFill>
          <a:blip r:embed="rId2"/>
          <a:stretch>
            <a:fillRect/>
          </a:stretch>
        </p:blipFill>
        <p:spPr>
          <a:xfrm>
            <a:off x="1075432" y="5340096"/>
            <a:ext cx="5411224" cy="3474720"/>
          </a:xfrm>
          <a:prstGeom prst="rect">
            <a:avLst/>
          </a:prstGeom>
        </p:spPr>
      </p:pic>
      <p:sp>
        <p:nvSpPr>
          <p:cNvPr id="7" name="Text 3"/>
          <p:cNvSpPr txBox="1"/>
          <p:nvPr/>
        </p:nvSpPr>
        <p:spPr>
          <a:xfrm>
            <a:off x="566928" y="8869680"/>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「総合アンケートの集計」画面の「周回企業数との関係」「来場人数との関係」の表。</a:t>
            </a:r>
            <a:endParaRPr lang="en-US" sz="950" dirty="0"/>
          </a:p>
        </p:txBody>
      </p:sp>
      <p:sp>
        <p:nvSpPr>
          <p:cNvPr id="8" name="Text 4"/>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終了後3：集計データを受け取る（つづき）</a:t>
            </a:r>
            <a:endParaRPr lang="en-US" sz="2200" dirty="0"/>
          </a:p>
        </p:txBody>
      </p:sp>
      <p:pic>
        <p:nvPicPr>
          <p:cNvPr id="4" name="Image 0" descr="C:\Users\sato\Desktop\enque\docs\images\o-stats.png">    </p:cNvPr>
          <p:cNvPicPr>
            <a:picLocks noChangeAspect="1"/>
          </p:cNvPicPr>
          <p:nvPr/>
        </p:nvPicPr>
        <p:blipFill>
          <a:blip r:embed="rId1"/>
          <a:stretch>
            <a:fillRect/>
          </a:stretch>
        </p:blipFill>
        <p:spPr>
          <a:xfrm>
            <a:off x="2140821" y="1481328"/>
            <a:ext cx="3280447"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企業の集計画面。設問ごとのグラフが見えるところ。</a:t>
            </a:r>
            <a:endParaRPr lang="en-US" sz="950" dirty="0"/>
          </a:p>
        </p:txBody>
      </p:sp>
      <p:sp>
        <p:nvSpPr>
          <p:cNvPr id="6" name="Text 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終了後4：メールアドレスを削除する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案内の送付と集計が終わったら、預かったメールアドレスを削除します。</a:t>
            </a:r>
            <a:endParaRPr lang="en-US" sz="1100" dirty="0"/>
          </a:p>
        </p:txBody>
      </p:sp>
      <p:sp>
        <p:nvSpPr>
          <p:cNvPr id="5" name="Shape 3"/>
          <p:cNvSpPr/>
          <p:nvPr/>
        </p:nvSpPr>
        <p:spPr>
          <a:xfrm>
            <a:off x="566928" y="1793621"/>
            <a:ext cx="274320" cy="274320"/>
          </a:xfrm>
          <a:prstGeom prst="ellipse">
            <a:avLst/>
          </a:prstGeom>
          <a:solidFill>
            <a:srgbClr val="1E2761"/>
          </a:solidFill>
          <a:ln/>
        </p:spPr>
      </p:sp>
      <p:sp>
        <p:nvSpPr>
          <p:cNvPr id="6" name="Text 4"/>
          <p:cNvSpPr txBox="1"/>
          <p:nvPr/>
        </p:nvSpPr>
        <p:spPr>
          <a:xfrm>
            <a:off x="566928" y="1793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69264" y="17753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「総合アンケート」の画面を開く</a:t>
            </a:r>
            <a:endParaRPr lang="en-US" sz="1150" dirty="0"/>
          </a:p>
        </p:txBody>
      </p:sp>
      <p:sp>
        <p:nvSpPr>
          <p:cNvPr id="8" name="Shape 6"/>
          <p:cNvSpPr/>
          <p:nvPr/>
        </p:nvSpPr>
        <p:spPr>
          <a:xfrm>
            <a:off x="566928" y="2250821"/>
            <a:ext cx="274320" cy="274320"/>
          </a:xfrm>
          <a:prstGeom prst="ellipse">
            <a:avLst/>
          </a:prstGeom>
          <a:solidFill>
            <a:srgbClr val="1E2761"/>
          </a:solidFill>
          <a:ln/>
        </p:spPr>
      </p:sp>
      <p:sp>
        <p:nvSpPr>
          <p:cNvPr id="9" name="Text 7"/>
          <p:cNvSpPr txBox="1"/>
          <p:nvPr/>
        </p:nvSpPr>
        <p:spPr>
          <a:xfrm>
            <a:off x="566928" y="22508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969264" y="22325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一番下の</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「メールアドレスを削除する」</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a:t>
            </a:r>
            <a:endParaRPr lang="en-US" sz="1150" dirty="0"/>
          </a:p>
        </p:txBody>
      </p:sp>
      <p:sp>
        <p:nvSpPr>
          <p:cNvPr id="11" name="Shape 9"/>
          <p:cNvSpPr/>
          <p:nvPr/>
        </p:nvSpPr>
        <p:spPr>
          <a:xfrm>
            <a:off x="566928" y="2708021"/>
            <a:ext cx="274320" cy="274320"/>
          </a:xfrm>
          <a:prstGeom prst="ellipse">
            <a:avLst/>
          </a:prstGeom>
          <a:solidFill>
            <a:srgbClr val="1E2761"/>
          </a:solidFill>
          <a:ln/>
        </p:spPr>
      </p:sp>
      <p:sp>
        <p:nvSpPr>
          <p:cNvPr id="12" name="Text 10"/>
          <p:cNvSpPr txBox="1"/>
          <p:nvPr/>
        </p:nvSpPr>
        <p:spPr>
          <a:xfrm>
            <a:off x="566928" y="2708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969264" y="26897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確認メッセージで「OK」を押す</a:t>
            </a:r>
            <a:endParaRPr lang="en-US" sz="1150" dirty="0"/>
          </a:p>
        </p:txBody>
      </p:sp>
      <p:sp>
        <p:nvSpPr>
          <p:cNvPr id="14" name="Text 12"/>
          <p:cNvSpPr txBox="1"/>
          <p:nvPr/>
        </p:nvSpPr>
        <p:spPr>
          <a:xfrm>
            <a:off x="566928" y="3146933"/>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削除しても、</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回答データ（個人情報を含まないもの）は残ります</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566928" y="3440938"/>
            <a:ext cx="6428232" cy="624459"/>
          </a:xfrm>
          <a:prstGeom prst="roundRect">
            <a:avLst>
              <a:gd name="adj" fmla="val 8786"/>
            </a:avLst>
          </a:prstGeom>
          <a:solidFill>
            <a:srgbClr val="FDF0E6"/>
          </a:solidFill>
          <a:ln w="9525">
            <a:solidFill>
              <a:srgbClr val="E08A3C"/>
            </a:solidFill>
            <a:prstDash val="solid"/>
          </a:ln>
        </p:spPr>
      </p:sp>
      <p:sp>
        <p:nvSpPr>
          <p:cNvPr id="16" name="Text 14"/>
          <p:cNvSpPr txBox="1"/>
          <p:nvPr/>
        </p:nvSpPr>
        <p:spPr>
          <a:xfrm>
            <a:off x="658368" y="3532378"/>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950976" y="3550666"/>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削除すると、未送信ぶんの案内メールは送れなくなります。</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送信と集計が完全に終わってから</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実行してください。</a:t>
            </a:r>
            <a:endParaRPr lang="en-US" sz="1050" dirty="0"/>
          </a:p>
        </p:txBody>
      </p:sp>
      <p:sp>
        <p:nvSpPr>
          <p:cNvPr id="18" name="Shape 16"/>
          <p:cNvSpPr/>
          <p:nvPr/>
        </p:nvSpPr>
        <p:spPr>
          <a:xfrm>
            <a:off x="566928" y="4138549"/>
            <a:ext cx="6428232" cy="624459"/>
          </a:xfrm>
          <a:prstGeom prst="roundRect">
            <a:avLst>
              <a:gd name="adj" fmla="val 8786"/>
            </a:avLst>
          </a:prstGeom>
          <a:solidFill>
            <a:srgbClr val="E8ECF8"/>
          </a:solidFill>
          <a:ln w="9525">
            <a:solidFill>
              <a:srgbClr val="1E2761"/>
            </a:solidFill>
            <a:prstDash val="solid"/>
          </a:ln>
        </p:spPr>
      </p:sp>
      <p:sp>
        <p:nvSpPr>
          <p:cNvPr id="19" name="Text 17"/>
          <p:cNvSpPr txBox="1"/>
          <p:nvPr/>
        </p:nvSpPr>
        <p:spPr>
          <a:xfrm>
            <a:off x="658368" y="4229989"/>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20" name="Text 18"/>
          <p:cNvSpPr txBox="1"/>
          <p:nvPr/>
        </p:nvSpPr>
        <p:spPr>
          <a:xfrm>
            <a:off x="950976" y="4248277"/>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「氏名・住所は収集せず、メールアドレスも送付・集計後に削除する」という運用方針に沿った操作です。来場者にもその旨を案内しています。</a:t>
            </a:r>
            <a:endParaRPr lang="en-US" sz="1050" dirty="0"/>
          </a:p>
        </p:txBody>
      </p:sp>
      <p:pic>
        <p:nvPicPr>
          <p:cNvPr id="21" name="Image 0" descr="C:\Users\sato\Desktop\enque\docs\images\o-purge.png">    </p:cNvPr>
          <p:cNvPicPr>
            <a:picLocks noChangeAspect="1"/>
          </p:cNvPicPr>
          <p:nvPr/>
        </p:nvPicPr>
        <p:blipFill>
          <a:blip r:embed="rId1"/>
          <a:stretch>
            <a:fillRect/>
          </a:stretch>
        </p:blipFill>
        <p:spPr>
          <a:xfrm>
            <a:off x="936779" y="4836160"/>
            <a:ext cx="5688531" cy="3474720"/>
          </a:xfrm>
          <a:prstGeom prst="rect">
            <a:avLst/>
          </a:prstGeom>
        </p:spPr>
      </p:pic>
      <p:sp>
        <p:nvSpPr>
          <p:cNvPr id="22" name="Text 19"/>
          <p:cNvSpPr txBox="1"/>
          <p:nvPr/>
        </p:nvSpPr>
        <p:spPr>
          <a:xfrm>
            <a:off x="566928" y="8365744"/>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「メールアドレスを削除する」ボタンの周辺（説明文が見えるもの）。</a:t>
            </a:r>
            <a:endParaRPr lang="en-US" sz="950" dirty="0"/>
          </a:p>
        </p:txBody>
      </p:sp>
      <p:sp>
        <p:nvSpPr>
          <p:cNvPr id="23" name="Text 20"/>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次のイベントに向けて（データの整理）</a:t>
            </a:r>
            <a:endParaRPr lang="en-US" sz="2200" dirty="0"/>
          </a:p>
        </p:txBody>
      </p:sp>
      <p:sp>
        <p:nvSpPr>
          <p:cNvPr id="4" name="Text 2"/>
          <p:cNvSpPr txBox="1"/>
          <p:nvPr/>
        </p:nvSpPr>
        <p:spPr>
          <a:xfrm>
            <a:off x="566928" y="148132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サーバーで次のコマンドを実行します（事務局のPCではなく、システムが動いているサーバーでの作業です）。</a:t>
            </a:r>
            <a:endParaRPr lang="en-US" sz="1100" dirty="0"/>
          </a:p>
        </p:txBody>
      </p:sp>
      <p:sp>
        <p:nvSpPr>
          <p:cNvPr id="5" name="Text 3"/>
          <p:cNvSpPr txBox="1"/>
          <p:nvPr/>
        </p:nvSpPr>
        <p:spPr>
          <a:xfrm>
            <a:off x="566928" y="2087626"/>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テストで入れた回答だけ消したいとき</a:t>
            </a:r>
            <a:endParaRPr lang="en-US" sz="1400" dirty="0"/>
          </a:p>
        </p:txBody>
      </p:sp>
      <p:sp>
        <p:nvSpPr>
          <p:cNvPr id="6" name="Text 4"/>
          <p:cNvSpPr txBox="1"/>
          <p:nvPr/>
        </p:nvSpPr>
        <p:spPr>
          <a:xfrm>
            <a:off x="566928" y="241858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まず件数を確認し、問題なければ実行します。</a:t>
            </a:r>
            <a:endParaRPr lang="en-US" sz="1100" dirty="0"/>
          </a:p>
        </p:txBody>
      </p:sp>
      <p:sp>
        <p:nvSpPr>
          <p:cNvPr id="7" name="Text 5"/>
          <p:cNvSpPr txBox="1"/>
          <p:nvPr/>
        </p:nvSpPr>
        <p:spPr>
          <a:xfrm>
            <a:off x="713232" y="2712593"/>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確認：</a:t>
            </a:r>
            <a:pPr indent="0" marL="0">
              <a:lnSpc>
                <a:spcPct val="125000"/>
              </a:lnSpc>
              <a:buNone/>
            </a:pPr>
            <a:r>
              <a:rPr lang="en-US" sz="1045" dirty="0">
                <a:solidFill>
                  <a:srgbClr val="222222"/>
                </a:solidFill>
                <a:latin typeface="Courier New" pitchFamily="34" charset="0"/>
                <a:ea typeface="Courier New" pitchFamily="34" charset="-122"/>
                <a:cs typeface="Courier New" pitchFamily="34" charset="-120"/>
              </a:rPr>
              <a:t>bin/reset.sh --responses --dry-run</a:t>
            </a:r>
            <a:endParaRPr lang="en-US" sz="1100" dirty="0"/>
          </a:p>
        </p:txBody>
      </p:sp>
      <p:sp>
        <p:nvSpPr>
          <p:cNvPr id="8" name="Text 6"/>
          <p:cNvSpPr txBox="1"/>
          <p:nvPr/>
        </p:nvSpPr>
        <p:spPr>
          <a:xfrm>
            <a:off x="713232" y="298831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実行：</a:t>
            </a:r>
            <a:pPr indent="0" marL="0">
              <a:lnSpc>
                <a:spcPct val="125000"/>
              </a:lnSpc>
              <a:buNone/>
            </a:pPr>
            <a:r>
              <a:rPr lang="en-US" sz="1045" dirty="0">
                <a:solidFill>
                  <a:srgbClr val="222222"/>
                </a:solidFill>
                <a:latin typeface="Courier New" pitchFamily="34" charset="0"/>
                <a:ea typeface="Courier New" pitchFamily="34" charset="-122"/>
                <a:cs typeface="Courier New" pitchFamily="34" charset="-120"/>
              </a:rPr>
              <a:t>bin/reset.sh --responses --force</a:t>
            </a:r>
            <a:endParaRPr lang="en-US" sz="1100" dirty="0"/>
          </a:p>
        </p:txBody>
      </p:sp>
      <p:sp>
        <p:nvSpPr>
          <p:cNvPr id="9" name="Text 7"/>
          <p:cNvSpPr txBox="1"/>
          <p:nvPr/>
        </p:nvSpPr>
        <p:spPr>
          <a:xfrm>
            <a:off x="566928" y="3264027"/>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イベント・企業・設問・景品・壁紙・アカウントは残ります。</a:t>
            </a:r>
            <a:endParaRPr lang="en-US" sz="1100" dirty="0"/>
          </a:p>
        </p:txBody>
      </p:sp>
      <p:sp>
        <p:nvSpPr>
          <p:cNvPr id="10" name="Text 8"/>
          <p:cNvSpPr txBox="1"/>
          <p:nvPr/>
        </p:nvSpPr>
        <p:spPr>
          <a:xfrm>
            <a:off x="566928" y="3667760"/>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イベントごと作り直したいとき</a:t>
            </a:r>
            <a:endParaRPr lang="en-US" sz="1400" dirty="0"/>
          </a:p>
        </p:txBody>
      </p:sp>
      <p:sp>
        <p:nvSpPr>
          <p:cNvPr id="11" name="Text 9"/>
          <p:cNvSpPr txBox="1"/>
          <p:nvPr/>
        </p:nvSpPr>
        <p:spPr>
          <a:xfrm>
            <a:off x="713232" y="3998722"/>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実行：</a:t>
            </a:r>
            <a:pPr indent="0" marL="0">
              <a:lnSpc>
                <a:spcPct val="125000"/>
              </a:lnSpc>
              <a:buNone/>
            </a:pPr>
            <a:r>
              <a:rPr lang="en-US" sz="1045" dirty="0">
                <a:solidFill>
                  <a:srgbClr val="222222"/>
                </a:solidFill>
                <a:latin typeface="Courier New" pitchFamily="34" charset="0"/>
                <a:ea typeface="Courier New" pitchFamily="34" charset="-122"/>
                <a:cs typeface="Courier New" pitchFamily="34" charset="-120"/>
              </a:rPr>
              <a:t>bin/reset.sh --all --force</a:t>
            </a:r>
            <a:endParaRPr lang="en-US" sz="1100" dirty="0"/>
          </a:p>
        </p:txBody>
      </p:sp>
      <p:sp>
        <p:nvSpPr>
          <p:cNvPr id="12" name="Shape 10"/>
          <p:cNvSpPr/>
          <p:nvPr/>
        </p:nvSpPr>
        <p:spPr>
          <a:xfrm>
            <a:off x="566928" y="4274439"/>
            <a:ext cx="6428232" cy="817817"/>
          </a:xfrm>
          <a:prstGeom prst="roundRect">
            <a:avLst>
              <a:gd name="adj" fmla="val 6709"/>
            </a:avLst>
          </a:prstGeom>
          <a:solidFill>
            <a:srgbClr val="FDF0E6"/>
          </a:solidFill>
          <a:ln w="9525">
            <a:solidFill>
              <a:srgbClr val="E08A3C"/>
            </a:solidFill>
            <a:prstDash val="solid"/>
          </a:ln>
        </p:spPr>
      </p:sp>
      <p:sp>
        <p:nvSpPr>
          <p:cNvPr id="13" name="Text 11"/>
          <p:cNvSpPr txBox="1"/>
          <p:nvPr/>
        </p:nvSpPr>
        <p:spPr>
          <a:xfrm>
            <a:off x="658368" y="4365879"/>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4" name="Text 12"/>
          <p:cNvSpPr txBox="1"/>
          <p:nvPr/>
        </p:nvSpPr>
        <p:spPr>
          <a:xfrm>
            <a:off x="950976" y="4384167"/>
            <a:ext cx="5925312" cy="634937"/>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どちらも元に戻せません。実行前に自動でバックアップを取りますが、念のため大事なデータはCSVで書き出しておいてください。</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企業担当者のアカウントは企業と一緒に消えます</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（主催者・受付は残ります）。</a:t>
            </a:r>
            <a:endParaRPr lang="en-US" sz="1050" dirty="0"/>
          </a:p>
        </p:txBody>
      </p:sp>
      <p:sp>
        <p:nvSpPr>
          <p:cNvPr id="15" name="Shape 13"/>
          <p:cNvSpPr/>
          <p:nvPr/>
        </p:nvSpPr>
        <p:spPr>
          <a:xfrm>
            <a:off x="566928" y="5165408"/>
            <a:ext cx="6428232" cy="431102"/>
          </a:xfrm>
          <a:prstGeom prst="roundRect">
            <a:avLst>
              <a:gd name="adj" fmla="val 12726"/>
            </a:avLst>
          </a:prstGeom>
          <a:solidFill>
            <a:srgbClr val="E8ECF8"/>
          </a:solidFill>
          <a:ln w="9525">
            <a:solidFill>
              <a:srgbClr val="1E2761"/>
            </a:solidFill>
            <a:prstDash val="solid"/>
          </a:ln>
        </p:spPr>
      </p:sp>
      <p:sp>
        <p:nvSpPr>
          <p:cNvPr id="16" name="Text 14"/>
          <p:cNvSpPr txBox="1"/>
          <p:nvPr/>
        </p:nvSpPr>
        <p:spPr>
          <a:xfrm>
            <a:off x="658368" y="5256848"/>
            <a:ext cx="237744" cy="237744"/>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a:t>
            </a:r>
            <a:endParaRPr lang="en-US" sz="1200" dirty="0"/>
          </a:p>
        </p:txBody>
      </p:sp>
      <p:sp>
        <p:nvSpPr>
          <p:cNvPr id="17" name="Text 15"/>
          <p:cNvSpPr txBox="1"/>
          <p:nvPr/>
        </p:nvSpPr>
        <p:spPr>
          <a:xfrm>
            <a:off x="950976" y="5275136"/>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実行するとデータベース名の入力を求められます。画面の指示どおりに入力してください。</a:t>
            </a:r>
            <a:endParaRPr lang="en-US" sz="1050" dirty="0"/>
          </a:p>
        </p:txBody>
      </p:sp>
      <p:sp>
        <p:nvSpPr>
          <p:cNvPr id="18" name="Text 16"/>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主催者マニュアル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困ったときは</a:t>
            </a:r>
            <a:endParaRPr lang="en-US" sz="2200" dirty="0"/>
          </a:p>
        </p:txBody>
      </p:sp>
      <p:sp>
        <p:nvSpPr>
          <p:cNvPr id="4" name="Text 2"/>
          <p:cNvSpPr txBox="1"/>
          <p:nvPr/>
        </p:nvSpPr>
        <p:spPr>
          <a:xfrm>
            <a:off x="566928" y="1591056"/>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QRコードを読んでも「受付を終了しました」と出る</a:t>
            </a:r>
            <a:endParaRPr lang="en-US" sz="1400" dirty="0"/>
          </a:p>
        </p:txBody>
      </p:sp>
      <p:sp>
        <p:nvSpPr>
          <p:cNvPr id="5" name="Text 3"/>
          <p:cNvSpPr txBox="1"/>
          <p:nvPr/>
        </p:nvSpPr>
        <p:spPr>
          <a:xfrm>
            <a:off x="566928" y="192201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イベントの状態が「開催中」になっていない可能性があります。ダッシュボードの「イベント設定」をご確認ください。</a:t>
            </a:r>
            <a:endParaRPr lang="en-US" sz="1100" dirty="0"/>
          </a:p>
        </p:txBody>
      </p:sp>
      <p:sp>
        <p:nvSpPr>
          <p:cNvPr id="6" name="Text 4"/>
          <p:cNvSpPr txBox="1"/>
          <p:nvPr/>
        </p:nvSpPr>
        <p:spPr>
          <a:xfrm>
            <a:off x="566928" y="2528316"/>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QRコードを読んでも「ページを表示できません」と出る</a:t>
            </a:r>
            <a:endParaRPr lang="en-US" sz="1400" dirty="0"/>
          </a:p>
        </p:txBody>
      </p:sp>
      <p:sp>
        <p:nvSpPr>
          <p:cNvPr id="7" name="Text 5"/>
          <p:cNvSpPr txBox="1"/>
          <p:nvPr/>
        </p:nvSpPr>
        <p:spPr>
          <a:xfrm>
            <a:off x="566928" y="285927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URLが本番のものになっていない可能性があります。印刷し直す前に、事務局のシステム担当にご相談ください。</a:t>
            </a:r>
            <a:endParaRPr lang="en-US" sz="1100" dirty="0"/>
          </a:p>
        </p:txBody>
      </p:sp>
      <p:sp>
        <p:nvSpPr>
          <p:cNvPr id="8" name="Text 6"/>
          <p:cNvSpPr txBox="1"/>
          <p:nvPr/>
        </p:nvSpPr>
        <p:spPr>
          <a:xfrm>
            <a:off x="566928" y="3465576"/>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案内メールが届かない</a:t>
            </a:r>
            <a:endParaRPr lang="en-US" sz="1400" dirty="0"/>
          </a:p>
        </p:txBody>
      </p:sp>
      <p:sp>
        <p:nvSpPr>
          <p:cNvPr id="9" name="Text 7"/>
          <p:cNvSpPr txBox="1"/>
          <p:nvPr/>
        </p:nvSpPr>
        <p:spPr>
          <a:xfrm>
            <a:off x="713232" y="3796538"/>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「送信済み」になっているか、「失敗」が増えていないかを画面で確認してください</a:t>
            </a:r>
            <a:endParaRPr lang="en-US" sz="1100" dirty="0"/>
          </a:p>
        </p:txBody>
      </p:sp>
      <p:sp>
        <p:nvSpPr>
          <p:cNvPr id="10" name="Text 8"/>
          <p:cNvSpPr txBox="1"/>
          <p:nvPr/>
        </p:nvSpPr>
        <p:spPr>
          <a:xfrm>
            <a:off x="713232" y="4072255"/>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受信側の迷惑メールフォルダもご確認ください</a:t>
            </a:r>
            <a:endParaRPr lang="en-US" sz="1100" dirty="0"/>
          </a:p>
        </p:txBody>
      </p:sp>
      <p:sp>
        <p:nvSpPr>
          <p:cNvPr id="11" name="Text 9"/>
          <p:cNvSpPr txBox="1"/>
          <p:nvPr/>
        </p:nvSpPr>
        <p:spPr>
          <a:xfrm>
            <a:off x="713232" y="4347972"/>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「失敗」が多い場合は、システム担当にログの確認を依頼してください</a:t>
            </a:r>
            <a:endParaRPr lang="en-US" sz="1100" dirty="0"/>
          </a:p>
        </p:txBody>
      </p:sp>
      <p:sp>
        <p:nvSpPr>
          <p:cNvPr id="12" name="Text 10"/>
          <p:cNvSpPr txBox="1"/>
          <p:nvPr/>
        </p:nvSpPr>
        <p:spPr>
          <a:xfrm>
            <a:off x="566928" y="4733417"/>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来場者が「交換コードが出ない」と言っている</a:t>
            </a:r>
            <a:endParaRPr lang="en-US" sz="1400" dirty="0"/>
          </a:p>
        </p:txBody>
      </p:sp>
      <p:sp>
        <p:nvSpPr>
          <p:cNvPr id="13" name="Text 11"/>
          <p:cNvSpPr txBox="1"/>
          <p:nvPr/>
        </p:nvSpPr>
        <p:spPr>
          <a:xfrm>
            <a:off x="566928" y="5064379"/>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まだどのブースのアンケートにも回答していない可能性があります。また、</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端末を変えると別の交換コードになります</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a:t>
            </a:r>
            <a:endParaRPr lang="en-US" sz="1100" dirty="0"/>
          </a:p>
        </p:txBody>
      </p:sp>
      <p:sp>
        <p:nvSpPr>
          <p:cNvPr id="14" name="Text 12"/>
          <p:cNvSpPr txBox="1"/>
          <p:nvPr/>
        </p:nvSpPr>
        <p:spPr>
          <a:xfrm>
            <a:off x="566928" y="5670677"/>
            <a:ext cx="6428232" cy="25781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景品の交換で困ったとき</a:t>
            </a:r>
            <a:endParaRPr lang="en-US" sz="1400" dirty="0"/>
          </a:p>
        </p:txBody>
      </p:sp>
      <p:sp>
        <p:nvSpPr>
          <p:cNvPr id="15" name="Text 13"/>
          <p:cNvSpPr txBox="1"/>
          <p:nvPr/>
        </p:nvSpPr>
        <p:spPr>
          <a:xfrm>
            <a:off x="566928" y="6001639"/>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受付画面で「交換済み」と出ても、お申し出があればお渡しして構いません（メモ欄に状況を残してください）。来場者の画面には交換済みかどうかを表示していません。</a:t>
            </a:r>
            <a:endParaRPr lang="en-US" sz="1100" dirty="0"/>
          </a:p>
        </p:txBody>
      </p:sp>
      <p:sp>
        <p:nvSpPr>
          <p:cNvPr id="16" name="Text 14"/>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主催者向け　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主催者マニュアル</dc:title>
  <dc:subject>PptxGenJS Presentation</dc:subject>
  <dc:creator>企業周遊アンケートシステム</dc:creator>
  <cp:lastModifiedBy>企業周遊アンケートシステム</cp:lastModifiedBy>
  <cp:revision>1</cp:revision>
  <dcterms:created xsi:type="dcterms:W3CDTF">2026-10-16T01:06:18Z</dcterms:created>
  <dcterms:modified xsi:type="dcterms:W3CDTF">2026-10-16T01:06:18Z</dcterms:modified>
</cp:coreProperties>
</file>