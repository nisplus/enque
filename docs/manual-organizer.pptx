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</p:sldIdLst>
  <p:notesMasterIdLst>
    <p:notesMasterId r:id="rId23"/>
  </p:notesMasterIdLst>
  <p:sldSz cx="7562088" cy="10689336"/>
  <p:notesSz cx="10689336" cy="7562088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notesMaster" Target="notesMasters/notesMaster1.xml"/><Relationship Id="rId24" Type="http://schemas.openxmlformats.org/officeDocument/2006/relationships/presProps" Target="presProps.xml"/><Relationship Id="rId25" Type="http://schemas.openxmlformats.org/officeDocument/2006/relationships/viewProps" Target="viewProps.xml"/><Relationship Id="rId26" Type="http://schemas.openxmlformats.org/officeDocument/2006/relationships/theme" Target="theme/theme1.xml"/><Relationship Id="rId2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0"/>
            <a:ext cx="64282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企業周遊アンケートシステム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3703320"/>
            <a:ext cx="6428232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主催者マニュアル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5257800"/>
            <a:ext cx="642823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イベントの準備から、当日の運営、終了後の総合アンケート送付・集計・データ整理までの手順です。このシステムでできることは、この資料にすべて載っています。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9683496"/>
            <a:ext cx="64282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A4縦で印刷できます。画面例はテスト環境のもので、実際の表示とは名称や件数が異なる場合があります。</a:t>
            </a:r>
            <a:endParaRPr lang="en-US" sz="9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57200"/>
            <a:ext cx="64282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主催者マニュアル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713232"/>
            <a:ext cx="64282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全体の流れ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481328"/>
            <a:ext cx="6428232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準備・当日・終了後の3つに分かれます。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1885061"/>
            <a:ext cx="6428232" cy="2578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準備（イベント前）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566928" y="2234311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66928" y="2234311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969264" y="2216023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管理画面にログインし、</a:t>
            </a:r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イベントを作る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566928" y="2691511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566928" y="2691511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969264" y="2673223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出展企業を登録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する（企業ごとにQRコードが発行されます）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566928" y="3148711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566928" y="3148711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969264" y="3130423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各企業の</a:t>
            </a:r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アンケートの設問を登録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し、公開する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566928" y="3605911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566928" y="3605911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969264" y="3587623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QRコードを印刷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してブースに配る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566928" y="4063111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566928" y="4063111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100" dirty="0"/>
          </a:p>
        </p:txBody>
      </p:sp>
      <p:sp>
        <p:nvSpPr>
          <p:cNvPr id="20" name="Text 18"/>
          <p:cNvSpPr txBox="1"/>
          <p:nvPr/>
        </p:nvSpPr>
        <p:spPr>
          <a:xfrm>
            <a:off x="969264" y="4044823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景品を登録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する（用意した数量も入れます）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566928" y="4520311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566928" y="4520311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969264" y="4502023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企業担当者・総合受付のアカウント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を発行する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566928" y="4977511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566928" y="4977511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100" dirty="0"/>
          </a:p>
        </p:txBody>
      </p:sp>
      <p:sp>
        <p:nvSpPr>
          <p:cNvPr id="26" name="Text 24"/>
          <p:cNvSpPr txBox="1"/>
          <p:nvPr/>
        </p:nvSpPr>
        <p:spPr>
          <a:xfrm>
            <a:off x="969264" y="4959223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スマホ壁紙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を登録する</a:t>
            </a:r>
            <a:endParaRPr lang="en-US" sz="1150" dirty="0"/>
          </a:p>
        </p:txBody>
      </p:sp>
      <p:sp>
        <p:nvSpPr>
          <p:cNvPr id="27" name="Text 25"/>
          <p:cNvSpPr txBox="1"/>
          <p:nvPr/>
        </p:nvSpPr>
        <p:spPr>
          <a:xfrm>
            <a:off x="566928" y="5526151"/>
            <a:ext cx="6428232" cy="2578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当日</a:t>
            </a:r>
            <a:endParaRPr lang="en-US" sz="1400" dirty="0"/>
          </a:p>
        </p:txBody>
      </p:sp>
      <p:sp>
        <p:nvSpPr>
          <p:cNvPr id="28" name="Shape 26"/>
          <p:cNvSpPr/>
          <p:nvPr/>
        </p:nvSpPr>
        <p:spPr>
          <a:xfrm>
            <a:off x="566928" y="5875401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566928" y="5875401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30" name="Text 28"/>
          <p:cNvSpPr txBox="1"/>
          <p:nvPr/>
        </p:nvSpPr>
        <p:spPr>
          <a:xfrm>
            <a:off x="969264" y="5857113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イベントの状態を</a:t>
            </a:r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「開催中」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にする（これで回答の受付が始まります）</a:t>
            </a:r>
            <a:endParaRPr lang="en-US" sz="1150" dirty="0"/>
          </a:p>
        </p:txBody>
      </p:sp>
      <p:sp>
        <p:nvSpPr>
          <p:cNvPr id="31" name="Shape 29"/>
          <p:cNvSpPr/>
          <p:nvPr/>
        </p:nvSpPr>
        <p:spPr>
          <a:xfrm>
            <a:off x="566928" y="6332601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566928" y="6332601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33" name="Text 31"/>
          <p:cNvSpPr txBox="1"/>
          <p:nvPr/>
        </p:nvSpPr>
        <p:spPr>
          <a:xfrm>
            <a:off x="969264" y="6314313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ダッシュボードで</a:t>
            </a:r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回答状況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を見る</a:t>
            </a:r>
            <a:endParaRPr lang="en-US" sz="1150" dirty="0"/>
          </a:p>
        </p:txBody>
      </p:sp>
      <p:sp>
        <p:nvSpPr>
          <p:cNvPr id="34" name="Text 32"/>
          <p:cNvSpPr txBox="1"/>
          <p:nvPr/>
        </p:nvSpPr>
        <p:spPr>
          <a:xfrm>
            <a:off x="566928" y="6881241"/>
            <a:ext cx="6428232" cy="2578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終了後</a:t>
            </a:r>
            <a:endParaRPr lang="en-US" sz="1400" dirty="0"/>
          </a:p>
        </p:txBody>
      </p:sp>
      <p:sp>
        <p:nvSpPr>
          <p:cNvPr id="35" name="Shape 33"/>
          <p:cNvSpPr/>
          <p:nvPr/>
        </p:nvSpPr>
        <p:spPr>
          <a:xfrm>
            <a:off x="566928" y="7230491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36" name="Text 34"/>
          <p:cNvSpPr txBox="1"/>
          <p:nvPr/>
        </p:nvSpPr>
        <p:spPr>
          <a:xfrm>
            <a:off x="566928" y="7230491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37" name="Text 35"/>
          <p:cNvSpPr txBox="1"/>
          <p:nvPr/>
        </p:nvSpPr>
        <p:spPr>
          <a:xfrm>
            <a:off x="969264" y="7212203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状態を</a:t>
            </a:r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「終了」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にする</a:t>
            </a:r>
            <a:endParaRPr lang="en-US" sz="1150" dirty="0"/>
          </a:p>
        </p:txBody>
      </p:sp>
      <p:sp>
        <p:nvSpPr>
          <p:cNvPr id="38" name="Shape 36"/>
          <p:cNvSpPr/>
          <p:nvPr/>
        </p:nvSpPr>
        <p:spPr>
          <a:xfrm>
            <a:off x="566928" y="7687691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39" name="Text 37"/>
          <p:cNvSpPr txBox="1"/>
          <p:nvPr/>
        </p:nvSpPr>
        <p:spPr>
          <a:xfrm>
            <a:off x="566928" y="7687691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40" name="Text 38"/>
          <p:cNvSpPr txBox="1"/>
          <p:nvPr/>
        </p:nvSpPr>
        <p:spPr>
          <a:xfrm>
            <a:off x="969264" y="7669403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総合アンケート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の設問を登録して公開する</a:t>
            </a:r>
            <a:endParaRPr lang="en-US" sz="1150" dirty="0"/>
          </a:p>
        </p:txBody>
      </p:sp>
      <p:sp>
        <p:nvSpPr>
          <p:cNvPr id="41" name="Shape 39"/>
          <p:cNvSpPr/>
          <p:nvPr/>
        </p:nvSpPr>
        <p:spPr>
          <a:xfrm>
            <a:off x="566928" y="8144891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42" name="Text 40"/>
          <p:cNvSpPr txBox="1"/>
          <p:nvPr/>
        </p:nvSpPr>
        <p:spPr>
          <a:xfrm>
            <a:off x="566928" y="8144891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43" name="Text 41"/>
          <p:cNvSpPr txBox="1"/>
          <p:nvPr/>
        </p:nvSpPr>
        <p:spPr>
          <a:xfrm>
            <a:off x="969264" y="8126603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案内メール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を送る</a:t>
            </a:r>
            <a:endParaRPr lang="en-US" sz="1150" dirty="0"/>
          </a:p>
        </p:txBody>
      </p:sp>
      <p:sp>
        <p:nvSpPr>
          <p:cNvPr id="44" name="Shape 42"/>
          <p:cNvSpPr/>
          <p:nvPr/>
        </p:nvSpPr>
        <p:spPr>
          <a:xfrm>
            <a:off x="566928" y="8602091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45" name="Text 43"/>
          <p:cNvSpPr txBox="1"/>
          <p:nvPr/>
        </p:nvSpPr>
        <p:spPr>
          <a:xfrm>
            <a:off x="566928" y="8602091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100" dirty="0"/>
          </a:p>
        </p:txBody>
      </p:sp>
      <p:sp>
        <p:nvSpPr>
          <p:cNvPr id="46" name="Text 44"/>
          <p:cNvSpPr txBox="1"/>
          <p:nvPr/>
        </p:nvSpPr>
        <p:spPr>
          <a:xfrm>
            <a:off x="969264" y="8583803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CSVで集計データ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を受け取る</a:t>
            </a:r>
            <a:endParaRPr lang="en-US" sz="1150" dirty="0"/>
          </a:p>
        </p:txBody>
      </p:sp>
      <p:sp>
        <p:nvSpPr>
          <p:cNvPr id="47" name="Shape 45"/>
          <p:cNvSpPr/>
          <p:nvPr/>
        </p:nvSpPr>
        <p:spPr>
          <a:xfrm>
            <a:off x="566928" y="9059291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48" name="Text 46"/>
          <p:cNvSpPr txBox="1"/>
          <p:nvPr/>
        </p:nvSpPr>
        <p:spPr>
          <a:xfrm>
            <a:off x="566928" y="9059291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100" dirty="0"/>
          </a:p>
        </p:txBody>
      </p:sp>
      <p:sp>
        <p:nvSpPr>
          <p:cNvPr id="49" name="Text 47"/>
          <p:cNvSpPr txBox="1"/>
          <p:nvPr/>
        </p:nvSpPr>
        <p:spPr>
          <a:xfrm>
            <a:off x="969264" y="9041003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メールアドレスを削除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する</a:t>
            </a:r>
            <a:endParaRPr lang="en-US" sz="1150" dirty="0"/>
          </a:p>
        </p:txBody>
      </p:sp>
      <p:sp>
        <p:nvSpPr>
          <p:cNvPr id="50" name="Shape 48"/>
          <p:cNvSpPr/>
          <p:nvPr/>
        </p:nvSpPr>
        <p:spPr>
          <a:xfrm>
            <a:off x="566928" y="9498203"/>
            <a:ext cx="6428232" cy="431102"/>
          </a:xfrm>
          <a:prstGeom prst="roundRect">
            <a:avLst>
              <a:gd name="adj" fmla="val 12726"/>
            </a:avLst>
          </a:prstGeom>
          <a:solidFill>
            <a:srgbClr val="E8ECF8"/>
          </a:solidFill>
          <a:ln w="9525">
            <a:solidFill>
              <a:srgbClr val="1E2761"/>
            </a:solidFill>
            <a:prstDash val="solid"/>
          </a:ln>
        </p:spPr>
      </p:sp>
      <p:sp>
        <p:nvSpPr>
          <p:cNvPr id="51" name="Text 49"/>
          <p:cNvSpPr txBox="1"/>
          <p:nvPr/>
        </p:nvSpPr>
        <p:spPr>
          <a:xfrm>
            <a:off x="658368" y="9589643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</a:t>
            </a:r>
            <a:endParaRPr lang="en-US" sz="1200" dirty="0"/>
          </a:p>
        </p:txBody>
      </p:sp>
      <p:sp>
        <p:nvSpPr>
          <p:cNvPr id="52" name="Text 50"/>
          <p:cNvSpPr txBox="1"/>
          <p:nvPr/>
        </p:nvSpPr>
        <p:spPr>
          <a:xfrm>
            <a:off x="950976" y="9607931"/>
            <a:ext cx="5925312" cy="2482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上から順に進めれば、迷わず運営できます。次のページから1つずつ説明します。</a:t>
            </a:r>
            <a:endParaRPr lang="en-US" sz="1050" dirty="0"/>
          </a:p>
        </p:txBody>
      </p:sp>
      <p:sp>
        <p:nvSpPr>
          <p:cNvPr id="53" name="Text 51"/>
          <p:cNvSpPr txBox="1"/>
          <p:nvPr/>
        </p:nvSpPr>
        <p:spPr>
          <a:xfrm>
            <a:off x="566928" y="10186416"/>
            <a:ext cx="64282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主催者向け　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57200"/>
            <a:ext cx="64282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主催者マニュアル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713232"/>
            <a:ext cx="64282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準備1：ログインとイベントの作成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591056"/>
            <a:ext cx="6428232" cy="2578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初めて使うとき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1922018"/>
            <a:ext cx="6428232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最初の1回だけ、主催者アカウントを作ります。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566928" y="2234311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66928" y="2234311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969264" y="2216023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ブラウザで </a:t>
            </a:r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`/admin/setup.php`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を開く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566928" y="2691511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566928" y="2691511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969264" y="2673223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ユーザー名・表示名・パスワード（8文字以上）を入力する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566928" y="3148711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566928" y="3148711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969264" y="3130423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「作成する」を押す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566928" y="3587623"/>
            <a:ext cx="6428232" cy="624459"/>
          </a:xfrm>
          <a:prstGeom prst="roundRect">
            <a:avLst>
              <a:gd name="adj" fmla="val 8786"/>
            </a:avLst>
          </a:prstGeom>
          <a:solidFill>
            <a:srgbClr val="FDF0E6"/>
          </a:solidFill>
          <a:ln w="9525">
            <a:solidFill>
              <a:srgbClr val="E08A3C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58368" y="3679063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25A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！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950976" y="3697351"/>
            <a:ext cx="5925312" cy="4415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この画面はアカウントが1つでも登録されると使えなくなります。パスワードは必ず控えてください。</a:t>
            </a:r>
            <a:endParaRPr lang="en-US" sz="1050" dirty="0"/>
          </a:p>
        </p:txBody>
      </p:sp>
      <p:sp>
        <p:nvSpPr>
          <p:cNvPr id="18" name="Text 16"/>
          <p:cNvSpPr txBox="1"/>
          <p:nvPr/>
        </p:nvSpPr>
        <p:spPr>
          <a:xfrm>
            <a:off x="566928" y="4394962"/>
            <a:ext cx="6428232" cy="2578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イベントを作る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566928" y="4744212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566928" y="474421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969264" y="4725924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ダッシュボードの「イベントを作成する」に</a:t>
            </a:r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イベント名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と</a:t>
            </a:r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開催日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を入力する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566928" y="5201412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566928" y="520141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24" name="Text 22"/>
          <p:cNvSpPr txBox="1"/>
          <p:nvPr/>
        </p:nvSpPr>
        <p:spPr>
          <a:xfrm>
            <a:off x="969264" y="5183124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「作成する」を押す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566928" y="5658612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566928" y="565861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27" name="Text 25"/>
          <p:cNvSpPr txBox="1"/>
          <p:nvPr/>
        </p:nvSpPr>
        <p:spPr>
          <a:xfrm>
            <a:off x="969264" y="5640324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作成直後の状態は</a:t>
            </a:r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「準備中」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です（この間は来場者はアンケートに回答できません）</a:t>
            </a:r>
            <a:endParaRPr lang="en-US" sz="1150" dirty="0"/>
          </a:p>
        </p:txBody>
      </p:sp>
      <p:pic>
        <p:nvPicPr>
          <p:cNvPr id="28" name="Image 0" descr="C:\Users\sato\Desktop\enque\docs\images\o-new-even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36779" y="6097524"/>
            <a:ext cx="5688531" cy="3474720"/>
          </a:xfrm>
          <a:prstGeom prst="rect">
            <a:avLst/>
          </a:prstGeom>
        </p:spPr>
      </p:pic>
      <p:sp>
        <p:nvSpPr>
          <p:cNvPr id="29" name="Text 26"/>
          <p:cNvSpPr txBox="1"/>
          <p:nvPr/>
        </p:nvSpPr>
        <p:spPr>
          <a:xfrm>
            <a:off x="566928" y="9627108"/>
            <a:ext cx="6428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ダッシュボードの「イベントを作成する」フォーム（イベント名・開催日の入力欄）。</a:t>
            </a:r>
            <a:endParaRPr lang="en-US" sz="950" dirty="0"/>
          </a:p>
        </p:txBody>
      </p:sp>
      <p:sp>
        <p:nvSpPr>
          <p:cNvPr id="30" name="Text 27"/>
          <p:cNvSpPr txBox="1"/>
          <p:nvPr/>
        </p:nvSpPr>
        <p:spPr>
          <a:xfrm>
            <a:off x="566928" y="10186416"/>
            <a:ext cx="64282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主催者向け　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57200"/>
            <a:ext cx="64282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主催者マニュアル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713232"/>
            <a:ext cx="64282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準備2：出展企業を登録する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481328"/>
            <a:ext cx="6428232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「企業・QR」の画面で、出展する企業を1社ずつ登録します。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566928" y="1793621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566928" y="1793621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969264" y="1775333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企業名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を入力する（必須）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566928" y="2250821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566928" y="2250821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969264" y="2232533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必要なら</a:t>
            </a:r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ブース番号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・</a:t>
            </a:r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企業カラー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・</a:t>
            </a:r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ロゴ画像のURL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を入れる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566928" y="2708021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566928" y="2708021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969264" y="2689733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「登録する」を押す</a:t>
            </a:r>
            <a:endParaRPr lang="en-US" sz="1150" dirty="0"/>
          </a:p>
        </p:txBody>
      </p:sp>
      <p:sp>
        <p:nvSpPr>
          <p:cNvPr id="14" name="Text 12"/>
          <p:cNvSpPr txBox="1"/>
          <p:nvPr/>
        </p:nvSpPr>
        <p:spPr>
          <a:xfrm>
            <a:off x="566928" y="3146933"/>
            <a:ext cx="6428232" cy="4599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登録すると、その企業だけの</a:t>
            </a:r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推測されにくいURL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が自動で発行されます。来場者はこのURLのQRコードからアンケートに回答します。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566928" y="3643503"/>
            <a:ext cx="6428232" cy="624459"/>
          </a:xfrm>
          <a:prstGeom prst="roundRect">
            <a:avLst>
              <a:gd name="adj" fmla="val 8786"/>
            </a:avLst>
          </a:prstGeom>
          <a:solidFill>
            <a:srgbClr val="E8ECF8"/>
          </a:solidFill>
          <a:ln w="9525">
            <a:solidFill>
              <a:srgbClr val="1E2761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58368" y="3734943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950976" y="3753231"/>
            <a:ext cx="5925312" cy="4415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企業カラーとロゴは、来場者が見るアンケート画面の見出しに使われます。空欄でも問題ありません。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566928" y="4341114"/>
            <a:ext cx="6428232" cy="624459"/>
          </a:xfrm>
          <a:prstGeom prst="roundRect">
            <a:avLst>
              <a:gd name="adj" fmla="val 8786"/>
            </a:avLst>
          </a:prstGeom>
          <a:solidFill>
            <a:srgbClr val="FDF0E6"/>
          </a:solidFill>
          <a:ln w="9525">
            <a:solidFill>
              <a:srgbClr val="E08A3C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658368" y="4432554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25A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！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950976" y="4450842"/>
            <a:ext cx="5925312" cy="4415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企業名を変えても回答データは残ります。ただし</a:t>
            </a:r>
            <a:pPr indent="0" marL="0">
              <a:lnSpc>
                <a:spcPct val="120000"/>
              </a:lnSpc>
              <a:buNone/>
            </a:pPr>
            <a:r>
              <a:rPr lang="en-US" sz="10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「URLを再発行」を押すと、印刷済みのQRコードは使えなくなります</a:t>
            </a:r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。貼り替えができるときだけ使ってください。</a:t>
            </a:r>
            <a:endParaRPr lang="en-US" sz="1050" dirty="0"/>
          </a:p>
        </p:txBody>
      </p:sp>
      <p:pic>
        <p:nvPicPr>
          <p:cNvPr id="21" name="Image 0" descr="C:\Users\sato\Desktop\enque\docs\images\o-companie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51646" y="5038725"/>
            <a:ext cx="5258795" cy="3474720"/>
          </a:xfrm>
          <a:prstGeom prst="rect">
            <a:avLst/>
          </a:prstGeom>
        </p:spPr>
      </p:pic>
      <p:sp>
        <p:nvSpPr>
          <p:cNvPr id="22" name="Text 19"/>
          <p:cNvSpPr txBox="1"/>
          <p:nvPr/>
        </p:nvSpPr>
        <p:spPr>
          <a:xfrm>
            <a:off x="566928" y="8568309"/>
            <a:ext cx="6428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「企業・QRコードの管理」画面。登録済みの企業が並んでいるところ。</a:t>
            </a:r>
            <a:endParaRPr lang="en-US" sz="950" dirty="0"/>
          </a:p>
        </p:txBody>
      </p:sp>
      <p:sp>
        <p:nvSpPr>
          <p:cNvPr id="23" name="Text 20"/>
          <p:cNvSpPr txBox="1"/>
          <p:nvPr/>
        </p:nvSpPr>
        <p:spPr>
          <a:xfrm>
            <a:off x="566928" y="10186416"/>
            <a:ext cx="64282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主催者向け　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57200"/>
            <a:ext cx="64282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主催者マニュアル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713232"/>
            <a:ext cx="64282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準備3：アンケートの設問を作る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591056"/>
            <a:ext cx="6428232" cy="2578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全社で共通の設問を使う場合（おすすめ）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66928" y="1940306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566928" y="194030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969264" y="1922018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「総合アンケート」の画面で</a:t>
            </a:r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「テンプレートを作成する」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を押す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566928" y="2397506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566928" y="239750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969264" y="2379218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共通で聞きたい設問（来場目的・所属業界など）を登録する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566928" y="2854706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566928" y="285470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969264" y="2836418"/>
            <a:ext cx="6025896" cy="47840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各企業のアンケート編集画面で</a:t>
            </a:r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「共通設問を取り込む」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を押すと、その企業の設問としてコピーされます</a:t>
            </a:r>
            <a:endParaRPr lang="en-US" sz="1150" dirty="0"/>
          </a:p>
        </p:txBody>
      </p:sp>
      <p:sp>
        <p:nvSpPr>
          <p:cNvPr id="14" name="Text 12"/>
          <p:cNvSpPr txBox="1"/>
          <p:nvPr/>
        </p:nvSpPr>
        <p:spPr>
          <a:xfrm>
            <a:off x="566928" y="3479419"/>
            <a:ext cx="6428232" cy="2578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企業ごとの設問を登録する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566928" y="3828669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566928" y="3828669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969264" y="3810381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「企業・QR」で対象企業の</a:t>
            </a:r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「アンケート編集」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を押す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566928" y="4285869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566928" y="4285869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20" name="Text 18"/>
          <p:cNvSpPr txBox="1"/>
          <p:nvPr/>
        </p:nvSpPr>
        <p:spPr>
          <a:xfrm>
            <a:off x="969264" y="4267581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タイトル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と、必要なら説明文を入れる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566928" y="4743069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566928" y="4743069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969264" y="4724781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設問文と</a:t>
            </a:r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種類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（単一選択・複数選択・自由記述・星評価・NPS・数値入力）を選ぶ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566928" y="5200269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566928" y="5200269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100" dirty="0"/>
          </a:p>
        </p:txBody>
      </p:sp>
      <p:sp>
        <p:nvSpPr>
          <p:cNvPr id="26" name="Text 24"/>
          <p:cNvSpPr txBox="1"/>
          <p:nvPr/>
        </p:nvSpPr>
        <p:spPr>
          <a:xfrm>
            <a:off x="969264" y="5181981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選択式の場合は、</a:t>
            </a:r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選択肢を1行に1つ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入力する</a:t>
            </a:r>
            <a:endParaRPr lang="en-US" sz="1150" dirty="0"/>
          </a:p>
        </p:txBody>
      </p:sp>
      <p:sp>
        <p:nvSpPr>
          <p:cNvPr id="27" name="Shape 25"/>
          <p:cNvSpPr/>
          <p:nvPr/>
        </p:nvSpPr>
        <p:spPr>
          <a:xfrm>
            <a:off x="566928" y="5657469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566928" y="5657469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100" dirty="0"/>
          </a:p>
        </p:txBody>
      </p:sp>
      <p:sp>
        <p:nvSpPr>
          <p:cNvPr id="29" name="Text 27"/>
          <p:cNvSpPr txBox="1"/>
          <p:nvPr/>
        </p:nvSpPr>
        <p:spPr>
          <a:xfrm>
            <a:off x="969264" y="5639181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必須にする場合はチェックを入れる</a:t>
            </a:r>
            <a:endParaRPr lang="en-US" sz="1150" dirty="0"/>
          </a:p>
        </p:txBody>
      </p:sp>
      <p:sp>
        <p:nvSpPr>
          <p:cNvPr id="30" name="Shape 28"/>
          <p:cNvSpPr/>
          <p:nvPr/>
        </p:nvSpPr>
        <p:spPr>
          <a:xfrm>
            <a:off x="566928" y="6114669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31" name="Text 29"/>
          <p:cNvSpPr txBox="1"/>
          <p:nvPr/>
        </p:nvSpPr>
        <p:spPr>
          <a:xfrm>
            <a:off x="566928" y="6114669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100" dirty="0"/>
          </a:p>
        </p:txBody>
      </p:sp>
      <p:sp>
        <p:nvSpPr>
          <p:cNvPr id="32" name="Text 30"/>
          <p:cNvSpPr txBox="1"/>
          <p:nvPr/>
        </p:nvSpPr>
        <p:spPr>
          <a:xfrm>
            <a:off x="969264" y="6096381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「保存して設問を追加」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を押すと、続けて次の設問を入力できます</a:t>
            </a:r>
            <a:endParaRPr lang="en-US" sz="1150" dirty="0"/>
          </a:p>
        </p:txBody>
      </p:sp>
      <p:sp>
        <p:nvSpPr>
          <p:cNvPr id="33" name="Shape 31"/>
          <p:cNvSpPr/>
          <p:nvPr/>
        </p:nvSpPr>
        <p:spPr>
          <a:xfrm>
            <a:off x="566928" y="6571869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566928" y="6571869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100" dirty="0"/>
          </a:p>
        </p:txBody>
      </p:sp>
      <p:sp>
        <p:nvSpPr>
          <p:cNvPr id="35" name="Text 33"/>
          <p:cNvSpPr txBox="1"/>
          <p:nvPr/>
        </p:nvSpPr>
        <p:spPr>
          <a:xfrm>
            <a:off x="969264" y="6553581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すべて入れ終わったら</a:t>
            </a:r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「公開する」にチェックを入れて保存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する</a:t>
            </a:r>
            <a:endParaRPr lang="en-US" sz="1150" dirty="0"/>
          </a:p>
        </p:txBody>
      </p:sp>
      <p:sp>
        <p:nvSpPr>
          <p:cNvPr id="36" name="Shape 34"/>
          <p:cNvSpPr/>
          <p:nvPr/>
        </p:nvSpPr>
        <p:spPr>
          <a:xfrm>
            <a:off x="566928" y="7010781"/>
            <a:ext cx="6428232" cy="624459"/>
          </a:xfrm>
          <a:prstGeom prst="roundRect">
            <a:avLst>
              <a:gd name="adj" fmla="val 8786"/>
            </a:avLst>
          </a:prstGeom>
          <a:solidFill>
            <a:srgbClr val="E8ECF8"/>
          </a:solidFill>
          <a:ln w="9525">
            <a:solidFill>
              <a:srgbClr val="1E2761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658368" y="7102221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</a:t>
            </a:r>
            <a:endParaRPr lang="en-US" sz="1200" dirty="0"/>
          </a:p>
        </p:txBody>
      </p:sp>
      <p:sp>
        <p:nvSpPr>
          <p:cNvPr id="38" name="Text 36"/>
          <p:cNvSpPr txBox="1"/>
          <p:nvPr/>
        </p:nvSpPr>
        <p:spPr>
          <a:xfrm>
            <a:off x="950976" y="7120509"/>
            <a:ext cx="5925312" cy="4415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「保存して設問を追加」を押すと、画面が追加した設問の位置に移動します。そのまま次の設問文を入力できます。</a:t>
            </a:r>
            <a:endParaRPr lang="en-US" sz="1050" dirty="0"/>
          </a:p>
        </p:txBody>
      </p:sp>
      <p:sp>
        <p:nvSpPr>
          <p:cNvPr id="39" name="Shape 37"/>
          <p:cNvSpPr/>
          <p:nvPr/>
        </p:nvSpPr>
        <p:spPr>
          <a:xfrm>
            <a:off x="566928" y="7708392"/>
            <a:ext cx="6428232" cy="624459"/>
          </a:xfrm>
          <a:prstGeom prst="roundRect">
            <a:avLst>
              <a:gd name="adj" fmla="val 8786"/>
            </a:avLst>
          </a:prstGeom>
          <a:solidFill>
            <a:srgbClr val="FDF0E6"/>
          </a:solidFill>
          <a:ln w="9525">
            <a:solidFill>
              <a:srgbClr val="E08A3C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658368" y="7799832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25A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！</a:t>
            </a:r>
            <a:endParaRPr lang="en-US" sz="1200" dirty="0"/>
          </a:p>
        </p:txBody>
      </p:sp>
      <p:sp>
        <p:nvSpPr>
          <p:cNvPr id="41" name="Text 39"/>
          <p:cNvSpPr txBox="1"/>
          <p:nvPr/>
        </p:nvSpPr>
        <p:spPr>
          <a:xfrm>
            <a:off x="950976" y="7818120"/>
            <a:ext cx="5925312" cy="4415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公開にチェックを入れないと、QRコードを読んでも回答できません。設問を削除すると、その設問への回答も一緒に消えます。</a:t>
            </a:r>
            <a:endParaRPr lang="en-US" sz="1050" dirty="0"/>
          </a:p>
        </p:txBody>
      </p:sp>
      <p:sp>
        <p:nvSpPr>
          <p:cNvPr id="42" name="Text 40"/>
          <p:cNvSpPr txBox="1"/>
          <p:nvPr/>
        </p:nvSpPr>
        <p:spPr>
          <a:xfrm>
            <a:off x="566928" y="10186416"/>
            <a:ext cx="64282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主催者向け　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57200"/>
            <a:ext cx="64282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主催者マニュアル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713232"/>
            <a:ext cx="64282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準備3：アンケートの設問を作る（つづき）</a:t>
            </a:r>
            <a:endParaRPr lang="en-US" sz="2200" dirty="0"/>
          </a:p>
        </p:txBody>
      </p:sp>
      <p:pic>
        <p:nvPicPr>
          <p:cNvPr id="4" name="Image 0" descr="C:\Users\sato\Desktop\enque\docs\images\o-survey-edi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140821" y="1481328"/>
            <a:ext cx="3280447" cy="347472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66928" y="5010912"/>
            <a:ext cx="6428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アンケート編集画面。設問の入力欄と「公開する」のチェックボックスが見えるもの。</a:t>
            </a:r>
            <a:endParaRPr lang="en-US" sz="950" dirty="0"/>
          </a:p>
        </p:txBody>
      </p:sp>
      <p:sp>
        <p:nvSpPr>
          <p:cNvPr id="6" name="Text 3"/>
          <p:cNvSpPr txBox="1"/>
          <p:nvPr/>
        </p:nvSpPr>
        <p:spPr>
          <a:xfrm>
            <a:off x="566928" y="10186416"/>
            <a:ext cx="64282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主催者向け　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57200"/>
            <a:ext cx="64282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主催者マニュアル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713232"/>
            <a:ext cx="64282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準備4：QRコードを印刷する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566928" y="1499616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566928" y="149961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969264" y="1481328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「企業・QR」の画面で</a:t>
            </a:r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「QRコードを印刷する（全社）」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を押す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566928" y="1956816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66928" y="195681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969264" y="1938528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内容を確認して</a:t>
            </a:r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「印刷する」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を押す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566928" y="2414016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566928" y="241401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969264" y="2395728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印刷ダイアログで</a:t>
            </a:r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「PDFとして保存」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を選べばPDFになります</a:t>
            </a:r>
            <a:endParaRPr lang="en-US" sz="1150" dirty="0"/>
          </a:p>
        </p:txBody>
      </p:sp>
      <p:sp>
        <p:nvSpPr>
          <p:cNvPr id="13" name="Text 11"/>
          <p:cNvSpPr txBox="1"/>
          <p:nvPr/>
        </p:nvSpPr>
        <p:spPr>
          <a:xfrm>
            <a:off x="566928" y="2852928"/>
            <a:ext cx="6428232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A4縦・1ページに4社ぶん並びます。企業名・ブース番号・QRコード・URLが入っています。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66928" y="3146933"/>
            <a:ext cx="6428232" cy="624459"/>
          </a:xfrm>
          <a:prstGeom prst="roundRect">
            <a:avLst>
              <a:gd name="adj" fmla="val 8786"/>
            </a:avLst>
          </a:prstGeom>
          <a:solidFill>
            <a:srgbClr val="FDF0E6"/>
          </a:solidFill>
          <a:ln w="9525">
            <a:solidFill>
              <a:srgbClr val="E08A3C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58368" y="3238373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25A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！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950976" y="3256661"/>
            <a:ext cx="5925312" cy="4415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印刷の前に、</a:t>
            </a:r>
            <a:pPr indent="0" marL="0">
              <a:lnSpc>
                <a:spcPct val="120000"/>
              </a:lnSpc>
              <a:buNone/>
            </a:pPr>
            <a:r>
              <a:rPr lang="en-US" sz="10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URLが本番のもの（https://…）になっているか</a:t>
            </a:r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を必ず確認してください。設定が違うと、読み取っても開けないQRコードを配ることになります。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566928" y="3844544"/>
            <a:ext cx="6428232" cy="431102"/>
          </a:xfrm>
          <a:prstGeom prst="roundRect">
            <a:avLst>
              <a:gd name="adj" fmla="val 12726"/>
            </a:avLst>
          </a:prstGeom>
          <a:solidFill>
            <a:srgbClr val="E8ECF8"/>
          </a:solidFill>
          <a:ln w="9525">
            <a:solidFill>
              <a:srgbClr val="1E2761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658368" y="3935984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950976" y="3954272"/>
            <a:ext cx="5925312" cy="2482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1社だけ刷り直したいときは、その企業の「QR」ボタンから同じ画面を開けます。</a:t>
            </a:r>
            <a:endParaRPr lang="en-US" sz="1050" dirty="0"/>
          </a:p>
        </p:txBody>
      </p:sp>
      <p:pic>
        <p:nvPicPr>
          <p:cNvPr id="20" name="Image 0" descr="C:\Users\sato\Desktop\enque\docs\images\o-qr-prin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4348798"/>
            <a:ext cx="6428232" cy="3181485"/>
          </a:xfrm>
          <a:prstGeom prst="rect">
            <a:avLst/>
          </a:prstGeom>
        </p:spPr>
      </p:pic>
      <p:sp>
        <p:nvSpPr>
          <p:cNvPr id="21" name="Text 18"/>
          <p:cNvSpPr txBox="1"/>
          <p:nvPr/>
        </p:nvSpPr>
        <p:spPr>
          <a:xfrm>
            <a:off x="566928" y="7585147"/>
            <a:ext cx="6428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QRコード印刷ページ。企業名とQRコードが並んでいるところ。</a:t>
            </a:r>
            <a:endParaRPr lang="en-US" sz="950" dirty="0"/>
          </a:p>
        </p:txBody>
      </p:sp>
      <p:sp>
        <p:nvSpPr>
          <p:cNvPr id="22" name="Text 19"/>
          <p:cNvSpPr txBox="1"/>
          <p:nvPr/>
        </p:nvSpPr>
        <p:spPr>
          <a:xfrm>
            <a:off x="566928" y="10186416"/>
            <a:ext cx="64282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主催者向け　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57200"/>
            <a:ext cx="64282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主催者マニュアル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713232"/>
            <a:ext cx="64282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準備5：景品を登録する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481328"/>
            <a:ext cx="6428232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受付が交換時に選べるよう、渡す景品を登録します。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566928" y="1793621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566928" y="1793621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969264" y="1775333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「景品」の画面を開く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566928" y="2250821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566928" y="2250821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969264" y="2232533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景品名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と、</a:t>
            </a:r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用意した数量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を入力する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566928" y="2708021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566928" y="2708021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969264" y="2689733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必要ならメモ（例：先着100名）を入れる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566928" y="3165221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566928" y="3165221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969264" y="3146933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「登録する」を押す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566928" y="3604133"/>
            <a:ext cx="6428232" cy="624459"/>
          </a:xfrm>
          <a:prstGeom prst="roundRect">
            <a:avLst>
              <a:gd name="adj" fmla="val 8786"/>
            </a:avLst>
          </a:prstGeom>
          <a:solidFill>
            <a:srgbClr val="E8ECF8"/>
          </a:solidFill>
          <a:ln w="9525">
            <a:solidFill>
              <a:srgbClr val="1E2761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658368" y="3695573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950976" y="3713861"/>
            <a:ext cx="5925312" cy="4415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数量を</a:t>
            </a:r>
            <a:pPr indent="0" marL="0">
              <a:lnSpc>
                <a:spcPct val="120000"/>
              </a:lnSpc>
              <a:buNone/>
            </a:pPr>
            <a:r>
              <a:rPr lang="en-US" sz="10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空欄</a:t>
            </a:r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にすると「数量を管理しない景品」になります（数えないノベルティなど）。残数は「—」と表示されます。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566928" y="4301744"/>
            <a:ext cx="6428232" cy="624459"/>
          </a:xfrm>
          <a:prstGeom prst="roundRect">
            <a:avLst>
              <a:gd name="adj" fmla="val 8786"/>
            </a:avLst>
          </a:prstGeom>
          <a:solidFill>
            <a:srgbClr val="FDF0E6"/>
          </a:solidFill>
          <a:ln w="9525">
            <a:solidFill>
              <a:srgbClr val="E08A3C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658368" y="4393184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25A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！</a:t>
            </a:r>
            <a:endParaRPr lang="en-US" sz="1200" dirty="0"/>
          </a:p>
        </p:txBody>
      </p:sp>
      <p:sp>
        <p:nvSpPr>
          <p:cNvPr id="22" name="Text 20"/>
          <p:cNvSpPr txBox="1"/>
          <p:nvPr/>
        </p:nvSpPr>
        <p:spPr>
          <a:xfrm>
            <a:off x="950976" y="4411472"/>
            <a:ext cx="5925312" cy="4415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景品を1件でも登録すると、受付が交換を記録するときに</a:t>
            </a:r>
            <a:pPr indent="0" marL="0">
              <a:lnSpc>
                <a:spcPct val="120000"/>
              </a:lnSpc>
              <a:buNone/>
            </a:pPr>
            <a:r>
              <a:rPr lang="en-US" sz="10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景品の選択が必須</a:t>
            </a:r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になります（何を渡したか残すため）。</a:t>
            </a:r>
            <a:endParaRPr lang="en-US" sz="1050" dirty="0"/>
          </a:p>
        </p:txBody>
      </p:sp>
      <p:pic>
        <p:nvPicPr>
          <p:cNvPr id="23" name="Image 0" descr="C:\Users\sato\Desktop\enque\docs\images\o-prize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81602" y="4999355"/>
            <a:ext cx="5198885" cy="3474720"/>
          </a:xfrm>
          <a:prstGeom prst="rect">
            <a:avLst/>
          </a:prstGeom>
        </p:spPr>
      </p:pic>
      <p:sp>
        <p:nvSpPr>
          <p:cNvPr id="24" name="Text 21"/>
          <p:cNvSpPr txBox="1"/>
          <p:nvPr/>
        </p:nvSpPr>
        <p:spPr>
          <a:xfrm>
            <a:off x="566928" y="8528939"/>
            <a:ext cx="6428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「景品の登録」画面。登録済みの景品と残数が見えるもの。</a:t>
            </a:r>
            <a:endParaRPr lang="en-US" sz="950" dirty="0"/>
          </a:p>
        </p:txBody>
      </p:sp>
      <p:sp>
        <p:nvSpPr>
          <p:cNvPr id="25" name="Text 22"/>
          <p:cNvSpPr txBox="1"/>
          <p:nvPr/>
        </p:nvSpPr>
        <p:spPr>
          <a:xfrm>
            <a:off x="566928" y="10186416"/>
            <a:ext cx="64282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主催者向け　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57200"/>
            <a:ext cx="64282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主催者マニュアル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713232"/>
            <a:ext cx="64282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準備6：アカウントを発行する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481328"/>
            <a:ext cx="6428232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「ユーザー」の画面で、企業担当者と総合受付のアカウントを作ります。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566928" y="1793621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566928" y="1793621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969264" y="1775333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ユーザー名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（半角英数字）・</a:t>
            </a:r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表示名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・</a:t>
            </a:r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初期パスワード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を入力する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566928" y="2250821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566928" y="2250821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969264" y="2232533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役割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を選ぶ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566928" y="2708021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566928" y="2708021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969264" y="2689733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企業担当者の場合は、</a:t>
            </a:r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担当する企業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を選ぶ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566928" y="3165221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566928" y="3165221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969264" y="3146933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「作成する」を押し、ユーザー名とパスワードを本人に伝える</a:t>
            </a:r>
            <a:endParaRPr lang="en-US" sz="1150" dirty="0"/>
          </a:p>
        </p:txBody>
      </p:sp>
      <p:sp>
        <p:nvSpPr>
          <p:cNvPr id="17" name="Text 15"/>
          <p:cNvSpPr txBox="1"/>
          <p:nvPr/>
        </p:nvSpPr>
        <p:spPr>
          <a:xfrm>
            <a:off x="566928" y="3713861"/>
            <a:ext cx="6428232" cy="2578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役割の違い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713232" y="4044823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主催者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：すべての操作ができます</a:t>
            </a:r>
            <a:endParaRPr lang="en-US" sz="1100" dirty="0"/>
          </a:p>
        </p:txBody>
      </p:sp>
      <p:sp>
        <p:nvSpPr>
          <p:cNvPr id="19" name="Text 17"/>
          <p:cNvSpPr txBox="1"/>
          <p:nvPr/>
        </p:nvSpPr>
        <p:spPr>
          <a:xfrm>
            <a:off x="713232" y="4320540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企業担当者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：自社のアンケート編集・集計・CSVのみ。</a:t>
            </a:r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他社のデータは見えません</a:t>
            </a:r>
            <a:endParaRPr lang="en-US" sz="1100" dirty="0"/>
          </a:p>
        </p:txBody>
      </p:sp>
      <p:sp>
        <p:nvSpPr>
          <p:cNvPr id="20" name="Text 18"/>
          <p:cNvSpPr txBox="1"/>
          <p:nvPr/>
        </p:nvSpPr>
        <p:spPr>
          <a:xfrm>
            <a:off x="713232" y="4596257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総合受付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：景品交換の照会と記録のみ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566928" y="4871974"/>
            <a:ext cx="6428232" cy="624459"/>
          </a:xfrm>
          <a:prstGeom prst="roundRect">
            <a:avLst>
              <a:gd name="adj" fmla="val 8786"/>
            </a:avLst>
          </a:prstGeom>
          <a:solidFill>
            <a:srgbClr val="FDF0E6"/>
          </a:solidFill>
          <a:ln w="9525">
            <a:solidFill>
              <a:srgbClr val="E08A3C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658368" y="4963414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25A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！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950976" y="4981702"/>
            <a:ext cx="5925312" cy="4415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受付担当のスマートフォンでは、</a:t>
            </a:r>
            <a:pPr indent="0" marL="0">
              <a:lnSpc>
                <a:spcPct val="120000"/>
              </a:lnSpc>
              <a:buNone/>
            </a:pPr>
            <a:r>
              <a:rPr lang="en-US" sz="10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当日までにログインを済ませておいてください</a:t>
            </a:r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。ログイン済みの端末で来場者のQRを読み取ると、すぐに交換画面が開きます。</a:t>
            </a:r>
            <a:endParaRPr lang="en-US" sz="1050" dirty="0"/>
          </a:p>
        </p:txBody>
      </p:sp>
      <p:pic>
        <p:nvPicPr>
          <p:cNvPr id="24" name="Image 0" descr="C:\Users\sato\Desktop\enque\docs\images\o-user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18332" y="5569585"/>
            <a:ext cx="3525424" cy="3474720"/>
          </a:xfrm>
          <a:prstGeom prst="rect">
            <a:avLst/>
          </a:prstGeom>
        </p:spPr>
      </p:pic>
      <p:sp>
        <p:nvSpPr>
          <p:cNvPr id="25" name="Text 22"/>
          <p:cNvSpPr txBox="1"/>
          <p:nvPr/>
        </p:nvSpPr>
        <p:spPr>
          <a:xfrm>
            <a:off x="566928" y="9099169"/>
            <a:ext cx="6428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「管理ユーザー」の画面。登録済みのアカウント一覧。</a:t>
            </a:r>
            <a:endParaRPr lang="en-US" sz="950" dirty="0"/>
          </a:p>
        </p:txBody>
      </p:sp>
      <p:sp>
        <p:nvSpPr>
          <p:cNvPr id="26" name="Text 23"/>
          <p:cNvSpPr txBox="1"/>
          <p:nvPr/>
        </p:nvSpPr>
        <p:spPr>
          <a:xfrm>
            <a:off x="566928" y="10186416"/>
            <a:ext cx="64282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主催者向け　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57200"/>
            <a:ext cx="64282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主催者マニュアル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713232"/>
            <a:ext cx="64282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準備7：スマホ壁紙を登録する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481328"/>
            <a:ext cx="6428232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総合アンケートに回答した方へのプレゼントです。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566928" y="1793621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566928" y="1793621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969264" y="1775333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「壁紙」の画面を開く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566928" y="2250821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566928" y="2250821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969264" y="2232533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タイトル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を入れ、</a:t>
            </a:r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画像ファイル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（PNG または JPEG、12MBまで）を選ぶ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566928" y="2708021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566928" y="2708021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969264" y="2689733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「登録する」を押す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566928" y="3146933"/>
            <a:ext cx="6428232" cy="624459"/>
          </a:xfrm>
          <a:prstGeom prst="roundRect">
            <a:avLst>
              <a:gd name="adj" fmla="val 8786"/>
            </a:avLst>
          </a:prstGeom>
          <a:solidFill>
            <a:srgbClr val="E8ECF8"/>
          </a:solidFill>
          <a:ln w="9525">
            <a:solidFill>
              <a:srgbClr val="1E2761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58368" y="3238373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950976" y="3256661"/>
            <a:ext cx="5925312" cy="4415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スマートフォンの画面比に合わせた</a:t>
            </a:r>
            <a:pPr indent="0" marL="0">
              <a:lnSpc>
                <a:spcPct val="120000"/>
              </a:lnSpc>
              <a:buNone/>
            </a:pPr>
            <a:r>
              <a:rPr lang="en-US" sz="10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縦長の画像</a:t>
            </a:r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（例：1080×2340）を1〜2種類登録しておくと親切です。</a:t>
            </a:r>
            <a:endParaRPr lang="en-US" sz="1050" dirty="0"/>
          </a:p>
        </p:txBody>
      </p:sp>
      <p:pic>
        <p:nvPicPr>
          <p:cNvPr id="17" name="Image 0" descr="C:\Users\sato\Desktop\enque\docs\images\o-wallpaper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51646" y="3844544"/>
            <a:ext cx="5258795" cy="3474720"/>
          </a:xfrm>
          <a:prstGeom prst="rect">
            <a:avLst/>
          </a:prstGeom>
        </p:spPr>
      </p:pic>
      <p:sp>
        <p:nvSpPr>
          <p:cNvPr id="18" name="Text 15"/>
          <p:cNvSpPr txBox="1"/>
          <p:nvPr/>
        </p:nvSpPr>
        <p:spPr>
          <a:xfrm>
            <a:off x="566928" y="7374128"/>
            <a:ext cx="6428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「スマホ壁紙の登録」画面。登録済みの壁紙が並んでいるところ。</a:t>
            </a:r>
            <a:endParaRPr lang="en-US" sz="950" dirty="0"/>
          </a:p>
        </p:txBody>
      </p:sp>
      <p:sp>
        <p:nvSpPr>
          <p:cNvPr id="19" name="Text 16"/>
          <p:cNvSpPr txBox="1"/>
          <p:nvPr/>
        </p:nvSpPr>
        <p:spPr>
          <a:xfrm>
            <a:off x="566928" y="10186416"/>
            <a:ext cx="64282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主催者向け　10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57200"/>
            <a:ext cx="64282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主催者マニュアル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713232"/>
            <a:ext cx="64282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当日：受付を開始する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566928" y="1499616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566928" y="149961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969264" y="1481328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ダッシュボードの「イベント設定」で、状態を</a:t>
            </a:r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「開催中（回答受付）」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に変える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566928" y="1956816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66928" y="195681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969264" y="1938528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「保存する」を押す</a:t>
            </a:r>
            <a:endParaRPr lang="en-US" sz="1150" dirty="0"/>
          </a:p>
        </p:txBody>
      </p:sp>
      <p:sp>
        <p:nvSpPr>
          <p:cNvPr id="10" name="Text 8"/>
          <p:cNvSpPr txBox="1"/>
          <p:nvPr/>
        </p:nvSpPr>
        <p:spPr>
          <a:xfrm>
            <a:off x="566928" y="2395728"/>
            <a:ext cx="6428232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これで、ブースのQRコードからアンケートに回答できるようになります。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566928" y="2689733"/>
            <a:ext cx="6428232" cy="624459"/>
          </a:xfrm>
          <a:prstGeom prst="roundRect">
            <a:avLst>
              <a:gd name="adj" fmla="val 8786"/>
            </a:avLst>
          </a:prstGeom>
          <a:solidFill>
            <a:srgbClr val="FDF0E6"/>
          </a:solidFill>
          <a:ln w="9525">
            <a:solidFill>
              <a:srgbClr val="E08A3C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58368" y="2781173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25A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！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950976" y="2799461"/>
            <a:ext cx="5925312" cy="4415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「準備中」「終了」のままだと、QRコードを読んでも「受付を終了しました」と表示されます。</a:t>
            </a:r>
            <a:pPr indent="0" marL="0">
              <a:lnSpc>
                <a:spcPct val="120000"/>
              </a:lnSpc>
              <a:buNone/>
            </a:pPr>
            <a:r>
              <a:rPr lang="en-US" sz="10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当日の朝、必ず「開催中」に切り替えてください。</a:t>
            </a:r>
            <a:endParaRPr lang="en-US" sz="1050" dirty="0"/>
          </a:p>
        </p:txBody>
      </p:sp>
      <p:sp>
        <p:nvSpPr>
          <p:cNvPr id="14" name="Text 12"/>
          <p:cNvSpPr txBox="1"/>
          <p:nvPr/>
        </p:nvSpPr>
        <p:spPr>
          <a:xfrm>
            <a:off x="566928" y="3497072"/>
            <a:ext cx="6428232" cy="2578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来場者の流れ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566928" y="3846322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566928" y="384632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969264" y="3828034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ブースのQRコードを読み取る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566928" y="4303522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566928" y="430352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20" name="Text 18"/>
          <p:cNvSpPr txBox="1"/>
          <p:nvPr/>
        </p:nvSpPr>
        <p:spPr>
          <a:xfrm>
            <a:off x="969264" y="4285234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アンケートに回答して送信する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566928" y="4760722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566928" y="476072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969264" y="4742434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交換コード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が表示される（総合受付で提示すると景品と交換できます）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566928" y="5217922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566928" y="521792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100" dirty="0"/>
          </a:p>
        </p:txBody>
      </p:sp>
      <p:sp>
        <p:nvSpPr>
          <p:cNvPr id="26" name="Text 24"/>
          <p:cNvSpPr txBox="1"/>
          <p:nvPr/>
        </p:nvSpPr>
        <p:spPr>
          <a:xfrm>
            <a:off x="969264" y="5199634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任意でメールアドレスを登録すると、後日ご案内が届きます</a:t>
            </a:r>
            <a:endParaRPr lang="en-US" sz="1150" dirty="0"/>
          </a:p>
        </p:txBody>
      </p:sp>
      <p:pic>
        <p:nvPicPr>
          <p:cNvPr id="27" name="Image 0" descr="C:\Users\sato\Desktop\enque\docs\images\o-event-settin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91874" y="5656834"/>
            <a:ext cx="5978339" cy="3474720"/>
          </a:xfrm>
          <a:prstGeom prst="rect">
            <a:avLst/>
          </a:prstGeom>
        </p:spPr>
      </p:pic>
      <p:sp>
        <p:nvSpPr>
          <p:cNvPr id="28" name="Text 25"/>
          <p:cNvSpPr txBox="1"/>
          <p:nvPr/>
        </p:nvSpPr>
        <p:spPr>
          <a:xfrm>
            <a:off x="566928" y="9186418"/>
            <a:ext cx="6428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ダッシュボードの「イベント設定」。状態が「開催中（回答受付）」になっているところ。</a:t>
            </a:r>
            <a:endParaRPr lang="en-US" sz="950" dirty="0"/>
          </a:p>
        </p:txBody>
      </p:sp>
      <p:sp>
        <p:nvSpPr>
          <p:cNvPr id="29" name="Text 26"/>
          <p:cNvSpPr txBox="1"/>
          <p:nvPr/>
        </p:nvSpPr>
        <p:spPr>
          <a:xfrm>
            <a:off x="566928" y="10186416"/>
            <a:ext cx="64282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主催者向け　11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57200"/>
            <a:ext cx="64282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主催者マニュアル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713232"/>
            <a:ext cx="64282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当日：回答状況を見る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481328"/>
            <a:ext cx="6428232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ダッシュボードでは、次の数字がリアルタイムで確認できます。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713232" y="1775333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ユニーク来場者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：アンケート画面を開いた端末の数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713232" y="2051050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回答した来場者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：実際に送信した人数（同じ方は何社回っても1人）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713232" y="2326767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のべ来場者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：アンケートで聞いた来場人数の合計（1組3人が3社回れば9人）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713232" y="2602484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実来場者（推計）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：同じ来場者を1回だけ数えた人数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713232" y="2878201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総回答数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（重複を除いた件数）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713232" y="3153918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平均訪問企業数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：1人あたり何社まわったか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713232" y="3429635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メール登録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：総合アンケートの案内先の数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713232" y="3705352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交換コード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：発行数と交換済みの数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566928" y="3981069"/>
            <a:ext cx="6428232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下には</a:t>
            </a:r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時間帯別の回答数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のグラフと、</a:t>
            </a:r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企業別の回答数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の一覧が出ます。一覧の最下段の合計行にある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566928" y="4275074"/>
            <a:ext cx="6428232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「回答者数」の合計は</a:t>
            </a:r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のべ訪問数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（何社ぶんの回答が集まったか）です。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566928" y="4569079"/>
            <a:ext cx="6428232" cy="431102"/>
          </a:xfrm>
          <a:prstGeom prst="roundRect">
            <a:avLst>
              <a:gd name="adj" fmla="val 12726"/>
            </a:avLst>
          </a:prstGeom>
          <a:solidFill>
            <a:srgbClr val="E8ECF8"/>
          </a:solidFill>
          <a:ln w="9525">
            <a:solidFill>
              <a:srgbClr val="1E2761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58368" y="4660519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950976" y="4678807"/>
            <a:ext cx="5925312" cy="2482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企業別の一覧から、その企業の「集計」や「回答一覧」を開けます。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566928" y="5073333"/>
            <a:ext cx="6428232" cy="431102"/>
          </a:xfrm>
          <a:prstGeom prst="roundRect">
            <a:avLst>
              <a:gd name="adj" fmla="val 12726"/>
            </a:avLst>
          </a:prstGeom>
          <a:solidFill>
            <a:srgbClr val="E8ECF8"/>
          </a:solidFill>
          <a:ln w="9525">
            <a:solidFill>
              <a:srgbClr val="1E2761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658368" y="5164773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950976" y="5183061"/>
            <a:ext cx="5925312" cy="2482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来場人数は任意回答です。未回答のぶんは、同じ来場者が別の企業で答えた人数などから補って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566928" y="5577586"/>
            <a:ext cx="6428232" cy="431102"/>
          </a:xfrm>
          <a:prstGeom prst="roundRect">
            <a:avLst>
              <a:gd name="adj" fmla="val 12726"/>
            </a:avLst>
          </a:prstGeom>
          <a:solidFill>
            <a:srgbClr val="E8ECF8"/>
          </a:solidFill>
          <a:ln w="9525">
            <a:solidFill>
              <a:srgbClr val="1E2761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658368" y="5669026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950976" y="5687314"/>
            <a:ext cx="5925312" cy="2482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計算しています（回答率も画面に出ます）。</a:t>
            </a:r>
            <a:endParaRPr lang="en-US" sz="1050" dirty="0"/>
          </a:p>
        </p:txBody>
      </p:sp>
      <p:pic>
        <p:nvPicPr>
          <p:cNvPr id="24" name="Image 0" descr="C:\Users\sato\Desktop\enque\docs\images\o-dashboard-to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081840"/>
            <a:ext cx="6428232" cy="2316774"/>
          </a:xfrm>
          <a:prstGeom prst="rect">
            <a:avLst/>
          </a:prstGeom>
        </p:spPr>
      </p:pic>
      <p:sp>
        <p:nvSpPr>
          <p:cNvPr id="25" name="Text 22"/>
          <p:cNvSpPr txBox="1"/>
          <p:nvPr/>
        </p:nvSpPr>
        <p:spPr>
          <a:xfrm>
            <a:off x="566928" y="8453477"/>
            <a:ext cx="6428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主催者ダッシュボードの上部。数字のタイルが並んでいるところ。</a:t>
            </a:r>
            <a:endParaRPr lang="en-US" sz="950" dirty="0"/>
          </a:p>
        </p:txBody>
      </p:sp>
      <p:sp>
        <p:nvSpPr>
          <p:cNvPr id="26" name="Text 23"/>
          <p:cNvSpPr txBox="1"/>
          <p:nvPr/>
        </p:nvSpPr>
        <p:spPr>
          <a:xfrm>
            <a:off x="566928" y="10186416"/>
            <a:ext cx="64282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主催者向け　12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57200"/>
            <a:ext cx="64282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主催者マニュアル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713232"/>
            <a:ext cx="64282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当日：回答者の傾向を見る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481328"/>
            <a:ext cx="6428232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「回答者傾向」の画面では、来場者の動きが分かります。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713232" y="1775333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周回時間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：最初の回答から最後の回答までの平均・中央値・最長・最短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713232" y="2051050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周回企業数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：平均と、何社まわった人が何人いたかの分布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713232" y="2326767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企業をまわる順番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：企業ごとの「平均何番目に回られたか」「最初に回られた人数」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713232" y="2602484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よくある動線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：「A社の次にB社」の多い組み合わせ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713232" y="2878201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時間帯別のユニーク来場者数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713232" y="3153918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回答率・メール登録率・景品交換率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など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566928" y="3429635"/>
            <a:ext cx="6428232" cy="624459"/>
          </a:xfrm>
          <a:prstGeom prst="roundRect">
            <a:avLst>
              <a:gd name="adj" fmla="val 8786"/>
            </a:avLst>
          </a:prstGeom>
          <a:solidFill>
            <a:srgbClr val="E8ECF8"/>
          </a:solidFill>
          <a:ln w="9525">
            <a:solidFill>
              <a:srgbClr val="1E2761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58368" y="3521075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950976" y="3539363"/>
            <a:ext cx="5925312" cy="4415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「周回時間」は最初と最後の回答の間隔で、</a:t>
            </a:r>
            <a:pPr indent="0" marL="0">
              <a:lnSpc>
                <a:spcPct val="120000"/>
              </a:lnSpc>
              <a:buNone/>
            </a:pPr>
            <a:r>
              <a:rPr lang="en-US" sz="10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滞在時間ではありません</a:t>
            </a:r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。また、来場者は端末ごとに数えるため、端末を変えた方は別の方として数えられます。</a:t>
            </a:r>
            <a:endParaRPr lang="en-US" sz="1050" dirty="0"/>
          </a:p>
        </p:txBody>
      </p:sp>
      <p:pic>
        <p:nvPicPr>
          <p:cNvPr id="14" name="Image 0" descr="C:\Users\sato\Desktop\enque\docs\images\o-insight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84627" y="4127246"/>
            <a:ext cx="5792834" cy="3474720"/>
          </a:xfrm>
          <a:prstGeom prst="rect">
            <a:avLst/>
          </a:prstGeom>
        </p:spPr>
      </p:pic>
      <p:sp>
        <p:nvSpPr>
          <p:cNvPr id="15" name="Text 12"/>
          <p:cNvSpPr txBox="1"/>
          <p:nvPr/>
        </p:nvSpPr>
        <p:spPr>
          <a:xfrm>
            <a:off x="566928" y="7656830"/>
            <a:ext cx="6428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「回答者の傾向」画面。周回時間・周回企業数のグラフが見えるところ。</a:t>
            </a:r>
            <a:endParaRPr lang="en-US" sz="950" dirty="0"/>
          </a:p>
        </p:txBody>
      </p:sp>
      <p:sp>
        <p:nvSpPr>
          <p:cNvPr id="16" name="Text 13"/>
          <p:cNvSpPr txBox="1"/>
          <p:nvPr/>
        </p:nvSpPr>
        <p:spPr>
          <a:xfrm>
            <a:off x="566928" y="10186416"/>
            <a:ext cx="64282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主催者向け　13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57200"/>
            <a:ext cx="64282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主催者マニュアル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713232"/>
            <a:ext cx="64282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当日：来場人数を集計する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481328"/>
            <a:ext cx="6428232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アンケートに「</a:t>
            </a:r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何人で来られましたか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」の設問（種類は</a:t>
            </a:r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数値入力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）を入れて、設問編集画面で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1775333"/>
            <a:ext cx="6428232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「この回答を来場人数として集計する」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にチェックを入れると、人数が集計されます。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713232" y="2069338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のべ来場者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：回答ごとの人数を足した数（1組3人が3社回れば9人）。出展社への報告に使います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713232" y="2345055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実来場者（推計）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：同じ来場者を1回だけ数えた人数。会場に来た実人数の目安です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713232" y="2620772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平均人数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と</a:t>
            </a:r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回答率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もあわせて表示されます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566928" y="2896489"/>
            <a:ext cx="6428232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来場者の画面では、人数は</a:t>
            </a:r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キーボードではなくプルダウンから選ぶ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形になります。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566928" y="3190494"/>
            <a:ext cx="6428232" cy="4599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「1人」〜「9人」と「</a:t>
            </a:r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10人以上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」が並び、「10人以上」は10人として集計します（多めには見積もりません）。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566928" y="3687064"/>
            <a:ext cx="6428232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上限の10は、サーバーの </a:t>
            </a:r>
            <a:pPr indent="0" marL="0">
              <a:lnSpc>
                <a:spcPct val="125000"/>
              </a:lnSpc>
              <a:buNone/>
            </a:pPr>
            <a:r>
              <a:rPr lang="en-US" sz="1045" dirty="0">
                <a:solidFill>
                  <a:srgbClr val="22222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.env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の </a:t>
            </a:r>
            <a:pPr indent="0" marL="0">
              <a:lnSpc>
                <a:spcPct val="125000"/>
              </a:lnSpc>
              <a:buNone/>
            </a:pPr>
            <a:r>
              <a:rPr lang="en-US" sz="1045" dirty="0">
                <a:solidFill>
                  <a:srgbClr val="22222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PARTY_SIZE_MAX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で変えられます。</a:t>
            </a:r>
            <a:endParaRPr lang="en-US" sz="1100" dirty="0"/>
          </a:p>
        </p:txBody>
      </p:sp>
      <p:pic>
        <p:nvPicPr>
          <p:cNvPr id="12" name="Image 0" descr="C:\Users\sato\Desktop\enque\docs\images\p-survey-numb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654866" y="3981069"/>
            <a:ext cx="2252356" cy="3474720"/>
          </a:xfrm>
          <a:prstGeom prst="rect">
            <a:avLst/>
          </a:prstGeom>
        </p:spPr>
      </p:pic>
      <p:sp>
        <p:nvSpPr>
          <p:cNvPr id="13" name="Text 10"/>
          <p:cNvSpPr txBox="1"/>
          <p:nvPr/>
        </p:nvSpPr>
        <p:spPr>
          <a:xfrm>
            <a:off x="566928" y="7510653"/>
            <a:ext cx="6428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来場者のアンケート画面の「何人で来られましたか」。人数のプルダウンを開いた状態。</a:t>
            </a:r>
            <a:endParaRPr lang="en-US" sz="950" dirty="0"/>
          </a:p>
        </p:txBody>
      </p:sp>
      <p:sp>
        <p:nvSpPr>
          <p:cNvPr id="14" name="Shape 11"/>
          <p:cNvSpPr/>
          <p:nvPr/>
        </p:nvSpPr>
        <p:spPr>
          <a:xfrm>
            <a:off x="566928" y="7839837"/>
            <a:ext cx="6428232" cy="431102"/>
          </a:xfrm>
          <a:prstGeom prst="roundRect">
            <a:avLst>
              <a:gd name="adj" fmla="val 12726"/>
            </a:avLst>
          </a:prstGeom>
          <a:solidFill>
            <a:srgbClr val="E8ECF8"/>
          </a:solidFill>
          <a:ln w="9525">
            <a:solidFill>
              <a:srgbClr val="1E2761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658368" y="7931277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</a:t>
            </a:r>
            <a:endParaRPr lang="en-US" sz="1200" dirty="0"/>
          </a:p>
        </p:txBody>
      </p:sp>
      <p:sp>
        <p:nvSpPr>
          <p:cNvPr id="16" name="Text 13"/>
          <p:cNvSpPr txBox="1"/>
          <p:nvPr/>
        </p:nvSpPr>
        <p:spPr>
          <a:xfrm>
            <a:off x="950976" y="7949565"/>
            <a:ext cx="5925312" cy="2482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人数は</a:t>
            </a:r>
            <a:pPr indent="0" marL="0">
              <a:lnSpc>
                <a:spcPct val="120000"/>
              </a:lnSpc>
              <a:buNone/>
            </a:pPr>
            <a:r>
              <a:rPr lang="en-US" sz="10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任意回答</a:t>
            </a:r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です。2社目以降は、前の企業で答えた人数が初期値として入るので、来場者は</a:t>
            </a:r>
            <a:endParaRPr lang="en-US" sz="1050" dirty="0"/>
          </a:p>
        </p:txBody>
      </p:sp>
      <p:sp>
        <p:nvSpPr>
          <p:cNvPr id="17" name="Shape 14"/>
          <p:cNvSpPr/>
          <p:nvPr/>
        </p:nvSpPr>
        <p:spPr>
          <a:xfrm>
            <a:off x="566928" y="8344091"/>
            <a:ext cx="6428232" cy="431102"/>
          </a:xfrm>
          <a:prstGeom prst="roundRect">
            <a:avLst>
              <a:gd name="adj" fmla="val 12726"/>
            </a:avLst>
          </a:prstGeom>
          <a:solidFill>
            <a:srgbClr val="E8ECF8"/>
          </a:solidFill>
          <a:ln w="9525">
            <a:solidFill>
              <a:srgbClr val="1E2761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658368" y="8435531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</a:t>
            </a:r>
            <a:endParaRPr lang="en-US" sz="1200" dirty="0"/>
          </a:p>
        </p:txBody>
      </p:sp>
      <p:sp>
        <p:nvSpPr>
          <p:cNvPr id="19" name="Text 16"/>
          <p:cNvSpPr txBox="1"/>
          <p:nvPr/>
        </p:nvSpPr>
        <p:spPr>
          <a:xfrm>
            <a:off x="950976" y="8453819"/>
            <a:ext cx="5925312" cy="2482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そのまま送信できます。未回答のぶんは、同じ来場者の別の回答などから補って計算します。</a:t>
            </a:r>
            <a:endParaRPr lang="en-US" sz="1050" dirty="0"/>
          </a:p>
        </p:txBody>
      </p:sp>
      <p:sp>
        <p:nvSpPr>
          <p:cNvPr id="20" name="Shape 17"/>
          <p:cNvSpPr/>
          <p:nvPr/>
        </p:nvSpPr>
        <p:spPr>
          <a:xfrm>
            <a:off x="566928" y="8848344"/>
            <a:ext cx="6428232" cy="431102"/>
          </a:xfrm>
          <a:prstGeom prst="roundRect">
            <a:avLst>
              <a:gd name="adj" fmla="val 12726"/>
            </a:avLst>
          </a:prstGeom>
          <a:solidFill>
            <a:srgbClr val="FDF0E6"/>
          </a:solidFill>
          <a:ln w="9525">
            <a:solidFill>
              <a:srgbClr val="E08A3C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658368" y="8939784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25A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！</a:t>
            </a:r>
            <a:endParaRPr lang="en-US" sz="1200" dirty="0"/>
          </a:p>
        </p:txBody>
      </p:sp>
      <p:sp>
        <p:nvSpPr>
          <p:cNvPr id="22" name="Text 19"/>
          <p:cNvSpPr txBox="1"/>
          <p:nvPr/>
        </p:nvSpPr>
        <p:spPr>
          <a:xfrm>
            <a:off x="950976" y="8958072"/>
            <a:ext cx="5925312" cy="2482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人数の設問は</a:t>
            </a:r>
            <a:pPr indent="0" marL="0">
              <a:lnSpc>
                <a:spcPct val="120000"/>
              </a:lnSpc>
              <a:buNone/>
            </a:pPr>
            <a:r>
              <a:rPr lang="en-US" sz="10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共通設問テンプレート</a:t>
            </a:r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に入れて全社に取り込むと、聞き方と集計が揃います。</a:t>
            </a:r>
            <a:endParaRPr lang="en-US" sz="1050" dirty="0"/>
          </a:p>
        </p:txBody>
      </p:sp>
      <p:sp>
        <p:nvSpPr>
          <p:cNvPr id="23" name="Text 20"/>
          <p:cNvSpPr txBox="1"/>
          <p:nvPr/>
        </p:nvSpPr>
        <p:spPr>
          <a:xfrm>
            <a:off x="566928" y="10186416"/>
            <a:ext cx="64282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主催者向け　14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57200"/>
            <a:ext cx="64282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主催者マニュアル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713232"/>
            <a:ext cx="64282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当日：来場人数を集計する（つづき）</a:t>
            </a:r>
            <a:endParaRPr lang="en-US" sz="2200" dirty="0"/>
          </a:p>
        </p:txBody>
      </p:sp>
      <p:pic>
        <p:nvPicPr>
          <p:cNvPr id="4" name="Image 0" descr="C:\Users\sato\Desktop\enque\docs\images\o-party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2543" y="1481328"/>
            <a:ext cx="5397003" cy="347472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66928" y="5010912"/>
            <a:ext cx="6428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「回答者の傾向」画面の来場人数のところ（のべ来場者・実来場者・回答率と人数の分布）。</a:t>
            </a:r>
            <a:endParaRPr lang="en-US" sz="950" dirty="0"/>
          </a:p>
        </p:txBody>
      </p:sp>
      <p:sp>
        <p:nvSpPr>
          <p:cNvPr id="6" name="Text 3"/>
          <p:cNvSpPr txBox="1"/>
          <p:nvPr/>
        </p:nvSpPr>
        <p:spPr>
          <a:xfrm>
            <a:off x="566928" y="10186416"/>
            <a:ext cx="64282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主催者向け　15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57200"/>
            <a:ext cx="64282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主催者マニュアル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713232"/>
            <a:ext cx="64282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終了後1：受付を締めて総合アンケートを用意する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566928" y="1499616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566928" y="149961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969264" y="1481328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ダッシュボードの「イベント設定」で、状態を</a:t>
            </a:r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「終了（総合アンケート送付）」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に変える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566928" y="1956816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66928" y="195681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969264" y="1938528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「総合アンケート」の画面で</a:t>
            </a:r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「総合アンケートを作成する」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を押す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566928" y="2414016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566928" y="241401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969264" y="2395728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設問を登録し、</a:t>
            </a:r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「公開する」にチェックを入れて保存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する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566928" y="2852928"/>
            <a:ext cx="6428232" cy="624459"/>
          </a:xfrm>
          <a:prstGeom prst="roundRect">
            <a:avLst>
              <a:gd name="adj" fmla="val 8786"/>
            </a:avLst>
          </a:prstGeom>
          <a:solidFill>
            <a:srgbClr val="E8ECF8"/>
          </a:solidFill>
          <a:ln w="9525">
            <a:solidFill>
              <a:srgbClr val="1E2761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58368" y="2944368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950976" y="2962656"/>
            <a:ext cx="5925312" cy="4415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総合アンケートに回答した方が、スマホ壁紙をダウンロードできます。設問は3問程度（満足度・来場のきっかけ・意見）がおすすめです。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566928" y="3550539"/>
            <a:ext cx="6428232" cy="624459"/>
          </a:xfrm>
          <a:prstGeom prst="roundRect">
            <a:avLst>
              <a:gd name="adj" fmla="val 8786"/>
            </a:avLst>
          </a:prstGeom>
          <a:solidFill>
            <a:srgbClr val="FDF0E6"/>
          </a:solidFill>
          <a:ln w="9525">
            <a:solidFill>
              <a:srgbClr val="E08A3C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58368" y="3641979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25A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！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950976" y="3660267"/>
            <a:ext cx="5925312" cy="4415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状態を「終了」にすると、ブースのアンケートは回答できなくなります。当日の受付時間が終わってから切り替えてください。</a:t>
            </a:r>
            <a:endParaRPr lang="en-US" sz="1050" dirty="0"/>
          </a:p>
        </p:txBody>
      </p:sp>
      <p:pic>
        <p:nvPicPr>
          <p:cNvPr id="19" name="Image 0" descr="C:\Users\sato\Desktop\enque\docs\images\o-overal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82796" y="4248150"/>
            <a:ext cx="4996495" cy="3474720"/>
          </a:xfrm>
          <a:prstGeom prst="rect">
            <a:avLst/>
          </a:prstGeom>
        </p:spPr>
      </p:pic>
      <p:sp>
        <p:nvSpPr>
          <p:cNvPr id="20" name="Text 17"/>
          <p:cNvSpPr txBox="1"/>
          <p:nvPr/>
        </p:nvSpPr>
        <p:spPr>
          <a:xfrm>
            <a:off x="566928" y="7777734"/>
            <a:ext cx="6428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「総合アンケートと案内メール」画面の上部。総合アンケートの状態が見えるところ。</a:t>
            </a:r>
            <a:endParaRPr lang="en-US" sz="950" dirty="0"/>
          </a:p>
        </p:txBody>
      </p:sp>
      <p:sp>
        <p:nvSpPr>
          <p:cNvPr id="21" name="Text 18"/>
          <p:cNvSpPr txBox="1"/>
          <p:nvPr/>
        </p:nvSpPr>
        <p:spPr>
          <a:xfrm>
            <a:off x="566928" y="10186416"/>
            <a:ext cx="64282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主催者向け　16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57200"/>
            <a:ext cx="64282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主催者マニュアル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713232"/>
            <a:ext cx="64282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終了後2：案内メールを送る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566928" y="1499616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566928" y="149961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969264" y="1481328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テスト送信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：自分のアドレスを入れて送り、文面とリンクを確認する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566928" y="1956816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66928" y="195681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969264" y="1938528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送信対象を作成・更新する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を押す（メールアドレスを登録した来場者が対象になります）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566928" y="2414016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566928" y="241401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969264" y="2395728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送信する</a:t>
            </a:r>
            <a:endParaRPr lang="en-US" sz="1150" dirty="0"/>
          </a:p>
        </p:txBody>
      </p:sp>
      <p:sp>
        <p:nvSpPr>
          <p:cNvPr id="13" name="Text 11"/>
          <p:cNvSpPr txBox="1"/>
          <p:nvPr/>
        </p:nvSpPr>
        <p:spPr>
          <a:xfrm>
            <a:off x="713232" y="2852928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少数なら「この画面から50件だけ送信する」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713232" y="3128645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大量ならサーバーの自動送信（5分ごとに200件ずつ）に任せる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566928" y="3422650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566928" y="342265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969264" y="3404362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送信状況（未送信・送信済み・失敗・回答済み）を画面で確認する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566928" y="3861562"/>
            <a:ext cx="6428232" cy="624459"/>
          </a:xfrm>
          <a:prstGeom prst="roundRect">
            <a:avLst>
              <a:gd name="adj" fmla="val 8786"/>
            </a:avLst>
          </a:prstGeom>
          <a:solidFill>
            <a:srgbClr val="E8ECF8"/>
          </a:solidFill>
          <a:ln w="9525">
            <a:solidFill>
              <a:srgbClr val="1E2761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658368" y="3953002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950976" y="3971290"/>
            <a:ext cx="5925312" cy="4415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テスト送信のリンクは</a:t>
            </a:r>
            <a:pPr indent="0" marL="0">
              <a:lnSpc>
                <a:spcPct val="120000"/>
              </a:lnSpc>
              <a:buNone/>
            </a:pPr>
            <a:r>
              <a:rPr lang="en-US" sz="10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スタッフ確認用のプレビュー</a:t>
            </a:r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です。管理画面にログインした状態で開くと、来場者に見えるのと同じ画面を確認できます（プレビューからは回答できません）。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566928" y="4559173"/>
            <a:ext cx="6428232" cy="431102"/>
          </a:xfrm>
          <a:prstGeom prst="roundRect">
            <a:avLst>
              <a:gd name="adj" fmla="val 12726"/>
            </a:avLst>
          </a:prstGeom>
          <a:solidFill>
            <a:srgbClr val="FDF0E6"/>
          </a:solidFill>
          <a:ln w="9525">
            <a:solidFill>
              <a:srgbClr val="E08A3C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658368" y="4650613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25A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！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950976" y="4668901"/>
            <a:ext cx="5925312" cy="2482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送信済みの人には二重に送られません。失敗したものは自動で3回まで再送されます。</a:t>
            </a:r>
            <a:endParaRPr lang="en-US" sz="1050" dirty="0"/>
          </a:p>
        </p:txBody>
      </p:sp>
      <p:pic>
        <p:nvPicPr>
          <p:cNvPr id="24" name="Image 0" descr="C:\Users\sato\Desktop\enque\docs\images\o-invite-statu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04370" y="5063427"/>
            <a:ext cx="4553347" cy="3474720"/>
          </a:xfrm>
          <a:prstGeom prst="rect">
            <a:avLst/>
          </a:prstGeom>
        </p:spPr>
      </p:pic>
      <p:sp>
        <p:nvSpPr>
          <p:cNvPr id="25" name="Text 22"/>
          <p:cNvSpPr txBox="1"/>
          <p:nvPr/>
        </p:nvSpPr>
        <p:spPr>
          <a:xfrm>
            <a:off x="566928" y="8593011"/>
            <a:ext cx="6428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「総合アンケートと案内メール」画面の送信状況（未送信・送信済み・失敗・回答済みの数）。</a:t>
            </a:r>
            <a:endParaRPr lang="en-US" sz="950" dirty="0"/>
          </a:p>
        </p:txBody>
      </p:sp>
      <p:sp>
        <p:nvSpPr>
          <p:cNvPr id="26" name="Text 23"/>
          <p:cNvSpPr txBox="1"/>
          <p:nvPr/>
        </p:nvSpPr>
        <p:spPr>
          <a:xfrm>
            <a:off x="566928" y="10186416"/>
            <a:ext cx="64282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主催者向け　17</a:t>
            </a:r>
            <a:endParaRPr lang="en-US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57200"/>
            <a:ext cx="64282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主催者マニュアル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713232"/>
            <a:ext cx="64282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終了後3：集計データを受け取る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591056"/>
            <a:ext cx="6428232" cy="2578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CSVをダウンロードする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713232" y="1922018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企業別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：企業の「集計」画面、または「回答一覧」から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713232" y="2197735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全社まとめて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：ダッシュボードの「全企業分のCSV」から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566928" y="2473452"/>
            <a:ext cx="6428232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CSVは</a:t>
            </a:r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UTF-8（BOM付き）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なので、Excelでそのまま開けます。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566928" y="2767457"/>
            <a:ext cx="6428232" cy="624459"/>
          </a:xfrm>
          <a:prstGeom prst="roundRect">
            <a:avLst>
              <a:gd name="adj" fmla="val 8786"/>
            </a:avLst>
          </a:prstGeom>
          <a:solidFill>
            <a:srgbClr val="E8ECF8"/>
          </a:solidFill>
          <a:ln w="9525">
            <a:solidFill>
              <a:srgbClr val="1E2761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58368" y="2858897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950976" y="2877185"/>
            <a:ext cx="5925312" cy="4415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メールアドレスは出力されません。来場者は匿名のID（来場者ID）だけが入るので、企業をまたいだ同じ方の回答を突き合わせられます。</a:t>
            </a:r>
            <a:endParaRPr lang="en-US" sz="1050" dirty="0"/>
          </a:p>
        </p:txBody>
      </p:sp>
      <p:sp>
        <p:nvSpPr>
          <p:cNvPr id="11" name="Text 9"/>
          <p:cNvSpPr txBox="1"/>
          <p:nvPr/>
        </p:nvSpPr>
        <p:spPr>
          <a:xfrm>
            <a:off x="566928" y="3574796"/>
            <a:ext cx="6428232" cy="2578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集計画面で見る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566928" y="3905758"/>
            <a:ext cx="6428232" cy="4599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企業ごとの「集計」画面では、設問ごとのグラフ・星評価の平均・NPS・自由記述の一覧が見られます。</a:t>
            </a:r>
            <a:endParaRPr lang="en-US" sz="1100" dirty="0"/>
          </a:p>
        </p:txBody>
      </p:sp>
      <p:pic>
        <p:nvPicPr>
          <p:cNvPr id="13" name="Image 0" descr="C:\Users\sato\Desktop\enque\docs\images\o-stat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140821" y="4402328"/>
            <a:ext cx="3280447" cy="347472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566928" y="7931912"/>
            <a:ext cx="6428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企業の集計画面。設問ごとのグラフが見えるところ。</a:t>
            </a:r>
            <a:endParaRPr lang="en-US" sz="950" dirty="0"/>
          </a:p>
        </p:txBody>
      </p:sp>
      <p:sp>
        <p:nvSpPr>
          <p:cNvPr id="15" name="Text 12"/>
          <p:cNvSpPr txBox="1"/>
          <p:nvPr/>
        </p:nvSpPr>
        <p:spPr>
          <a:xfrm>
            <a:off x="566928" y="10186416"/>
            <a:ext cx="64282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主催者向け　18</a:t>
            </a:r>
            <a:endParaRPr lang="en-US" sz="9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57200"/>
            <a:ext cx="64282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主催者マニュアル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713232"/>
            <a:ext cx="64282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終了後4：メールアドレスを削除する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481328"/>
            <a:ext cx="6428232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案内の送付と集計が終わったら、預かったメールアドレスを削除します。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566928" y="1793621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566928" y="1793621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969264" y="1775333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「総合アンケート」の画面を開く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566928" y="2250821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566928" y="2250821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969264" y="2232533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一番下の</a:t>
            </a:r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「メールアドレスを削除する」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を押す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566928" y="2708021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566928" y="2708021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969264" y="2689733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確認メッセージで「OK」を押す</a:t>
            </a:r>
            <a:endParaRPr lang="en-US" sz="1150" dirty="0"/>
          </a:p>
        </p:txBody>
      </p:sp>
      <p:sp>
        <p:nvSpPr>
          <p:cNvPr id="14" name="Text 12"/>
          <p:cNvSpPr txBox="1"/>
          <p:nvPr/>
        </p:nvSpPr>
        <p:spPr>
          <a:xfrm>
            <a:off x="566928" y="3146933"/>
            <a:ext cx="6428232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削除しても、</a:t>
            </a:r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回答データ（個人情報を含まないもの）は残ります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。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566928" y="3440938"/>
            <a:ext cx="6428232" cy="624459"/>
          </a:xfrm>
          <a:prstGeom prst="roundRect">
            <a:avLst>
              <a:gd name="adj" fmla="val 8786"/>
            </a:avLst>
          </a:prstGeom>
          <a:solidFill>
            <a:srgbClr val="FDF0E6"/>
          </a:solidFill>
          <a:ln w="9525">
            <a:solidFill>
              <a:srgbClr val="E08A3C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58368" y="3532378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25A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！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950976" y="3550666"/>
            <a:ext cx="5925312" cy="4415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削除すると、未送信ぶんの案内メールは送れなくなります。</a:t>
            </a:r>
            <a:pPr indent="0" marL="0">
              <a:lnSpc>
                <a:spcPct val="120000"/>
              </a:lnSpc>
              <a:buNone/>
            </a:pPr>
            <a:r>
              <a:rPr lang="en-US" sz="10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送信と集計が完全に終わってから</a:t>
            </a:r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実行してください。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566928" y="4138549"/>
            <a:ext cx="6428232" cy="624459"/>
          </a:xfrm>
          <a:prstGeom prst="roundRect">
            <a:avLst>
              <a:gd name="adj" fmla="val 8786"/>
            </a:avLst>
          </a:prstGeom>
          <a:solidFill>
            <a:srgbClr val="E8ECF8"/>
          </a:solidFill>
          <a:ln w="9525">
            <a:solidFill>
              <a:srgbClr val="1E2761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658368" y="4229989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950976" y="4248277"/>
            <a:ext cx="5925312" cy="4415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「氏名・住所は収集せず、メールアドレスも送付・集計後に削除する」という運用方針に沿った操作です。来場者にもその旨を案内しています。</a:t>
            </a:r>
            <a:endParaRPr lang="en-US" sz="1050" dirty="0"/>
          </a:p>
        </p:txBody>
      </p:sp>
      <p:pic>
        <p:nvPicPr>
          <p:cNvPr id="21" name="Image 0" descr="C:\Users\sato\Desktop\enque\docs\images\o-purg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36779" y="4836160"/>
            <a:ext cx="5688531" cy="3474720"/>
          </a:xfrm>
          <a:prstGeom prst="rect">
            <a:avLst/>
          </a:prstGeom>
        </p:spPr>
      </p:pic>
      <p:sp>
        <p:nvSpPr>
          <p:cNvPr id="22" name="Text 19"/>
          <p:cNvSpPr txBox="1"/>
          <p:nvPr/>
        </p:nvSpPr>
        <p:spPr>
          <a:xfrm>
            <a:off x="566928" y="8365744"/>
            <a:ext cx="6428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「メールアドレスを削除する」ボタンの周辺（説明文が見えるもの）。</a:t>
            </a:r>
            <a:endParaRPr lang="en-US" sz="950" dirty="0"/>
          </a:p>
        </p:txBody>
      </p:sp>
      <p:sp>
        <p:nvSpPr>
          <p:cNvPr id="23" name="Text 20"/>
          <p:cNvSpPr txBox="1"/>
          <p:nvPr/>
        </p:nvSpPr>
        <p:spPr>
          <a:xfrm>
            <a:off x="566928" y="10186416"/>
            <a:ext cx="64282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主催者向け　19</a:t>
            </a:r>
            <a:endParaRPr lang="en-US" sz="9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57200"/>
            <a:ext cx="64282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主催者マニュアル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713232"/>
            <a:ext cx="64282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次のイベントに向けて（データの整理）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481328"/>
            <a:ext cx="6428232" cy="4599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サーバーで次のコマンドを実行します（事務局のPCではなく、システムが動いているサーバーでの作業です）。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2087626"/>
            <a:ext cx="6428232" cy="2578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テストで入れた回答だけ消したいとき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566928" y="2418588"/>
            <a:ext cx="6428232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まず件数を確認し、問題なければ実行します。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713232" y="2712593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確認：</a:t>
            </a:r>
            <a:pPr indent="0" marL="0">
              <a:lnSpc>
                <a:spcPct val="125000"/>
              </a:lnSpc>
              <a:buNone/>
            </a:pPr>
            <a:r>
              <a:rPr lang="en-US" sz="1045" dirty="0">
                <a:solidFill>
                  <a:srgbClr val="22222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bin/reset.sh --responses --dry-run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713232" y="2988310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実行：</a:t>
            </a:r>
            <a:pPr indent="0" marL="0">
              <a:lnSpc>
                <a:spcPct val="125000"/>
              </a:lnSpc>
              <a:buNone/>
            </a:pPr>
            <a:r>
              <a:rPr lang="en-US" sz="1045" dirty="0">
                <a:solidFill>
                  <a:srgbClr val="22222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bin/reset.sh --responses --force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566928" y="3264027"/>
            <a:ext cx="6428232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イベント・企業・設問・景品・壁紙・アカウントは残ります。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566928" y="3667760"/>
            <a:ext cx="6428232" cy="2578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イベントごと作り直したいとき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713232" y="3998722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実行：</a:t>
            </a:r>
            <a:pPr indent="0" marL="0">
              <a:lnSpc>
                <a:spcPct val="125000"/>
              </a:lnSpc>
              <a:buNone/>
            </a:pPr>
            <a:r>
              <a:rPr lang="en-US" sz="1045" dirty="0">
                <a:solidFill>
                  <a:srgbClr val="22222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bin/reset.sh --all --force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566928" y="4274439"/>
            <a:ext cx="6428232" cy="817817"/>
          </a:xfrm>
          <a:prstGeom prst="roundRect">
            <a:avLst>
              <a:gd name="adj" fmla="val 6709"/>
            </a:avLst>
          </a:prstGeom>
          <a:solidFill>
            <a:srgbClr val="FDF0E6"/>
          </a:solidFill>
          <a:ln w="9525">
            <a:solidFill>
              <a:srgbClr val="E08A3C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58368" y="4365879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25A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！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950976" y="4384167"/>
            <a:ext cx="5925312" cy="63493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どちらも元に戻せません。実行前に自動でバックアップを取りますが、念のため大事なデータはCSVで書き出しておいてください。</a:t>
            </a:r>
            <a:pPr indent="0" marL="0">
              <a:lnSpc>
                <a:spcPct val="120000"/>
              </a:lnSpc>
              <a:buNone/>
            </a:pPr>
            <a:r>
              <a:rPr lang="en-US" sz="10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企業担当者のアカウントは企業と一緒に消えます</a:t>
            </a:r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（主催者・受付は残ります）。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566928" y="5165408"/>
            <a:ext cx="6428232" cy="431102"/>
          </a:xfrm>
          <a:prstGeom prst="roundRect">
            <a:avLst>
              <a:gd name="adj" fmla="val 12726"/>
            </a:avLst>
          </a:prstGeom>
          <a:solidFill>
            <a:srgbClr val="E8ECF8"/>
          </a:solidFill>
          <a:ln w="9525">
            <a:solidFill>
              <a:srgbClr val="1E2761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58368" y="5256848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950976" y="5275136"/>
            <a:ext cx="5925312" cy="2482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実行するとデータベース名の入力を求められます。画面の指示どおりに入力してください。</a:t>
            </a:r>
            <a:endParaRPr lang="en-US" sz="1050" dirty="0"/>
          </a:p>
        </p:txBody>
      </p:sp>
      <p:sp>
        <p:nvSpPr>
          <p:cNvPr id="18" name="Text 16"/>
          <p:cNvSpPr txBox="1"/>
          <p:nvPr/>
        </p:nvSpPr>
        <p:spPr>
          <a:xfrm>
            <a:off x="566928" y="10186416"/>
            <a:ext cx="64282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主催者向け　20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57200"/>
            <a:ext cx="64282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主催者マニュアル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713232"/>
            <a:ext cx="64282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困ったときは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591056"/>
            <a:ext cx="6428232" cy="2578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QRコードを読んでも「受付を終了しました」と出る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1922018"/>
            <a:ext cx="6428232" cy="4599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イベントの状態が「開催中」になっていない可能性があります。ダッシュボードの「イベント設定」をご確認ください。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566928" y="2528316"/>
            <a:ext cx="6428232" cy="2578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QRコードを読んでも「ページを表示できません」と出る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566928" y="2859278"/>
            <a:ext cx="6428232" cy="4599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URLが本番のものになっていない可能性があります。印刷し直す前に、事務局のシステム担当にご相談ください。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566928" y="3465576"/>
            <a:ext cx="6428232" cy="2578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案内メールが届かない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713232" y="3796538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「送信済み」になっているか、「失敗」が増えていないかを画面で確認してください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713232" y="4072255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受信側の迷惑メールフォルダもご確認ください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713232" y="4347972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「失敗」が多い場合は、システム担当にログの確認を依頼してください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566928" y="4733417"/>
            <a:ext cx="6428232" cy="2578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来場者が「交換コードが出ない」と言っている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566928" y="5064379"/>
            <a:ext cx="6428232" cy="4599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まだどのブースのアンケートにも回答していない可能性があります。また、</a:t>
            </a:r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端末を変えると別の交換コードになります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。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566928" y="5670677"/>
            <a:ext cx="6428232" cy="2578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景品の交換で困ったとき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566928" y="6001639"/>
            <a:ext cx="6428232" cy="4599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受付画面で「交換済み」と出ても、お申し出があればお渡しして構いません（メモ欄に状況を残してください）。来場者の画面には交換済みかどうかを表示していません。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566928" y="10186416"/>
            <a:ext cx="64282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主催者向け　21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21</Slides>
  <Notes>21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21</vt:i4>
      </vt:variant>
    </vt:vector>
  </HeadingPairs>
  <TitlesOfParts>
    <vt:vector size="2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主催者マニュアル</dc:title>
  <dc:subject>PptxGenJS Presentation</dc:subject>
  <dc:creator>企業周遊アンケートシステム</dc:creator>
  <cp:lastModifiedBy>企業周遊アンケートシステム</cp:lastModifiedBy>
  <cp:revision>1</cp:revision>
  <dcterms:created xsi:type="dcterms:W3CDTF">2026-09-22T13:18:29Z</dcterms:created>
  <dcterms:modified xsi:type="dcterms:W3CDTF">2026-09-22T13:18:29Z</dcterms:modified>
</cp:coreProperties>
</file>